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234440"/>
            <a:ext cx="10515600" cy="365760"/>
          </a:xfrm>
          <a:prstGeom prst="rect">
            <a:avLst/>
          </a:prstGeom>
          <a:noFill/>
        </p:spPr>
        <p:txBody>
          <a:bodyPr wrap="square" lIns="0" rIns="0" tIns="0" bIns="0">
            <a:spAutoFit/>
          </a:bodyPr>
          <a:lstStyle/>
          <a:p>
            <a:pPr>
              <a:spcAft>
                <a:spcPts val="0"/>
              </a:spcAft>
            </a:pPr>
            <a:r>
              <a:rPr sz="1500" b="1">
                <a:solidFill>
                  <a:srgbClr val="0F62FE"/>
                </a:solidFill>
                <a:latin typeface="Verdana"/>
              </a:rPr>
              <a:t>SPIDERRANK</a:t>
            </a:r>
          </a:p>
        </p:txBody>
      </p:sp>
      <p:sp>
        <p:nvSpPr>
          <p:cNvPr id="3" name="TextBox 2"/>
          <p:cNvSpPr txBox="1"/>
          <p:nvPr/>
        </p:nvSpPr>
        <p:spPr>
          <a:xfrm>
            <a:off x="822960" y="1600200"/>
            <a:ext cx="10515600" cy="1645920"/>
          </a:xfrm>
          <a:prstGeom prst="rect">
            <a:avLst/>
          </a:prstGeom>
          <a:noFill/>
        </p:spPr>
        <p:txBody>
          <a:bodyPr wrap="square" lIns="0" rIns="0" tIns="0" bIns="0">
            <a:spAutoFit/>
          </a:bodyPr>
          <a:lstStyle/>
          <a:p>
            <a:r>
              <a:rPr sz="3800" b="1">
                <a:solidFill>
                  <a:srgbClr val="141B2D"/>
                </a:solidFill>
                <a:latin typeface="Georgia"/>
              </a:rPr>
              <a:t>A shopping agent that asks better questions</a:t>
            </a:r>
          </a:p>
        </p:txBody>
      </p:sp>
      <p:sp>
        <p:nvSpPr>
          <p:cNvPr id="4" name="TextBox 3"/>
          <p:cNvSpPr txBox="1"/>
          <p:nvPr/>
        </p:nvSpPr>
        <p:spPr>
          <a:xfrm>
            <a:off x="822960" y="3246120"/>
            <a:ext cx="10515600" cy="1005840"/>
          </a:xfrm>
          <a:prstGeom prst="rect">
            <a:avLst/>
          </a:prstGeom>
          <a:noFill/>
        </p:spPr>
        <p:txBody>
          <a:bodyPr wrap="square" lIns="0" rIns="0" tIns="0" bIns="0">
            <a:spAutoFit/>
          </a:bodyPr>
          <a:lstStyle/>
          <a:p>
            <a:pPr>
              <a:spcAft>
                <a:spcPts val="500"/>
              </a:spcAft>
            </a:pPr>
            <a:r>
              <a:rPr sz="1800" b="0">
                <a:solidFill>
                  <a:srgbClr val="5B667A"/>
                </a:solidFill>
                <a:latin typeface="Verdana"/>
              </a:rPr>
              <a:t>TechJam Conversational Search — Track 4</a:t>
            </a:r>
          </a:p>
          <a:p>
            <a:pPr>
              <a:spcAft>
                <a:spcPts val="500"/>
              </a:spcAft>
            </a:pPr>
            <a:r>
              <a:rPr sz="1400" b="0">
                <a:solidFill>
                  <a:srgbClr val="5B667A"/>
                </a:solidFill>
                <a:latin typeface="Verdana"/>
              </a:rPr>
              <a:t>Phan Kang Xun · Lloyd Wang</a:t>
            </a:r>
          </a:p>
          <a:p>
            <a:pPr>
              <a:spcAft>
                <a:spcPts val="500"/>
              </a:spcAft>
            </a:pPr>
            <a:r>
              <a:rPr sz="1400" b="0">
                <a:solidFill>
                  <a:srgbClr val="5B667A"/>
                </a:solidFill>
                <a:latin typeface="Verdana"/>
              </a:rPr>
              <a:t>Five independent retrieval legs, fused into one ranking — the name is the metaphor.</a:t>
            </a:r>
          </a:p>
          <a:p>
            <a:pPr>
              <a:spcAft>
                <a:spcPts val="500"/>
              </a:spcAft>
            </a:pPr>
            <a:r>
              <a:rPr sz="1400" b="0">
                <a:solidFill>
                  <a:srgbClr val="5B667A"/>
                </a:solidFill>
                <a:latin typeface="Verdana"/>
              </a:rPr>
              <a:t>Find a hidden product in a 50,000-item catalog, in 10 turns or fewer.</a:t>
            </a:r>
          </a:p>
        </p:txBody>
      </p:sp>
      <p:sp>
        <p:nvSpPr>
          <p:cNvPr id="5" name="Rounded Rectangle 4"/>
          <p:cNvSpPr/>
          <p:nvPr/>
        </p:nvSpPr>
        <p:spPr>
          <a:xfrm>
            <a:off x="822960" y="4754880"/>
            <a:ext cx="2194560" cy="914400"/>
          </a:xfrm>
          <a:prstGeom prst="roundRect">
            <a:avLst/>
          </a:prstGeom>
          <a:solidFill>
            <a:srgbClr val="E4EDFD"/>
          </a:solidFill>
          <a:ln w="12700">
            <a:solidFill>
              <a:srgbClr val="E4EDF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600" b="1">
                <a:solidFill>
                  <a:srgbClr val="0F62FE"/>
                </a:solidFill>
                <a:latin typeface="Verdana"/>
              </a:rPr>
              <a:t>0.794</a:t>
            </a:r>
          </a:p>
          <a:p>
            <a:pPr algn="ctr">
              <a:spcAft>
                <a:spcPts val="0"/>
              </a:spcAft>
            </a:pPr>
            <a:r>
              <a:rPr sz="1200" b="0">
                <a:solidFill>
                  <a:srgbClr val="5B667A"/>
                </a:solidFill>
                <a:latin typeface="Verdana"/>
              </a:rPr>
              <a:t>TechnicalScore</a:t>
            </a:r>
          </a:p>
        </p:txBody>
      </p:sp>
      <p:sp>
        <p:nvSpPr>
          <p:cNvPr id="6" name="Rounded Rectangle 5"/>
          <p:cNvSpPr/>
          <p:nvPr/>
        </p:nvSpPr>
        <p:spPr>
          <a:xfrm>
            <a:off x="3291840" y="4754880"/>
            <a:ext cx="2194560" cy="914400"/>
          </a:xfrm>
          <a:prstGeom prst="roundRect">
            <a:avLst/>
          </a:prstGeom>
          <a:solidFill>
            <a:srgbClr val="E4EDFD"/>
          </a:solidFill>
          <a:ln w="12700">
            <a:solidFill>
              <a:srgbClr val="E4EDF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600" b="1">
                <a:solidFill>
                  <a:srgbClr val="0F62FE"/>
                </a:solidFill>
                <a:latin typeface="Verdana"/>
              </a:rPr>
              <a:t>0.945</a:t>
            </a:r>
          </a:p>
          <a:p>
            <a:pPr algn="ctr">
              <a:spcAft>
                <a:spcPts val="0"/>
              </a:spcAft>
            </a:pPr>
            <a:r>
              <a:rPr sz="1200" b="0">
                <a:solidFill>
                  <a:srgbClr val="5B667A"/>
                </a:solidFill>
                <a:latin typeface="Verdana"/>
              </a:rPr>
              <a:t>HitRate@10</a:t>
            </a:r>
          </a:p>
        </p:txBody>
      </p:sp>
      <p:sp>
        <p:nvSpPr>
          <p:cNvPr id="7" name="Rounded Rectangle 6"/>
          <p:cNvSpPr/>
          <p:nvPr/>
        </p:nvSpPr>
        <p:spPr>
          <a:xfrm>
            <a:off x="5760720" y="4754880"/>
            <a:ext cx="2194560" cy="914400"/>
          </a:xfrm>
          <a:prstGeom prst="roundRect">
            <a:avLst/>
          </a:prstGeom>
          <a:solidFill>
            <a:srgbClr val="E4EDFD"/>
          </a:solidFill>
          <a:ln w="12700">
            <a:solidFill>
              <a:srgbClr val="E4EDF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600" b="1">
                <a:solidFill>
                  <a:srgbClr val="0F62FE"/>
                </a:solidFill>
                <a:latin typeface="Verdana"/>
              </a:rPr>
              <a:t>0.553</a:t>
            </a:r>
          </a:p>
          <a:p>
            <a:pPr algn="ctr">
              <a:spcAft>
                <a:spcPts val="0"/>
              </a:spcAft>
            </a:pPr>
            <a:r>
              <a:rPr sz="1200" b="0">
                <a:solidFill>
                  <a:srgbClr val="5B667A"/>
                </a:solidFill>
                <a:latin typeface="Verdana"/>
              </a:rPr>
              <a:t>MRR</a:t>
            </a:r>
          </a:p>
        </p:txBody>
      </p:sp>
      <p:sp>
        <p:nvSpPr>
          <p:cNvPr id="8" name="Rounded Rectangle 7"/>
          <p:cNvSpPr/>
          <p:nvPr/>
        </p:nvSpPr>
        <p:spPr>
          <a:xfrm>
            <a:off x="8229600" y="4754880"/>
            <a:ext cx="2194560" cy="914400"/>
          </a:xfrm>
          <a:prstGeom prst="roundRect">
            <a:avLst/>
          </a:prstGeom>
          <a:solidFill>
            <a:srgbClr val="E4EDFD"/>
          </a:solidFill>
          <a:ln w="12700">
            <a:solidFill>
              <a:srgbClr val="E4EDF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600" b="1">
                <a:solidFill>
                  <a:srgbClr val="0F62FE"/>
                </a:solidFill>
                <a:latin typeface="Verdana"/>
              </a:rPr>
              <a:t>3.25</a:t>
            </a:r>
          </a:p>
          <a:p>
            <a:pPr algn="ctr">
              <a:spcAft>
                <a:spcPts val="0"/>
              </a:spcAft>
            </a:pPr>
            <a:r>
              <a:rPr sz="1200" b="0">
                <a:solidFill>
                  <a:srgbClr val="5B667A"/>
                </a:solidFill>
                <a:latin typeface="Verdana"/>
              </a:rPr>
              <a:t>turns to find</a:t>
            </a:r>
          </a:p>
        </p:txBody>
      </p:sp>
      <p:sp>
        <p:nvSpPr>
          <p:cNvPr id="9" name="TextBox 8"/>
          <p:cNvSpPr txBox="1"/>
          <p:nvPr/>
        </p:nvSpPr>
        <p:spPr>
          <a:xfrm>
            <a:off x="640080" y="5897880"/>
            <a:ext cx="10881360" cy="457200"/>
          </a:xfrm>
          <a:prstGeom prst="rect">
            <a:avLst/>
          </a:prstGeom>
          <a:noFill/>
        </p:spPr>
        <p:txBody>
          <a:bodyPr wrap="square" lIns="0" rIns="0" tIns="0" bIns="0">
            <a:spAutoFit/>
          </a:bodyPr>
          <a:lstStyle/>
          <a:p>
            <a:r>
              <a:rPr sz="1300" b="0">
                <a:solidFill>
                  <a:srgbClr val="5B667A"/>
                </a:solidFill>
                <a:latin typeface="Verdana"/>
              </a:rPr>
              <a:t>Full 200-sample public set. Every number in this deck is measured, not estimated.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PROBLEM</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The task</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828800"/>
            <a:ext cx="2834640" cy="105156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141B2D"/>
                </a:solidFill>
                <a:latin typeface="Verdana"/>
              </a:rPr>
              <a:t>Shopper speaks</a:t>
            </a:r>
          </a:p>
          <a:p>
            <a:pPr algn="ctr">
              <a:spcAft>
                <a:spcPts val="0"/>
              </a:spcAft>
            </a:pPr>
            <a:r>
              <a:rPr sz="1200" b="0">
                <a:solidFill>
                  <a:srgbClr val="5B667A"/>
                </a:solidFill>
                <a:latin typeface="Verdana"/>
              </a:rPr>
              <a:t>one hidden target,</a:t>
            </a:r>
          </a:p>
          <a:p>
            <a:pPr algn="ctr">
              <a:spcAft>
                <a:spcPts val="0"/>
              </a:spcAft>
            </a:pPr>
            <a:r>
              <a:rPr sz="1200" b="0">
                <a:solidFill>
                  <a:srgbClr val="5B667A"/>
                </a:solidFill>
                <a:latin typeface="Verdana"/>
              </a:rPr>
              <a:t>never named</a:t>
            </a:r>
          </a:p>
        </p:txBody>
      </p:sp>
      <p:sp>
        <p:nvSpPr>
          <p:cNvPr id="6" name="Right Arrow 5"/>
          <p:cNvSpPr/>
          <p:nvPr/>
        </p:nvSpPr>
        <p:spPr>
          <a:xfrm>
            <a:off x="3749040" y="2267712"/>
            <a:ext cx="45720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06240" y="1828800"/>
            <a:ext cx="2834640" cy="1051560"/>
          </a:xfrm>
          <a:prstGeom prst="roundRect">
            <a:avLst/>
          </a:prstGeom>
          <a:solidFill>
            <a:srgbClr val="E4EDFD"/>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141B2D"/>
                </a:solidFill>
                <a:latin typeface="Verdana"/>
              </a:rPr>
              <a:t>We answer</a:t>
            </a:r>
          </a:p>
          <a:p>
            <a:pPr algn="ctr">
              <a:spcAft>
                <a:spcPts val="0"/>
              </a:spcAft>
            </a:pPr>
            <a:r>
              <a:rPr sz="1200" b="0">
                <a:solidFill>
                  <a:srgbClr val="5B667A"/>
                </a:solidFill>
                <a:latin typeface="Verdana"/>
              </a:rPr>
              <a:t>return 10 products</a:t>
            </a:r>
          </a:p>
          <a:p>
            <a:pPr algn="ctr">
              <a:spcAft>
                <a:spcPts val="0"/>
              </a:spcAft>
            </a:pPr>
            <a:r>
              <a:rPr sz="1200" b="0">
                <a:solidFill>
                  <a:srgbClr val="5B667A"/>
                </a:solidFill>
                <a:latin typeface="Verdana"/>
              </a:rPr>
              <a:t>+ ask 1 question</a:t>
            </a:r>
          </a:p>
        </p:txBody>
      </p:sp>
      <p:sp>
        <p:nvSpPr>
          <p:cNvPr id="8" name="Right Arrow 7"/>
          <p:cNvSpPr/>
          <p:nvPr/>
        </p:nvSpPr>
        <p:spPr>
          <a:xfrm>
            <a:off x="7132320" y="2267712"/>
            <a:ext cx="45720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589520" y="1828800"/>
            <a:ext cx="2834640" cy="105156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141B2D"/>
                </a:solidFill>
                <a:latin typeface="Verdana"/>
              </a:rPr>
              <a:t>Grader checks</a:t>
            </a:r>
          </a:p>
          <a:p>
            <a:pPr algn="ctr">
              <a:spcAft>
                <a:spcPts val="0"/>
              </a:spcAft>
            </a:pPr>
            <a:r>
              <a:rPr sz="1200" b="0">
                <a:solidFill>
                  <a:srgbClr val="5B667A"/>
                </a:solidFill>
                <a:latin typeface="Verdana"/>
              </a:rPr>
              <a:t>is the target</a:t>
            </a:r>
          </a:p>
          <a:p>
            <a:pPr algn="ctr">
              <a:spcAft>
                <a:spcPts val="0"/>
              </a:spcAft>
            </a:pPr>
            <a:r>
              <a:rPr sz="1200" b="0">
                <a:solidFill>
                  <a:srgbClr val="5B667A"/>
                </a:solidFill>
                <a:latin typeface="Verdana"/>
              </a:rPr>
              <a:t>in those 10?</a:t>
            </a:r>
          </a:p>
        </p:txBody>
      </p:sp>
      <p:sp>
        <p:nvSpPr>
          <p:cNvPr id="10" name="Rounded Rectangle 9"/>
          <p:cNvSpPr/>
          <p:nvPr/>
        </p:nvSpPr>
        <p:spPr>
          <a:xfrm>
            <a:off x="10972800" y="1828800"/>
            <a:ext cx="685800" cy="105156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0B7A4B"/>
                </a:solidFill>
                <a:latin typeface="Verdana"/>
              </a:rPr>
              <a:t>HIT</a:t>
            </a:r>
          </a:p>
          <a:p>
            <a:pPr algn="ctr">
              <a:spcAft>
                <a:spcPts val="0"/>
              </a:spcAft>
            </a:pPr>
            <a:r>
              <a:rPr sz="1000" b="0">
                <a:solidFill>
                  <a:srgbClr val="5B667A"/>
                </a:solidFill>
                <a:latin typeface="Verdana"/>
              </a:rPr>
              <a:t>session ends</a:t>
            </a:r>
          </a:p>
        </p:txBody>
      </p:sp>
      <p:sp>
        <p:nvSpPr>
          <p:cNvPr id="11" name="Left Arrow 10"/>
          <p:cNvSpPr/>
          <p:nvPr/>
        </p:nvSpPr>
        <p:spPr>
          <a:xfrm>
            <a:off x="822960" y="3154680"/>
            <a:ext cx="9509760" cy="310896"/>
          </a:xfrm>
          <a:prstGeom prst="leftArrow">
            <a:avLst/>
          </a:prstGeom>
          <a:solidFill>
            <a:srgbClr val="E4EDFD"/>
          </a:solidFill>
          <a:ln w="9525">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62FE"/>
                </a:solidFill>
                <a:latin typeface="Verdana"/>
              </a:rPr>
              <a:t>miss  →  next turn, up to 10 of them</a:t>
            </a:r>
          </a:p>
        </p:txBody>
      </p:sp>
      <p:graphicFrame>
        <p:nvGraphicFramePr>
          <p:cNvPr id="12" name="Table 11"/>
          <p:cNvGraphicFramePr>
            <a:graphicFrameLocks noGrp="1"/>
          </p:cNvGraphicFramePr>
          <p:nvPr/>
        </p:nvGraphicFramePr>
        <p:xfrm>
          <a:off x="640080" y="3977639"/>
          <a:ext cx="10908791" cy="1371600"/>
        </p:xfrm>
        <a:graphic>
          <a:graphicData uri="http://schemas.openxmlformats.org/drawingml/2006/table">
            <a:tbl>
              <a:tblPr firstRow="1">
                <a:tableStyleId>{5C22544A-7EE6-4342-B048-85BDC9FD1C3A}</a:tableStyleId>
              </a:tblPr>
              <a:tblGrid>
                <a:gridCol w="2016751"/>
                <a:gridCol w="1100046"/>
                <a:gridCol w="7791994"/>
              </a:tblGrid>
              <a:tr h="329184">
                <a:tc>
                  <a:txBody>
                    <a:bodyPr/>
                    <a:lstStyle/>
                    <a:p>
                      <a:r>
                        <a:rPr sz="1100" b="1">
                          <a:solidFill>
                            <a:srgbClr val="FFFFFF"/>
                          </a:solidFill>
                          <a:latin typeface="Verdana"/>
                        </a:rPr>
                        <a:t>Term</a:t>
                      </a:r>
                    </a:p>
                  </a:txBody>
                  <a:tcPr marL="82296" marR="82296" marT="36576" marB="36576" anchor="ctr">
                    <a:solidFill>
                      <a:srgbClr val="141B2D"/>
                    </a:solidFill>
                  </a:tcPr>
                </a:tc>
                <a:tc>
                  <a:txBody>
                    <a:bodyPr/>
                    <a:lstStyle/>
                    <a:p>
                      <a:r>
                        <a:rPr sz="1100" b="1">
                          <a:solidFill>
                            <a:srgbClr val="FFFFFF"/>
                          </a:solidFill>
                          <a:latin typeface="Verdana"/>
                        </a:rPr>
                        <a:t>Weight</a:t>
                      </a:r>
                    </a:p>
                  </a:txBody>
                  <a:tcPr marL="82296" marR="82296" marT="36576" marB="36576" anchor="ctr">
                    <a:solidFill>
                      <a:srgbClr val="141B2D"/>
                    </a:solidFill>
                  </a:tcPr>
                </a:tc>
                <a:tc>
                  <a:txBody>
                    <a:bodyPr/>
                    <a:lstStyle/>
                    <a:p>
                      <a:r>
                        <a:rPr sz="1100" b="1">
                          <a:solidFill>
                            <a:srgbClr val="FFFFFF"/>
                          </a:solidFill>
                          <a:latin typeface="Verdana"/>
                        </a:rPr>
                        <a:t>What it rewards</a:t>
                      </a:r>
                    </a:p>
                  </a:txBody>
                  <a:tcPr marL="82296" marR="82296" marT="36576" marB="36576" anchor="ctr">
                    <a:solidFill>
                      <a:srgbClr val="141B2D"/>
                    </a:solidFill>
                  </a:tcPr>
                </a:tc>
              </a:tr>
              <a:tr h="347472">
                <a:tc>
                  <a:txBody>
                    <a:bodyPr wrap="square"/>
                    <a:lstStyle/>
                    <a:p>
                      <a:r>
                        <a:rPr sz="1200" b="0">
                          <a:solidFill>
                            <a:srgbClr val="141B2D"/>
                          </a:solidFill>
                          <a:latin typeface="Verdana"/>
                        </a:rPr>
                        <a:t>HitRate@10</a:t>
                      </a:r>
                    </a:p>
                  </a:txBody>
                  <a:tcPr marL="82296" marR="82296" marT="36576" marB="36576" anchor="ctr">
                    <a:solidFill>
                      <a:srgbClr val="FFFFFF"/>
                    </a:solidFill>
                  </a:tcPr>
                </a:tc>
                <a:tc>
                  <a:txBody>
                    <a:bodyPr wrap="square"/>
                    <a:lstStyle/>
                    <a:p>
                      <a:r>
                        <a:rPr sz="1200" b="0">
                          <a:solidFill>
                            <a:srgbClr val="141B2D"/>
                          </a:solidFill>
                          <a:latin typeface="Verdana"/>
                        </a:rPr>
                        <a:t>0.50</a:t>
                      </a:r>
                    </a:p>
                  </a:txBody>
                  <a:tcPr marL="82296" marR="82296" marT="36576" marB="36576" anchor="ctr">
                    <a:solidFill>
                      <a:srgbClr val="FFFFFF"/>
                    </a:solidFill>
                  </a:tcPr>
                </a:tc>
                <a:tc>
                  <a:txBody>
                    <a:bodyPr wrap="square"/>
                    <a:lstStyle/>
                    <a:p>
                      <a:r>
                        <a:rPr sz="1200" b="0">
                          <a:solidFill>
                            <a:srgbClr val="141B2D"/>
                          </a:solidFill>
                          <a:latin typeface="Verdana"/>
                        </a:rPr>
                        <a:t>Finding the target at all, in any of the 10 slots.</a:t>
                      </a:r>
                    </a:p>
                  </a:txBody>
                  <a:tcPr marL="82296" marR="82296" marT="36576" marB="36576" anchor="ctr">
                    <a:solidFill>
                      <a:srgbClr val="FFFFFF"/>
                    </a:solidFill>
                  </a:tcPr>
                </a:tc>
              </a:tr>
              <a:tr h="347472">
                <a:tc>
                  <a:txBody>
                    <a:bodyPr wrap="square"/>
                    <a:lstStyle/>
                    <a:p>
                      <a:r>
                        <a:rPr sz="1200" b="0">
                          <a:solidFill>
                            <a:srgbClr val="141B2D"/>
                          </a:solidFill>
                          <a:latin typeface="Verdana"/>
                        </a:rPr>
                        <a:t>MRR</a:t>
                      </a:r>
                    </a:p>
                  </a:txBody>
                  <a:tcPr marL="82296" marR="82296" marT="36576" marB="36576" anchor="ctr">
                    <a:solidFill>
                      <a:srgbClr val="F4F6FA"/>
                    </a:solidFill>
                  </a:tcPr>
                </a:tc>
                <a:tc>
                  <a:txBody>
                    <a:bodyPr wrap="square"/>
                    <a:lstStyle/>
                    <a:p>
                      <a:r>
                        <a:rPr sz="1200" b="0">
                          <a:solidFill>
                            <a:srgbClr val="141B2D"/>
                          </a:solidFill>
                          <a:latin typeface="Verdana"/>
                        </a:rPr>
                        <a:t>0.30</a:t>
                      </a:r>
                    </a:p>
                  </a:txBody>
                  <a:tcPr marL="82296" marR="82296" marT="36576" marB="36576" anchor="ctr">
                    <a:solidFill>
                      <a:srgbClr val="F4F6FA"/>
                    </a:solidFill>
                  </a:tcPr>
                </a:tc>
                <a:tc>
                  <a:txBody>
                    <a:bodyPr wrap="square"/>
                    <a:lstStyle/>
                    <a:p>
                      <a:r>
                        <a:rPr sz="1200" b="1">
                          <a:solidFill>
                            <a:srgbClr val="0F62FE"/>
                          </a:solidFill>
                          <a:latin typeface="Verdana"/>
                        </a:rPr>
                        <a:t>Its rank at the FIRST hit — not the best rank we ever reached.</a:t>
                      </a:r>
                    </a:p>
                  </a:txBody>
                  <a:tcPr marL="82296" marR="82296" marT="36576" marB="36576" anchor="ctr">
                    <a:solidFill>
                      <a:srgbClr val="F4F6FA"/>
                    </a:solidFill>
                  </a:tcPr>
                </a:tc>
              </a:tr>
              <a:tr h="347472">
                <a:tc>
                  <a:txBody>
                    <a:bodyPr wrap="square"/>
                    <a:lstStyle/>
                    <a:p>
                      <a:r>
                        <a:rPr sz="1200" b="0">
                          <a:solidFill>
                            <a:srgbClr val="141B2D"/>
                          </a:solidFill>
                          <a:latin typeface="Verdana"/>
                        </a:rPr>
                        <a:t>Efficiency</a:t>
                      </a:r>
                    </a:p>
                  </a:txBody>
                  <a:tcPr marL="82296" marR="82296" marT="36576" marB="36576" anchor="ctr">
                    <a:solidFill>
                      <a:srgbClr val="FFFFFF"/>
                    </a:solidFill>
                  </a:tcPr>
                </a:tc>
                <a:tc>
                  <a:txBody>
                    <a:bodyPr wrap="square"/>
                    <a:lstStyle/>
                    <a:p>
                      <a:r>
                        <a:rPr sz="1200" b="0">
                          <a:solidFill>
                            <a:srgbClr val="141B2D"/>
                          </a:solidFill>
                          <a:latin typeface="Verdana"/>
                        </a:rPr>
                        <a:t>0.20</a:t>
                      </a:r>
                    </a:p>
                  </a:txBody>
                  <a:tcPr marL="82296" marR="82296" marT="36576" marB="36576" anchor="ctr">
                    <a:solidFill>
                      <a:srgbClr val="FFFFFF"/>
                    </a:solidFill>
                  </a:tcPr>
                </a:tc>
                <a:tc>
                  <a:txBody>
                    <a:bodyPr wrap="square"/>
                    <a:lstStyle/>
                    <a:p>
                      <a:r>
                        <a:rPr sz="1200" b="0">
                          <a:solidFill>
                            <a:srgbClr val="141B2D"/>
                          </a:solidFill>
                          <a:latin typeface="Verdana"/>
                        </a:rPr>
                        <a:t>Finding it in fewer turns. (11 − turns) / 10.</a:t>
                      </a:r>
                    </a:p>
                  </a:txBody>
                  <a:tcPr marL="82296" marR="82296" marT="36576" marB="36576" anchor="ctr">
                    <a:solidFill>
                      <a:srgbClr val="FFFFFF"/>
                    </a:solidFill>
                  </a:tcPr>
                </a:tc>
              </a:tr>
            </a:tbl>
          </a:graphicData>
        </a:graphic>
      </p:graphicFrame>
      <p:sp>
        <p:nvSpPr>
          <p:cNvPr id="13" name="TextBox 12"/>
          <p:cNvSpPr txBox="1"/>
          <p:nvPr/>
        </p:nvSpPr>
        <p:spPr>
          <a:xfrm>
            <a:off x="640080" y="5623560"/>
            <a:ext cx="10881360" cy="457200"/>
          </a:xfrm>
          <a:prstGeom prst="rect">
            <a:avLst/>
          </a:prstGeom>
          <a:noFill/>
        </p:spPr>
        <p:txBody>
          <a:bodyPr wrap="square" lIns="0" rIns="0" tIns="0" bIns="0">
            <a:spAutoFit/>
          </a:bodyPr>
          <a:lstStyle/>
          <a:p>
            <a:r>
              <a:rPr sz="1300" b="1">
                <a:solidFill>
                  <a:srgbClr val="0F62FE"/>
                </a:solidFill>
                <a:latin typeface="Verdana"/>
              </a:rPr>
              <a:t>Consequence we designed around: an earlier hit at a worse rank still pays. Speed beats polish.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WHAT IT LOOKS LIKE</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One real session, turn by turn</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10881360" cy="320040"/>
          </a:xfrm>
          <a:prstGeom prst="rect">
            <a:avLst/>
          </a:prstGeom>
          <a:noFill/>
        </p:spPr>
        <p:txBody>
          <a:bodyPr wrap="square" lIns="0" rIns="0" tIns="0" bIns="0">
            <a:spAutoFit/>
          </a:bodyPr>
          <a:lstStyle/>
          <a:p>
            <a:r>
              <a:rPr sz="1200" b="1">
                <a:solidFill>
                  <a:srgbClr val="5B667A"/>
                </a:solidFill>
                <a:latin typeface="Verdana"/>
              </a:rPr>
              <a:t>Target, hidden from the agent:  Pro Club Men's Heavyweight Mesh Basketball Shorts</a:t>
            </a:r>
          </a:p>
        </p:txBody>
      </p:sp>
      <p:sp>
        <p:nvSpPr>
          <p:cNvPr id="6" name="Rounded Rectangle 5"/>
          <p:cNvSpPr/>
          <p:nvPr/>
        </p:nvSpPr>
        <p:spPr>
          <a:xfrm>
            <a:off x="640080" y="1874519"/>
            <a:ext cx="457200" cy="960120"/>
          </a:xfrm>
          <a:prstGeom prst="roundRect">
            <a:avLst/>
          </a:prstGeom>
          <a:solidFill>
            <a:srgbClr val="F4F6FA"/>
          </a:solidFill>
          <a:ln w="12700">
            <a:solidFill>
              <a:srgbClr val="5B66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5B667A"/>
                </a:solidFill>
                <a:latin typeface="Verdana"/>
              </a:rPr>
              <a:t>1</a:t>
            </a:r>
          </a:p>
        </p:txBody>
      </p:sp>
      <p:sp>
        <p:nvSpPr>
          <p:cNvPr id="7" name="Rounded Rectangle 6"/>
          <p:cNvSpPr/>
          <p:nvPr/>
        </p:nvSpPr>
        <p:spPr>
          <a:xfrm>
            <a:off x="1188720" y="1874519"/>
            <a:ext cx="320040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900" b="1">
                <a:solidFill>
                  <a:srgbClr val="5B667A"/>
                </a:solidFill>
                <a:latin typeface="Verdana"/>
              </a:rPr>
              <a:t>SHOPPER</a:t>
            </a:r>
          </a:p>
          <a:p>
            <a:pPr algn="ctr">
              <a:spcAft>
                <a:spcPts val="0"/>
              </a:spcAft>
            </a:pPr>
            <a:r>
              <a:rPr sz="1100" b="0">
                <a:solidFill>
                  <a:srgbClr val="5B667A"/>
                </a:solidFill>
                <a:latin typeface="Verdana"/>
              </a:rPr>
              <a:t>I'm looking for Basketball Men,</a:t>
            </a:r>
          </a:p>
          <a:p>
            <a:pPr algn="ctr">
              <a:spcAft>
                <a:spcPts val="0"/>
              </a:spcAft>
            </a:pPr>
            <a:r>
              <a:rPr sz="1100" b="0">
                <a:solidFill>
                  <a:srgbClr val="5B667A"/>
                </a:solidFill>
                <a:latin typeface="Verdana"/>
              </a:rPr>
              <a:t>but I'm still exploring.</a:t>
            </a:r>
          </a:p>
        </p:txBody>
      </p:sp>
      <p:sp>
        <p:nvSpPr>
          <p:cNvPr id="8" name="Right Arrow 7"/>
          <p:cNvSpPr/>
          <p:nvPr/>
        </p:nvSpPr>
        <p:spPr>
          <a:xfrm>
            <a:off x="4480560" y="2258567"/>
            <a:ext cx="36576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937760" y="1874519"/>
            <a:ext cx="256032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900" b="1">
                <a:solidFill>
                  <a:srgbClr val="5B667A"/>
                </a:solidFill>
                <a:latin typeface="Verdana"/>
              </a:rPr>
              <a:t>WE ASK</a:t>
            </a:r>
          </a:p>
          <a:p>
            <a:pPr algn="ctr">
              <a:spcAft>
                <a:spcPts val="0"/>
              </a:spcAft>
            </a:pPr>
            <a:r>
              <a:rPr sz="1100" b="0">
                <a:solidFill>
                  <a:srgbClr val="5B667A"/>
                </a:solidFill>
                <a:latin typeface="Verdana"/>
              </a:rPr>
              <a:t>What material are you</a:t>
            </a:r>
          </a:p>
          <a:p>
            <a:pPr algn="ctr">
              <a:spcAft>
                <a:spcPts val="0"/>
              </a:spcAft>
            </a:pPr>
            <a:r>
              <a:rPr sz="1100" b="0">
                <a:solidFill>
                  <a:srgbClr val="5B667A"/>
                </a:solidFill>
                <a:latin typeface="Verdana"/>
              </a:rPr>
              <a:t>looking for?</a:t>
            </a:r>
          </a:p>
        </p:txBody>
      </p:sp>
      <p:sp>
        <p:nvSpPr>
          <p:cNvPr id="10" name="Rounded Rectangle 9"/>
          <p:cNvSpPr/>
          <p:nvPr/>
        </p:nvSpPr>
        <p:spPr>
          <a:xfrm>
            <a:off x="7589520" y="1874519"/>
            <a:ext cx="914400" cy="960120"/>
          </a:xfrm>
          <a:prstGeom prst="roundRect">
            <a:avLst/>
          </a:prstGeom>
          <a:solidFill>
            <a:srgbClr val="F4F6FA"/>
          </a:solidFill>
          <a:ln w="12700">
            <a:solidFill>
              <a:srgbClr val="5B66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5B667A"/>
                </a:solidFill>
                <a:latin typeface="Verdana"/>
              </a:rPr>
              <a:t>—</a:t>
            </a:r>
          </a:p>
        </p:txBody>
      </p:sp>
      <p:sp>
        <p:nvSpPr>
          <p:cNvPr id="11" name="TextBox 10"/>
          <p:cNvSpPr txBox="1"/>
          <p:nvPr/>
        </p:nvSpPr>
        <p:spPr>
          <a:xfrm>
            <a:off x="8686800" y="2057399"/>
            <a:ext cx="2834640" cy="914400"/>
          </a:xfrm>
          <a:prstGeom prst="rect">
            <a:avLst/>
          </a:prstGeom>
          <a:noFill/>
        </p:spPr>
        <p:txBody>
          <a:bodyPr wrap="square" lIns="0" rIns="0" tIns="0" bIns="0">
            <a:spAutoFit/>
          </a:bodyPr>
          <a:lstStyle/>
          <a:p>
            <a:pPr>
              <a:spcAft>
                <a:spcPts val="300"/>
              </a:spcAft>
            </a:pPr>
            <a:r>
              <a:rPr sz="1000" b="0">
                <a:solidFill>
                  <a:srgbClr val="5B667A"/>
                </a:solidFill>
                <a:latin typeface="Verdana"/>
              </a:rPr>
              <a:t>Routed BROWSING. No attribute stated,</a:t>
            </a:r>
          </a:p>
          <a:p>
            <a:pPr>
              <a:spcAft>
                <a:spcPts val="300"/>
              </a:spcAft>
            </a:pPr>
            <a:r>
              <a:rPr sz="1000" b="0">
                <a:solidFill>
                  <a:srgbClr val="5B667A"/>
                </a:solidFill>
                <a:latin typeface="Verdana"/>
              </a:rPr>
              <a:t>so ask the most answerable one.</a:t>
            </a:r>
          </a:p>
        </p:txBody>
      </p:sp>
      <p:sp>
        <p:nvSpPr>
          <p:cNvPr id="12" name="Rounded Rectangle 11"/>
          <p:cNvSpPr/>
          <p:nvPr/>
        </p:nvSpPr>
        <p:spPr>
          <a:xfrm>
            <a:off x="640080" y="2926079"/>
            <a:ext cx="457200" cy="960120"/>
          </a:xfrm>
          <a:prstGeom prst="roundRect">
            <a:avLst/>
          </a:prstGeom>
          <a:solidFill>
            <a:srgbClr val="F4F6FA"/>
          </a:solidFill>
          <a:ln w="12700">
            <a:solidFill>
              <a:srgbClr val="5B66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5B667A"/>
                </a:solidFill>
                <a:latin typeface="Verdana"/>
              </a:rPr>
              <a:t>2</a:t>
            </a:r>
          </a:p>
        </p:txBody>
      </p:sp>
      <p:sp>
        <p:nvSpPr>
          <p:cNvPr id="13" name="Rounded Rectangle 12"/>
          <p:cNvSpPr/>
          <p:nvPr/>
        </p:nvSpPr>
        <p:spPr>
          <a:xfrm>
            <a:off x="1188720" y="2926079"/>
            <a:ext cx="320040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900" b="1">
                <a:solidFill>
                  <a:srgbClr val="5B667A"/>
                </a:solidFill>
                <a:latin typeface="Verdana"/>
              </a:rPr>
              <a:t>SHOPPER</a:t>
            </a:r>
          </a:p>
          <a:p>
            <a:pPr algn="ctr">
              <a:spcAft>
                <a:spcPts val="0"/>
              </a:spcAft>
            </a:pPr>
            <a:r>
              <a:rPr sz="1100" b="0">
                <a:solidFill>
                  <a:srgbClr val="5B667A"/>
                </a:solidFill>
                <a:latin typeface="Verdana"/>
              </a:rPr>
              <a:t>For that, what matters is:</a:t>
            </a:r>
          </a:p>
          <a:p>
            <a:pPr algn="ctr">
              <a:spcAft>
                <a:spcPts val="0"/>
              </a:spcAft>
            </a:pPr>
            <a:r>
              <a:rPr sz="1100" b="0">
                <a:solidFill>
                  <a:srgbClr val="5B667A"/>
                </a:solidFill>
                <a:latin typeface="Verdana"/>
              </a:rPr>
              <a:t>polyester; 100% Polyester.</a:t>
            </a:r>
          </a:p>
        </p:txBody>
      </p:sp>
      <p:sp>
        <p:nvSpPr>
          <p:cNvPr id="14" name="Right Arrow 13"/>
          <p:cNvSpPr/>
          <p:nvPr/>
        </p:nvSpPr>
        <p:spPr>
          <a:xfrm>
            <a:off x="4480560" y="3310127"/>
            <a:ext cx="36576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37760" y="2926079"/>
            <a:ext cx="256032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900" b="1">
                <a:solidFill>
                  <a:srgbClr val="5B667A"/>
                </a:solidFill>
                <a:latin typeface="Verdana"/>
              </a:rPr>
              <a:t>WE ASK</a:t>
            </a:r>
          </a:p>
          <a:p>
            <a:pPr algn="ctr">
              <a:spcAft>
                <a:spcPts val="0"/>
              </a:spcAft>
            </a:pPr>
            <a:r>
              <a:rPr sz="1100" b="0">
                <a:solidFill>
                  <a:srgbClr val="5B667A"/>
                </a:solidFill>
                <a:latin typeface="Verdana"/>
              </a:rPr>
              <a:t>Do you have a colour</a:t>
            </a:r>
          </a:p>
          <a:p>
            <a:pPr algn="ctr">
              <a:spcAft>
                <a:spcPts val="0"/>
              </a:spcAft>
            </a:pPr>
            <a:r>
              <a:rPr sz="1100" b="0">
                <a:solidFill>
                  <a:srgbClr val="5B667A"/>
                </a:solidFill>
                <a:latin typeface="Verdana"/>
              </a:rPr>
              <a:t>preference?</a:t>
            </a:r>
          </a:p>
        </p:txBody>
      </p:sp>
      <p:sp>
        <p:nvSpPr>
          <p:cNvPr id="16" name="Rounded Rectangle 15"/>
          <p:cNvSpPr/>
          <p:nvPr/>
        </p:nvSpPr>
        <p:spPr>
          <a:xfrm>
            <a:off x="7589520" y="2926079"/>
            <a:ext cx="914400" cy="960120"/>
          </a:xfrm>
          <a:prstGeom prst="roundRect">
            <a:avLst/>
          </a:prstGeom>
          <a:solidFill>
            <a:srgbClr val="F4F6FA"/>
          </a:solidFill>
          <a:ln w="12700">
            <a:solidFill>
              <a:srgbClr val="5B66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5B667A"/>
                </a:solidFill>
                <a:latin typeface="Verdana"/>
              </a:rPr>
              <a:t>—</a:t>
            </a:r>
          </a:p>
        </p:txBody>
      </p:sp>
      <p:sp>
        <p:nvSpPr>
          <p:cNvPr id="17" name="TextBox 16"/>
          <p:cNvSpPr txBox="1"/>
          <p:nvPr/>
        </p:nvSpPr>
        <p:spPr>
          <a:xfrm>
            <a:off x="8686800" y="3108959"/>
            <a:ext cx="2834640" cy="914400"/>
          </a:xfrm>
          <a:prstGeom prst="rect">
            <a:avLst/>
          </a:prstGeom>
          <a:noFill/>
        </p:spPr>
        <p:txBody>
          <a:bodyPr wrap="square" lIns="0" rIns="0" tIns="0" bIns="0">
            <a:spAutoFit/>
          </a:bodyPr>
          <a:lstStyle/>
          <a:p>
            <a:pPr>
              <a:spcAft>
                <a:spcPts val="300"/>
              </a:spcAft>
            </a:pPr>
            <a:r>
              <a:rPr sz="1000" b="0">
                <a:solidFill>
                  <a:srgbClr val="5B667A"/>
                </a:solidFill>
                <a:latin typeface="Verdana"/>
              </a:rPr>
              <a:t>Slot filled: material = polyester.</a:t>
            </a:r>
          </a:p>
          <a:p>
            <a:pPr>
              <a:spcAft>
                <a:spcPts val="300"/>
              </a:spcAft>
            </a:pPr>
            <a:r>
              <a:rPr sz="1000" b="0">
                <a:solidFill>
                  <a:srgbClr val="5B667A"/>
                </a:solidFill>
                <a:latin typeface="Verdana"/>
              </a:rPr>
              <a:t>Boosts matching items, deletes nothing.</a:t>
            </a:r>
          </a:p>
        </p:txBody>
      </p:sp>
      <p:sp>
        <p:nvSpPr>
          <p:cNvPr id="18" name="Rounded Rectangle 17"/>
          <p:cNvSpPr/>
          <p:nvPr/>
        </p:nvSpPr>
        <p:spPr>
          <a:xfrm>
            <a:off x="640080" y="3977639"/>
            <a:ext cx="457200" cy="960120"/>
          </a:xfrm>
          <a:prstGeom prst="roundRect">
            <a:avLst/>
          </a:prstGeom>
          <a:solidFill>
            <a:srgbClr val="F4F6FA"/>
          </a:solidFill>
          <a:ln w="12700">
            <a:solidFill>
              <a:srgbClr val="5B66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5B667A"/>
                </a:solidFill>
                <a:latin typeface="Verdana"/>
              </a:rPr>
              <a:t>3</a:t>
            </a:r>
          </a:p>
        </p:txBody>
      </p:sp>
      <p:sp>
        <p:nvSpPr>
          <p:cNvPr id="19" name="Rounded Rectangle 18"/>
          <p:cNvSpPr/>
          <p:nvPr/>
        </p:nvSpPr>
        <p:spPr>
          <a:xfrm>
            <a:off x="1188720" y="3977639"/>
            <a:ext cx="320040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900" b="1">
                <a:solidFill>
                  <a:srgbClr val="5B667A"/>
                </a:solidFill>
                <a:latin typeface="Verdana"/>
              </a:rPr>
              <a:t>SHOPPER</a:t>
            </a:r>
          </a:p>
          <a:p>
            <a:pPr algn="ctr">
              <a:spcAft>
                <a:spcPts val="0"/>
              </a:spcAft>
            </a:pPr>
            <a:r>
              <a:rPr sz="1100" b="0">
                <a:solidFill>
                  <a:srgbClr val="5B667A"/>
                </a:solidFill>
                <a:latin typeface="Verdana"/>
              </a:rPr>
              <a:t>I don't have an additional</a:t>
            </a:r>
          </a:p>
          <a:p>
            <a:pPr algn="ctr">
              <a:spcAft>
                <a:spcPts val="0"/>
              </a:spcAft>
            </a:pPr>
            <a:r>
              <a:rPr sz="1100" b="0">
                <a:solidFill>
                  <a:srgbClr val="5B667A"/>
                </a:solidFill>
                <a:latin typeface="Verdana"/>
              </a:rPr>
              <a:t>preference for colour.</a:t>
            </a:r>
          </a:p>
        </p:txBody>
      </p:sp>
      <p:sp>
        <p:nvSpPr>
          <p:cNvPr id="20" name="Right Arrow 19"/>
          <p:cNvSpPr/>
          <p:nvPr/>
        </p:nvSpPr>
        <p:spPr>
          <a:xfrm>
            <a:off x="4480560" y="4361687"/>
            <a:ext cx="36576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0" y="3977639"/>
            <a:ext cx="256032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900" b="1">
                <a:solidFill>
                  <a:srgbClr val="5B667A"/>
                </a:solidFill>
                <a:latin typeface="Verdana"/>
              </a:rPr>
              <a:t>WE ASK</a:t>
            </a:r>
          </a:p>
          <a:p>
            <a:pPr algn="ctr">
              <a:spcAft>
                <a:spcPts val="0"/>
              </a:spcAft>
            </a:pPr>
            <a:r>
              <a:rPr sz="1100" b="0">
                <a:solidFill>
                  <a:srgbClr val="5B667A"/>
                </a:solidFill>
                <a:latin typeface="Verdana"/>
              </a:rPr>
              <a:t>Is there a specific feature</a:t>
            </a:r>
          </a:p>
          <a:p>
            <a:pPr algn="ctr">
              <a:spcAft>
                <a:spcPts val="0"/>
              </a:spcAft>
            </a:pPr>
            <a:r>
              <a:rPr sz="1100" b="0">
                <a:solidFill>
                  <a:srgbClr val="5B667A"/>
                </a:solidFill>
                <a:latin typeface="Verdana"/>
              </a:rPr>
              <a:t>that matters most?</a:t>
            </a:r>
          </a:p>
        </p:txBody>
      </p:sp>
      <p:sp>
        <p:nvSpPr>
          <p:cNvPr id="22" name="Rounded Rectangle 21"/>
          <p:cNvSpPr/>
          <p:nvPr/>
        </p:nvSpPr>
        <p:spPr>
          <a:xfrm>
            <a:off x="7589520" y="3977639"/>
            <a:ext cx="914400" cy="960120"/>
          </a:xfrm>
          <a:prstGeom prst="roundRect">
            <a:avLst/>
          </a:prstGeom>
          <a:solidFill>
            <a:srgbClr val="F4F6FA"/>
          </a:solidFill>
          <a:ln w="12700">
            <a:solidFill>
              <a:srgbClr val="5B667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5B667A"/>
                </a:solidFill>
                <a:latin typeface="Verdana"/>
              </a:rPr>
              <a:t>—</a:t>
            </a:r>
          </a:p>
        </p:txBody>
      </p:sp>
      <p:sp>
        <p:nvSpPr>
          <p:cNvPr id="23" name="TextBox 22"/>
          <p:cNvSpPr txBox="1"/>
          <p:nvPr/>
        </p:nvSpPr>
        <p:spPr>
          <a:xfrm>
            <a:off x="8686800" y="4160519"/>
            <a:ext cx="2834640" cy="914400"/>
          </a:xfrm>
          <a:prstGeom prst="rect">
            <a:avLst/>
          </a:prstGeom>
          <a:noFill/>
        </p:spPr>
        <p:txBody>
          <a:bodyPr wrap="square" lIns="0" rIns="0" tIns="0" bIns="0">
            <a:spAutoFit/>
          </a:bodyPr>
          <a:lstStyle/>
          <a:p>
            <a:pPr>
              <a:spcAft>
                <a:spcPts val="300"/>
              </a:spcAft>
            </a:pPr>
            <a:r>
              <a:rPr sz="1000" b="0">
                <a:solidFill>
                  <a:srgbClr val="5B667A"/>
                </a:solidFill>
                <a:latin typeface="Verdana"/>
              </a:rPr>
              <a:t>A non-answer. We keep the text in the</a:t>
            </a:r>
          </a:p>
          <a:p>
            <a:pPr>
              <a:spcAft>
                <a:spcPts val="300"/>
              </a:spcAft>
            </a:pPr>
            <a:r>
              <a:rPr sz="1000" b="0">
                <a:solidFill>
                  <a:srgbClr val="5B667A"/>
                </a:solidFill>
                <a:latin typeface="Verdana"/>
              </a:rPr>
              <a:t>query anyway — pruning it measured −0.041.</a:t>
            </a:r>
          </a:p>
        </p:txBody>
      </p:sp>
      <p:sp>
        <p:nvSpPr>
          <p:cNvPr id="24" name="Rounded Rectangle 23"/>
          <p:cNvSpPr/>
          <p:nvPr/>
        </p:nvSpPr>
        <p:spPr>
          <a:xfrm>
            <a:off x="640080" y="5029199"/>
            <a:ext cx="457200" cy="96012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0B7A4B"/>
                </a:solidFill>
                <a:latin typeface="Verdana"/>
              </a:rPr>
              <a:t>4</a:t>
            </a:r>
          </a:p>
        </p:txBody>
      </p:sp>
      <p:sp>
        <p:nvSpPr>
          <p:cNvPr id="25" name="Rounded Rectangle 24"/>
          <p:cNvSpPr/>
          <p:nvPr/>
        </p:nvSpPr>
        <p:spPr>
          <a:xfrm>
            <a:off x="1188720" y="5029199"/>
            <a:ext cx="3200400" cy="960120"/>
          </a:xfrm>
          <a:prstGeom prst="roundRect">
            <a:avLst/>
          </a:prstGeom>
          <a:solidFill>
            <a:srgbClr val="E6F3EC"/>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900" b="1">
                <a:solidFill>
                  <a:srgbClr val="5B667A"/>
                </a:solidFill>
                <a:latin typeface="Verdana"/>
              </a:rPr>
              <a:t>SHOPPER</a:t>
            </a:r>
          </a:p>
          <a:p>
            <a:pPr algn="ctr">
              <a:spcAft>
                <a:spcPts val="0"/>
              </a:spcAft>
            </a:pPr>
            <a:r>
              <a:rPr sz="1100" b="0">
                <a:solidFill>
                  <a:srgbClr val="5B667A"/>
                </a:solidFill>
                <a:latin typeface="Verdana"/>
              </a:rPr>
              <a:t>For that, what matters is:</a:t>
            </a:r>
          </a:p>
          <a:p>
            <a:pPr algn="ctr">
              <a:spcAft>
                <a:spcPts val="0"/>
              </a:spcAft>
            </a:pPr>
            <a:r>
              <a:rPr sz="1100" b="0">
                <a:solidFill>
                  <a:srgbClr val="5B667A"/>
                </a:solidFill>
                <a:latin typeface="Verdana"/>
              </a:rPr>
              <a:t>Drawstring closure; High quality</a:t>
            </a:r>
          </a:p>
          <a:p>
            <a:pPr algn="ctr">
              <a:spcAft>
                <a:spcPts val="0"/>
              </a:spcAft>
            </a:pPr>
            <a:r>
              <a:rPr sz="1100" b="0">
                <a:solidFill>
                  <a:srgbClr val="5B667A"/>
                </a:solidFill>
                <a:latin typeface="Verdana"/>
              </a:rPr>
              <a:t>mesh for breathability.</a:t>
            </a:r>
          </a:p>
        </p:txBody>
      </p:sp>
      <p:sp>
        <p:nvSpPr>
          <p:cNvPr id="26" name="Right Arrow 25"/>
          <p:cNvSpPr/>
          <p:nvPr/>
        </p:nvSpPr>
        <p:spPr>
          <a:xfrm>
            <a:off x="4480560" y="5413247"/>
            <a:ext cx="36576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937760" y="5029199"/>
            <a:ext cx="2560320" cy="960120"/>
          </a:xfrm>
          <a:prstGeom prst="roundRect">
            <a:avLst/>
          </a:prstGeom>
          <a:solidFill>
            <a:srgbClr val="E6F3EC"/>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900" b="1">
                <a:solidFill>
                  <a:srgbClr val="5B667A"/>
                </a:solidFill>
                <a:latin typeface="Verdana"/>
              </a:rPr>
              <a:t>WE ASK</a:t>
            </a:r>
          </a:p>
          <a:p>
            <a:pPr algn="ctr">
              <a:spcAft>
                <a:spcPts val="0"/>
              </a:spcAft>
            </a:pPr>
            <a:r>
              <a:rPr sz="1100" b="0">
                <a:solidFill>
                  <a:srgbClr val="5B667A"/>
                </a:solidFill>
                <a:latin typeface="Verdana"/>
              </a:rPr>
              <a:t>Any particular style</a:t>
            </a:r>
          </a:p>
          <a:p>
            <a:pPr algn="ctr">
              <a:spcAft>
                <a:spcPts val="0"/>
              </a:spcAft>
            </a:pPr>
            <a:r>
              <a:rPr sz="1100" b="0">
                <a:solidFill>
                  <a:srgbClr val="5B667A"/>
                </a:solidFill>
                <a:latin typeface="Verdana"/>
              </a:rPr>
              <a:t>or fit you'd like?</a:t>
            </a:r>
          </a:p>
        </p:txBody>
      </p:sp>
      <p:sp>
        <p:nvSpPr>
          <p:cNvPr id="28" name="Rounded Rectangle 27"/>
          <p:cNvSpPr/>
          <p:nvPr/>
        </p:nvSpPr>
        <p:spPr>
          <a:xfrm>
            <a:off x="7589520" y="5029199"/>
            <a:ext cx="914400" cy="96012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0B7A4B"/>
                </a:solidFill>
                <a:latin typeface="Verdana"/>
              </a:rPr>
              <a:t>rank 3</a:t>
            </a:r>
          </a:p>
        </p:txBody>
      </p:sp>
      <p:sp>
        <p:nvSpPr>
          <p:cNvPr id="29" name="TextBox 28"/>
          <p:cNvSpPr txBox="1"/>
          <p:nvPr/>
        </p:nvSpPr>
        <p:spPr>
          <a:xfrm>
            <a:off x="8686800" y="5212079"/>
            <a:ext cx="2834640" cy="914400"/>
          </a:xfrm>
          <a:prstGeom prst="rect">
            <a:avLst/>
          </a:prstGeom>
          <a:noFill/>
        </p:spPr>
        <p:txBody>
          <a:bodyPr wrap="square" lIns="0" rIns="0" tIns="0" bIns="0">
            <a:spAutoFit/>
          </a:bodyPr>
          <a:lstStyle/>
          <a:p>
            <a:pPr>
              <a:spcAft>
                <a:spcPts val="300"/>
              </a:spcAft>
            </a:pPr>
            <a:r>
              <a:rPr sz="1000" b="0">
                <a:solidFill>
                  <a:srgbClr val="5B667A"/>
                </a:solidFill>
                <a:latin typeface="Verdana"/>
              </a:rPr>
              <a:t>Phrase leg matches the exact span</a:t>
            </a:r>
          </a:p>
          <a:p>
            <a:pPr>
              <a:spcAft>
                <a:spcPts val="300"/>
              </a:spcAft>
            </a:pPr>
            <a:r>
              <a:rPr sz="1000" b="0">
                <a:solidFill>
                  <a:srgbClr val="5B667A"/>
                </a:solidFill>
                <a:latin typeface="Verdana"/>
              </a:rPr>
              <a:t>“Drawstring closure”. HIT — session ends.</a:t>
            </a:r>
          </a:p>
        </p:txBody>
      </p:sp>
      <p:sp>
        <p:nvSpPr>
          <p:cNvPr id="30" name="TextBox 29"/>
          <p:cNvSpPr txBox="1"/>
          <p:nvPr/>
        </p:nvSpPr>
        <p:spPr>
          <a:xfrm>
            <a:off x="640080" y="6172200"/>
            <a:ext cx="10881360" cy="457200"/>
          </a:xfrm>
          <a:prstGeom prst="rect">
            <a:avLst/>
          </a:prstGeom>
          <a:noFill/>
        </p:spPr>
        <p:txBody>
          <a:bodyPr wrap="square" lIns="0" rIns="0" tIns="0" bIns="0">
            <a:spAutoFit/>
          </a:bodyPr>
          <a:lstStyle/>
          <a:p>
            <a:r>
              <a:rPr sz="1300" b="1">
                <a:solidFill>
                  <a:srgbClr val="0B7A4B"/>
                </a:solidFill>
                <a:latin typeface="Verdana"/>
              </a:rPr>
              <a:t>Found on turn 4 of 10, at rank 3. Every question was chosen by the live policy — nothing here is scripted.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HOW IT WORKS</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Architecture</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83080"/>
            <a:ext cx="2514600" cy="137160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141B2D"/>
                </a:solidFill>
                <a:latin typeface="Verdana"/>
              </a:rPr>
              <a:t>UNDERSTAND</a:t>
            </a:r>
          </a:p>
          <a:p>
            <a:pPr algn="ctr">
              <a:spcAft>
                <a:spcPts val="0"/>
              </a:spcAft>
            </a:pPr>
            <a:r>
              <a:rPr sz="1100" b="0">
                <a:solidFill>
                  <a:srgbClr val="5B667A"/>
                </a:solidFill>
                <a:latin typeface="Verdana"/>
              </a:rPr>
              <a:t>Slot extraction</a:t>
            </a:r>
          </a:p>
          <a:p>
            <a:pPr algn="ctr">
              <a:spcAft>
                <a:spcPts val="0"/>
              </a:spcAft>
            </a:pPr>
            <a:r>
              <a:rPr sz="1100" b="0">
                <a:solidFill>
                  <a:srgbClr val="5B667A"/>
                </a:solidFill>
                <a:latin typeface="Verdana"/>
              </a:rPr>
              <a:t>Track routing</a:t>
            </a:r>
          </a:p>
          <a:p>
            <a:pPr algn="ctr">
              <a:spcAft>
                <a:spcPts val="0"/>
              </a:spcAft>
            </a:pPr>
            <a:r>
              <a:rPr sz="1100" b="0">
                <a:solidFill>
                  <a:srgbClr val="5B667A"/>
                </a:solidFill>
                <a:latin typeface="Verdana"/>
              </a:rPr>
              <a:t>Pivot · hand-back</a:t>
            </a:r>
          </a:p>
        </p:txBody>
      </p:sp>
      <p:sp>
        <p:nvSpPr>
          <p:cNvPr id="6" name="Right Arrow 5"/>
          <p:cNvSpPr/>
          <p:nvPr/>
        </p:nvSpPr>
        <p:spPr>
          <a:xfrm>
            <a:off x="3246120" y="2368296"/>
            <a:ext cx="32004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11880" y="1783080"/>
            <a:ext cx="2514600" cy="1371600"/>
          </a:xfrm>
          <a:prstGeom prst="roundRect">
            <a:avLst/>
          </a:prstGeom>
          <a:solidFill>
            <a:srgbClr val="E4EDFD"/>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141B2D"/>
                </a:solidFill>
                <a:latin typeface="Verdana"/>
              </a:rPr>
              <a:t>RETRIEVE</a:t>
            </a:r>
          </a:p>
          <a:p>
            <a:pPr algn="ctr">
              <a:spcAft>
                <a:spcPts val="0"/>
              </a:spcAft>
            </a:pPr>
            <a:r>
              <a:rPr sz="1100" b="0">
                <a:solidFill>
                  <a:srgbClr val="5B667A"/>
                </a:solidFill>
                <a:latin typeface="Verdana"/>
              </a:rPr>
              <a:t>5 independent legs</a:t>
            </a:r>
          </a:p>
          <a:p>
            <a:pPr algn="ctr">
              <a:spcAft>
                <a:spcPts val="0"/>
              </a:spcAft>
            </a:pPr>
            <a:r>
              <a:rPr sz="1100" b="0">
                <a:solidFill>
                  <a:srgbClr val="5B667A"/>
                </a:solidFill>
                <a:latin typeface="Verdana"/>
              </a:rPr>
              <a:t>over all 50k products</a:t>
            </a:r>
          </a:p>
        </p:txBody>
      </p:sp>
      <p:sp>
        <p:nvSpPr>
          <p:cNvPr id="8" name="Right Arrow 7"/>
          <p:cNvSpPr/>
          <p:nvPr/>
        </p:nvSpPr>
        <p:spPr>
          <a:xfrm>
            <a:off x="6172200" y="2368296"/>
            <a:ext cx="32004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37960" y="1783080"/>
            <a:ext cx="2514600" cy="1371600"/>
          </a:xfrm>
          <a:prstGeom prst="roundRect">
            <a:avLst/>
          </a:prstGeom>
          <a:solidFill>
            <a:srgbClr val="E4EDFD"/>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141B2D"/>
                </a:solidFill>
                <a:latin typeface="Verdana"/>
              </a:rPr>
              <a:t>RANK</a:t>
            </a:r>
          </a:p>
          <a:p>
            <a:pPr algn="ctr">
              <a:spcAft>
                <a:spcPts val="0"/>
              </a:spcAft>
            </a:pPr>
            <a:r>
              <a:rPr sz="1100" b="0">
                <a:solidFill>
                  <a:srgbClr val="5B667A"/>
                </a:solidFill>
                <a:latin typeface="Verdana"/>
              </a:rPr>
              <a:t>Fuse · boost</a:t>
            </a:r>
          </a:p>
          <a:p>
            <a:pPr algn="ctr">
              <a:spcAft>
                <a:spcPts val="0"/>
              </a:spcAft>
            </a:pPr>
            <a:r>
              <a:rPr sz="1100" b="0">
                <a:solidFill>
                  <a:srgbClr val="5B667A"/>
                </a:solidFill>
                <a:latin typeface="Verdana"/>
              </a:rPr>
              <a:t>drop already-shown</a:t>
            </a:r>
          </a:p>
        </p:txBody>
      </p:sp>
      <p:sp>
        <p:nvSpPr>
          <p:cNvPr id="10" name="Right Arrow 9"/>
          <p:cNvSpPr/>
          <p:nvPr/>
        </p:nvSpPr>
        <p:spPr>
          <a:xfrm>
            <a:off x="9098280" y="2368296"/>
            <a:ext cx="32004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464040" y="1783080"/>
            <a:ext cx="2514600" cy="137160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141B2D"/>
                </a:solidFill>
                <a:latin typeface="Verdana"/>
              </a:rPr>
              <a:t>RESPOND</a:t>
            </a:r>
          </a:p>
          <a:p>
            <a:pPr algn="ctr">
              <a:spcAft>
                <a:spcPts val="0"/>
              </a:spcAft>
            </a:pPr>
            <a:r>
              <a:rPr sz="1100" b="0">
                <a:solidFill>
                  <a:srgbClr val="5B667A"/>
                </a:solidFill>
                <a:latin typeface="Verdana"/>
              </a:rPr>
              <a:t>Top 10 products</a:t>
            </a:r>
          </a:p>
          <a:p>
            <a:pPr algn="ctr">
              <a:spcAft>
                <a:spcPts val="0"/>
              </a:spcAft>
            </a:pPr>
            <a:r>
              <a:rPr sz="1100" b="0">
                <a:solidFill>
                  <a:srgbClr val="5B667A"/>
                </a:solidFill>
                <a:latin typeface="Verdana"/>
              </a:rPr>
              <a:t>+ the next question</a:t>
            </a:r>
          </a:p>
        </p:txBody>
      </p:sp>
      <p:sp>
        <p:nvSpPr>
          <p:cNvPr id="12" name="Left Arrow 11"/>
          <p:cNvSpPr/>
          <p:nvPr/>
        </p:nvSpPr>
        <p:spPr>
          <a:xfrm>
            <a:off x="685800" y="3383280"/>
            <a:ext cx="10469880" cy="310896"/>
          </a:xfrm>
          <a:prstGeom prst="leftArrow">
            <a:avLst/>
          </a:prstGeom>
          <a:solidFill>
            <a:srgbClr val="E4EDFD"/>
          </a:solidFill>
          <a:ln w="9525">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62FE"/>
                </a:solidFill>
                <a:latin typeface="Verdana"/>
              </a:rPr>
              <a:t>each new reply re-runs the whole pipeline — state carries forward</a:t>
            </a:r>
          </a:p>
        </p:txBody>
      </p:sp>
      <p:graphicFrame>
        <p:nvGraphicFramePr>
          <p:cNvPr id="13" name="Table 12"/>
          <p:cNvGraphicFramePr>
            <a:graphicFrameLocks noGrp="1"/>
          </p:cNvGraphicFramePr>
          <p:nvPr/>
        </p:nvGraphicFramePr>
        <p:xfrm>
          <a:off x="640080" y="3931920"/>
          <a:ext cx="10908790" cy="2231136"/>
        </p:xfrm>
        <a:graphic>
          <a:graphicData uri="http://schemas.openxmlformats.org/drawingml/2006/table">
            <a:tbl>
              <a:tblPr firstRow="1">
                <a:tableStyleId>{5C22544A-7EE6-4342-B048-85BDC9FD1C3A}</a:tableStyleId>
              </a:tblPr>
              <a:tblGrid>
                <a:gridCol w="1558398"/>
                <a:gridCol w="3300138"/>
                <a:gridCol w="6050254"/>
              </a:tblGrid>
              <a:tr h="329184">
                <a:tc>
                  <a:txBody>
                    <a:bodyPr/>
                    <a:lstStyle/>
                    <a:p>
                      <a:r>
                        <a:rPr sz="1100" b="1">
                          <a:solidFill>
                            <a:srgbClr val="FFFFFF"/>
                          </a:solidFill>
                          <a:latin typeface="Verdana"/>
                        </a:rPr>
                        <a:t>Stage</a:t>
                      </a:r>
                    </a:p>
                  </a:txBody>
                  <a:tcPr marL="82296" marR="82296" marT="36576" marB="36576" anchor="ctr">
                    <a:solidFill>
                      <a:srgbClr val="141B2D"/>
                    </a:solidFill>
                  </a:tcPr>
                </a:tc>
                <a:tc>
                  <a:txBody>
                    <a:bodyPr/>
                    <a:lstStyle/>
                    <a:p>
                      <a:r>
                        <a:rPr sz="1100" b="1">
                          <a:solidFill>
                            <a:srgbClr val="FFFFFF"/>
                          </a:solidFill>
                          <a:latin typeface="Verdana"/>
                        </a:rPr>
                        <a:t>What it decides</a:t>
                      </a:r>
                    </a:p>
                  </a:txBody>
                  <a:tcPr marL="82296" marR="82296" marT="36576" marB="36576" anchor="ctr">
                    <a:solidFill>
                      <a:srgbClr val="141B2D"/>
                    </a:solidFill>
                  </a:tcPr>
                </a:tc>
                <a:tc>
                  <a:txBody>
                    <a:bodyPr/>
                    <a:lstStyle/>
                    <a:p>
                      <a:r>
                        <a:rPr sz="1100" b="1">
                          <a:solidFill>
                            <a:srgbClr val="FFFFFF"/>
                          </a:solidFill>
                          <a:latin typeface="Verdana"/>
                        </a:rPr>
                        <a:t>Design rule we committed to</a:t>
                      </a:r>
                    </a:p>
                  </a:txBody>
                  <a:tcPr marL="82296" marR="82296" marT="36576" marB="36576" anchor="ctr">
                    <a:solidFill>
                      <a:srgbClr val="141B2D"/>
                    </a:solidFill>
                  </a:tcPr>
                </a:tc>
              </a:tr>
              <a:tr h="475488">
                <a:tc>
                  <a:txBody>
                    <a:bodyPr wrap="square"/>
                    <a:lstStyle/>
                    <a:p>
                      <a:r>
                        <a:rPr sz="1100" b="0">
                          <a:solidFill>
                            <a:srgbClr val="141B2D"/>
                          </a:solidFill>
                          <a:latin typeface="Verdana"/>
                        </a:rPr>
                        <a:t>UNDERSTAND</a:t>
                      </a:r>
                    </a:p>
                  </a:txBody>
                  <a:tcPr marL="82296" marR="82296" marT="36576" marB="36576" anchor="ctr">
                    <a:solidFill>
                      <a:srgbClr val="FFFFFF"/>
                    </a:solidFill>
                  </a:tcPr>
                </a:tc>
                <a:tc>
                  <a:txBody>
                    <a:bodyPr wrap="square"/>
                    <a:lstStyle/>
                    <a:p>
                      <a:r>
                        <a:rPr sz="1100" b="0">
                          <a:solidFill>
                            <a:srgbClr val="141B2D"/>
                          </a:solidFill>
                          <a:latin typeface="Verdana"/>
                        </a:rPr>
                        <a:t>material · colour · budget · track · pivot · hand-back</a:t>
                      </a:r>
                    </a:p>
                  </a:txBody>
                  <a:tcPr marL="82296" marR="82296" marT="36576" marB="36576" anchor="ctr">
                    <a:solidFill>
                      <a:srgbClr val="FFFFFF"/>
                    </a:solidFill>
                  </a:tcPr>
                </a:tc>
                <a:tc>
                  <a:txBody>
                    <a:bodyPr wrap="square"/>
                    <a:lstStyle/>
                    <a:p>
                      <a:r>
                        <a:rPr sz="1100" b="0">
                          <a:solidFill>
                            <a:srgbClr val="141B2D"/>
                          </a:solidFill>
                          <a:latin typeface="Verdana"/>
                        </a:rPr>
                        <a:t>Never trust one label. Negation-aware, and a pivot wipes state.</a:t>
                      </a:r>
                    </a:p>
                  </a:txBody>
                  <a:tcPr marL="82296" marR="82296" marT="36576" marB="36576" anchor="ctr">
                    <a:solidFill>
                      <a:srgbClr val="FFFFFF"/>
                    </a:solidFill>
                  </a:tcPr>
                </a:tc>
              </a:tr>
              <a:tr h="475488">
                <a:tc>
                  <a:txBody>
                    <a:bodyPr wrap="square"/>
                    <a:lstStyle/>
                    <a:p>
                      <a:r>
                        <a:rPr sz="1100" b="0">
                          <a:solidFill>
                            <a:srgbClr val="141B2D"/>
                          </a:solidFill>
                          <a:latin typeface="Verdana"/>
                        </a:rPr>
                        <a:t>RETRIEVE</a:t>
                      </a:r>
                    </a:p>
                  </a:txBody>
                  <a:tcPr marL="82296" marR="82296" marT="36576" marB="36576" anchor="ctr">
                    <a:solidFill>
                      <a:srgbClr val="F4F6FA"/>
                    </a:solidFill>
                  </a:tcPr>
                </a:tc>
                <a:tc>
                  <a:txBody>
                    <a:bodyPr wrap="square"/>
                    <a:lstStyle/>
                    <a:p>
                      <a:r>
                        <a:rPr sz="1100" b="0">
                          <a:solidFill>
                            <a:srgbClr val="141B2D"/>
                          </a:solidFill>
                          <a:latin typeface="Verdana"/>
                        </a:rPr>
                        <a:t>~30 candidates from 50,000</a:t>
                      </a:r>
                    </a:p>
                  </a:txBody>
                  <a:tcPr marL="82296" marR="82296" marT="36576" marB="36576" anchor="ctr">
                    <a:solidFill>
                      <a:srgbClr val="F4F6FA"/>
                    </a:solidFill>
                  </a:tcPr>
                </a:tc>
                <a:tc>
                  <a:txBody>
                    <a:bodyPr wrap="square"/>
                    <a:lstStyle/>
                    <a:p>
                      <a:r>
                        <a:rPr sz="1100" b="0">
                          <a:solidFill>
                            <a:srgbClr val="141B2D"/>
                          </a:solidFill>
                          <a:latin typeface="Verdana"/>
                        </a:rPr>
                        <a:t>Every leg sees the whole catalog. Each leg votes; none may filter another.</a:t>
                      </a:r>
                    </a:p>
                  </a:txBody>
                  <a:tcPr marL="82296" marR="82296" marT="36576" marB="36576" anchor="ctr">
                    <a:solidFill>
                      <a:srgbClr val="F4F6FA"/>
                    </a:solidFill>
                  </a:tcPr>
                </a:tc>
              </a:tr>
              <a:tr h="475488">
                <a:tc>
                  <a:txBody>
                    <a:bodyPr wrap="square"/>
                    <a:lstStyle/>
                    <a:p>
                      <a:r>
                        <a:rPr sz="1100" b="0">
                          <a:solidFill>
                            <a:srgbClr val="141B2D"/>
                          </a:solidFill>
                          <a:latin typeface="Verdana"/>
                        </a:rPr>
                        <a:t>RANK</a:t>
                      </a:r>
                    </a:p>
                  </a:txBody>
                  <a:tcPr marL="82296" marR="82296" marT="36576" marB="36576" anchor="ctr">
                    <a:solidFill>
                      <a:srgbClr val="FFFFFF"/>
                    </a:solidFill>
                  </a:tcPr>
                </a:tc>
                <a:tc>
                  <a:txBody>
                    <a:bodyPr wrap="square"/>
                    <a:lstStyle/>
                    <a:p>
                      <a:r>
                        <a:rPr sz="1100" b="0">
                          <a:solidFill>
                            <a:srgbClr val="141B2D"/>
                          </a:solidFill>
                          <a:latin typeface="Verdana"/>
                        </a:rPr>
                        <a:t>which 10 to show, in what order</a:t>
                      </a:r>
                    </a:p>
                  </a:txBody>
                  <a:tcPr marL="82296" marR="82296" marT="36576" marB="36576" anchor="ctr">
                    <a:solidFill>
                      <a:srgbClr val="FFFFFF"/>
                    </a:solidFill>
                  </a:tcPr>
                </a:tc>
                <a:tc>
                  <a:txBody>
                    <a:bodyPr wrap="square"/>
                    <a:lstStyle/>
                    <a:p>
                      <a:r>
                        <a:rPr sz="1100" b="1">
                          <a:solidFill>
                            <a:srgbClr val="0F62FE"/>
                          </a:solidFill>
                          <a:latin typeface="Verdana"/>
                        </a:rPr>
                        <a:t>Boost, never delete. Only proven-wrong items are removed.</a:t>
                      </a:r>
                    </a:p>
                  </a:txBody>
                  <a:tcPr marL="82296" marR="82296" marT="36576" marB="36576" anchor="ctr">
                    <a:solidFill>
                      <a:srgbClr val="FFFFFF"/>
                    </a:solidFill>
                  </a:tcPr>
                </a:tc>
              </a:tr>
              <a:tr h="475488">
                <a:tc>
                  <a:txBody>
                    <a:bodyPr wrap="square"/>
                    <a:lstStyle/>
                    <a:p>
                      <a:r>
                        <a:rPr sz="1100" b="0">
                          <a:solidFill>
                            <a:srgbClr val="141B2D"/>
                          </a:solidFill>
                          <a:latin typeface="Verdana"/>
                        </a:rPr>
                        <a:t>RESPOND</a:t>
                      </a:r>
                    </a:p>
                  </a:txBody>
                  <a:tcPr marL="82296" marR="82296" marT="36576" marB="36576" anchor="ctr">
                    <a:solidFill>
                      <a:srgbClr val="F4F6FA"/>
                    </a:solidFill>
                  </a:tcPr>
                </a:tc>
                <a:tc>
                  <a:txBody>
                    <a:bodyPr wrap="square"/>
                    <a:lstStyle/>
                    <a:p>
                      <a:r>
                        <a:rPr sz="1100" b="0">
                          <a:solidFill>
                            <a:srgbClr val="141B2D"/>
                          </a:solidFill>
                          <a:latin typeface="Verdana"/>
                        </a:rPr>
                        <a:t>the single question to ask next</a:t>
                      </a:r>
                    </a:p>
                  </a:txBody>
                  <a:tcPr marL="82296" marR="82296" marT="36576" marB="36576" anchor="ctr">
                    <a:solidFill>
                      <a:srgbClr val="F4F6FA"/>
                    </a:solidFill>
                  </a:tcPr>
                </a:tc>
                <a:tc>
                  <a:txBody>
                    <a:bodyPr wrap="square"/>
                    <a:lstStyle/>
                    <a:p>
                      <a:r>
                        <a:rPr sz="1100" b="0">
                          <a:solidFill>
                            <a:srgbClr val="141B2D"/>
                          </a:solidFill>
                          <a:latin typeface="Verdana"/>
                        </a:rPr>
                        <a:t>Ask what the shopper can actually answer, not what we most want.</a:t>
                      </a:r>
                    </a:p>
                  </a:txBody>
                  <a:tcPr marL="82296" marR="82296" marT="36576" marB="36576" anchor="ctr">
                    <a:solidFill>
                      <a:srgbClr val="F4F6FA"/>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HOW IT WORKS</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Reading the shopper: four questions, one encoder</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572768"/>
          <a:ext cx="10908790" cy="2816352"/>
        </p:xfrm>
        <a:graphic>
          <a:graphicData uri="http://schemas.openxmlformats.org/drawingml/2006/table">
            <a:tbl>
              <a:tblPr firstRow="1">
                <a:tableStyleId>{5C22544A-7EE6-4342-B048-85BDC9FD1C3A}</a:tableStyleId>
              </a:tblPr>
              <a:tblGrid>
                <a:gridCol w="2291763"/>
                <a:gridCol w="3300138"/>
                <a:gridCol w="3208468"/>
                <a:gridCol w="2108421"/>
              </a:tblGrid>
              <a:tr h="329184">
                <a:tc>
                  <a:txBody>
                    <a:bodyPr/>
                    <a:lstStyle/>
                    <a:p>
                      <a:r>
                        <a:rPr sz="1050" b="1">
                          <a:solidFill>
                            <a:srgbClr val="FFFFFF"/>
                          </a:solidFill>
                          <a:latin typeface="Verdana"/>
                        </a:rPr>
                        <a:t>What we ask of the message</a:t>
                      </a:r>
                    </a:p>
                  </a:txBody>
                  <a:tcPr marL="82296" marR="82296" marT="36576" marB="36576" anchor="ctr">
                    <a:solidFill>
                      <a:srgbClr val="141B2D"/>
                    </a:solidFill>
                  </a:tcPr>
                </a:tc>
                <a:tc>
                  <a:txBody>
                    <a:bodyPr/>
                    <a:lstStyle/>
                    <a:p>
                      <a:r>
                        <a:rPr sz="1050" b="1">
                          <a:solidFill>
                            <a:srgbClr val="FFFFFF"/>
                          </a:solidFill>
                          <a:latin typeface="Verdana"/>
                        </a:rPr>
                        <a:t>How it is decided</a:t>
                      </a:r>
                    </a:p>
                  </a:txBody>
                  <a:tcPr marL="82296" marR="82296" marT="36576" marB="36576" anchor="ctr">
                    <a:solidFill>
                      <a:srgbClr val="141B2D"/>
                    </a:solidFill>
                  </a:tcPr>
                </a:tc>
                <a:tc>
                  <a:txBody>
                    <a:bodyPr/>
                    <a:lstStyle/>
                    <a:p>
                      <a:r>
                        <a:rPr sz="1050" b="1">
                          <a:solidFill>
                            <a:srgbClr val="FFFFFF"/>
                          </a:solidFill>
                          <a:latin typeface="Verdana"/>
                        </a:rPr>
                        <a:t>The error we tune against</a:t>
                      </a:r>
                    </a:p>
                  </a:txBody>
                  <a:tcPr marL="82296" marR="82296" marT="36576" marB="36576" anchor="ctr">
                    <a:solidFill>
                      <a:srgbClr val="141B2D"/>
                    </a:solidFill>
                  </a:tcPr>
                </a:tc>
                <a:tc>
                  <a:txBody>
                    <a:bodyPr/>
                    <a:lstStyle/>
                    <a:p>
                      <a:r>
                        <a:rPr sz="1050" b="1">
                          <a:solidFill>
                            <a:srgbClr val="FFFFFF"/>
                          </a:solidFill>
                          <a:latin typeface="Verdana"/>
                        </a:rPr>
                        <a:t>What it changes</a:t>
                      </a:r>
                    </a:p>
                  </a:txBody>
                  <a:tcPr marL="82296" marR="82296" marT="36576" marB="36576" anchor="ctr">
                    <a:solidFill>
                      <a:srgbClr val="141B2D"/>
                    </a:solidFill>
                  </a:tcPr>
                </a:tc>
              </a:tr>
              <a:tr h="621792">
                <a:tc>
                  <a:txBody>
                    <a:bodyPr wrap="square"/>
                    <a:lstStyle/>
                    <a:p>
                      <a:r>
                        <a:rPr sz="1050" b="0">
                          <a:solidFill>
                            <a:srgbClr val="141B2D"/>
                          </a:solidFill>
                          <a:latin typeface="Verdana"/>
                        </a:rPr>
                        <a:t>Buying, or browsing?</a:t>
                      </a:r>
                    </a:p>
                  </a:txBody>
                  <a:tcPr marL="82296" marR="82296" marT="36576" marB="36576" anchor="ctr">
                    <a:solidFill>
                      <a:srgbClr val="FFFFFF"/>
                    </a:solidFill>
                  </a:tcPr>
                </a:tc>
                <a:tc>
                  <a:txBody>
                    <a:bodyPr wrap="square"/>
                    <a:lstStyle/>
                    <a:p>
                      <a:r>
                        <a:rPr sz="1050" b="0">
                          <a:solidFill>
                            <a:srgbClr val="141B2D"/>
                          </a:solidFill>
                          <a:latin typeface="Verdana"/>
                        </a:rPr>
                        <a:t>Nearest centroid over 20 hand-written prototype sentences.</a:t>
                      </a:r>
                    </a:p>
                  </a:txBody>
                  <a:tcPr marL="82296" marR="82296" marT="36576" marB="36576" anchor="ctr">
                    <a:solidFill>
                      <a:srgbClr val="FFFFFF"/>
                    </a:solidFill>
                  </a:tcPr>
                </a:tc>
                <a:tc>
                  <a:txBody>
                    <a:bodyPr wrap="square"/>
                    <a:lstStyle/>
                    <a:p>
                      <a:r>
                        <a:rPr sz="1050" b="0">
                          <a:solidFill>
                            <a:srgbClr val="141B2D"/>
                          </a:solidFill>
                          <a:latin typeface="Verdana"/>
                        </a:rPr>
                        <a:t>Balanced. The label only picks weights, so both errors cost the same.</a:t>
                      </a:r>
                    </a:p>
                  </a:txBody>
                  <a:tcPr marL="82296" marR="82296" marT="36576" marB="36576" anchor="ctr">
                    <a:solidFill>
                      <a:srgbClr val="FFFFFF"/>
                    </a:solidFill>
                  </a:tcPr>
                </a:tc>
                <a:tc>
                  <a:txBody>
                    <a:bodyPr wrap="square"/>
                    <a:lstStyle/>
                    <a:p>
                      <a:r>
                        <a:rPr sz="1050" b="1">
                          <a:solidFill>
                            <a:srgbClr val="0F62FE"/>
                          </a:solidFill>
                          <a:latin typeface="Verdana"/>
                        </a:rPr>
                        <a:t>Fusion weights,
question threshold</a:t>
                      </a:r>
                    </a:p>
                  </a:txBody>
                  <a:tcPr marL="82296" marR="82296" marT="36576" marB="36576" anchor="ctr">
                    <a:solidFill>
                      <a:srgbClr val="FFFFFF"/>
                    </a:solidFill>
                  </a:tcPr>
                </a:tc>
              </a:tr>
              <a:tr h="621792">
                <a:tc>
                  <a:txBody>
                    <a:bodyPr wrap="square"/>
                    <a:lstStyle/>
                    <a:p>
                      <a:r>
                        <a:rPr sz="1050" b="0">
                          <a:solidFill>
                            <a:srgbClr val="141B2D"/>
                          </a:solidFill>
                          <a:latin typeface="Verdana"/>
                        </a:rPr>
                        <a:t>Did they just change
their mind?</a:t>
                      </a:r>
                    </a:p>
                  </a:txBody>
                  <a:tcPr marL="82296" marR="82296" marT="36576" marB="36576" anchor="ctr">
                    <a:solidFill>
                      <a:srgbClr val="F4F6FA"/>
                    </a:solidFill>
                  </a:tcPr>
                </a:tc>
                <a:tc>
                  <a:txBody>
                    <a:bodyPr wrap="square"/>
                    <a:lstStyle/>
                    <a:p>
                      <a:r>
                        <a:rPr sz="1050" b="0">
                          <a:solidFill>
                            <a:srgbClr val="141B2D"/>
                          </a:solidFill>
                          <a:latin typeface="Verdana"/>
                        </a:rPr>
                        <a:t>A closed cue list OR similarity to the 4 nearest pivot prototypes.</a:t>
                      </a:r>
                    </a:p>
                  </a:txBody>
                  <a:tcPr marL="82296" marR="82296" marT="36576" marB="36576" anchor="ctr">
                    <a:solidFill>
                      <a:srgbClr val="F4F6FA"/>
                    </a:solidFill>
                  </a:tcPr>
                </a:tc>
                <a:tc>
                  <a:txBody>
                    <a:bodyPr wrap="square"/>
                    <a:lstStyle/>
                    <a:p>
                      <a:r>
                        <a:rPr sz="1050" b="1">
                          <a:solidFill>
                            <a:srgbClr val="B3261E"/>
                          </a:solidFill>
                          <a:latin typeface="Verdana"/>
                        </a:rPr>
                        <a:t>Recall. A missed pivot leaves stale slots for the rest of the session.</a:t>
                      </a:r>
                    </a:p>
                  </a:txBody>
                  <a:tcPr marL="82296" marR="82296" marT="36576" marB="36576" anchor="ctr">
                    <a:solidFill>
                      <a:srgbClr val="F4F6FA"/>
                    </a:solidFill>
                  </a:tcPr>
                </a:tc>
                <a:tc>
                  <a:txBody>
                    <a:bodyPr wrap="square"/>
                    <a:lstStyle/>
                    <a:p>
                      <a:r>
                        <a:rPr sz="1050" b="0">
                          <a:solidFill>
                            <a:srgbClr val="141B2D"/>
                          </a:solidFill>
                          <a:latin typeface="Verdana"/>
                        </a:rPr>
                        <a:t>Clears every slot, and
the query if a category
is named</a:t>
                      </a:r>
                    </a:p>
                  </a:txBody>
                  <a:tcPr marL="82296" marR="82296" marT="36576" marB="36576" anchor="ctr">
                    <a:solidFill>
                      <a:srgbClr val="F4F6FA"/>
                    </a:solidFill>
                  </a:tcPr>
                </a:tc>
              </a:tr>
              <a:tr h="621792">
                <a:tc>
                  <a:txBody>
                    <a:bodyPr wrap="square"/>
                    <a:lstStyle/>
                    <a:p>
                      <a:r>
                        <a:rPr sz="1050" b="0">
                          <a:solidFill>
                            <a:srgbClr val="141B2D"/>
                          </a:solidFill>
                          <a:latin typeface="Verdana"/>
                        </a:rPr>
                        <a:t>Did that reply carry
anything?</a:t>
                      </a:r>
                    </a:p>
                  </a:txBody>
                  <a:tcPr marL="82296" marR="82296" marT="36576" marB="36576" anchor="ctr">
                    <a:solidFill>
                      <a:srgbClr val="FFFFFF"/>
                    </a:solidFill>
                  </a:tcPr>
                </a:tc>
                <a:tc>
                  <a:txBody>
                    <a:bodyPr wrap="square"/>
                    <a:lstStyle/>
                    <a:p>
                      <a:r>
                        <a:rPr sz="1050" b="0">
                          <a:solidFill>
                            <a:srgbClr val="141B2D"/>
                          </a:solidFill>
                          <a:latin typeface="Verdana"/>
                        </a:rPr>
                        <a:t>Attribute vocabulary vetoes first, then the same trimmed rule.</a:t>
                      </a:r>
                    </a:p>
                  </a:txBody>
                  <a:tcPr marL="82296" marR="82296" marT="36576" marB="36576" anchor="ctr">
                    <a:solidFill>
                      <a:srgbClr val="FFFFFF"/>
                    </a:solidFill>
                  </a:tcPr>
                </a:tc>
                <a:tc>
                  <a:txBody>
                    <a:bodyPr wrap="square"/>
                    <a:lstStyle/>
                    <a:p>
                      <a:r>
                        <a:rPr sz="1050" b="1">
                          <a:solidFill>
                            <a:srgbClr val="0B7A4B"/>
                          </a:solidFill>
                          <a:latin typeface="Verdana"/>
                        </a:rPr>
                        <a:t>Precision. A false positive throws away a real disclosure.</a:t>
                      </a:r>
                    </a:p>
                  </a:txBody>
                  <a:tcPr marL="82296" marR="82296" marT="36576" marB="36576" anchor="ctr">
                    <a:solidFill>
                      <a:srgbClr val="FFFFFF"/>
                    </a:solidFill>
                  </a:tcPr>
                </a:tc>
                <a:tc>
                  <a:txBody>
                    <a:bodyPr wrap="square"/>
                    <a:lstStyle/>
                    <a:p>
                      <a:r>
                        <a:rPr sz="1050" b="0">
                          <a:solidFill>
                            <a:srgbClr val="141B2D"/>
                          </a:solidFill>
                          <a:latin typeface="Verdana"/>
                        </a:rPr>
                        <a:t>Answerability belief,
phrase-leg query</a:t>
                      </a:r>
                    </a:p>
                  </a:txBody>
                  <a:tcPr marL="82296" marR="82296" marT="36576" marB="36576" anchor="ctr">
                    <a:solidFill>
                      <a:srgbClr val="FFFFFF"/>
                    </a:solidFill>
                  </a:tcPr>
                </a:tc>
              </a:tr>
              <a:tr h="621792">
                <a:tc>
                  <a:txBody>
                    <a:bodyPr wrap="square"/>
                    <a:lstStyle/>
                    <a:p>
                      <a:r>
                        <a:rPr sz="1050" b="0">
                          <a:solidFill>
                            <a:srgbClr val="141B2D"/>
                          </a:solidFill>
                          <a:latin typeface="Verdana"/>
                        </a:rPr>
                        <a:t>Did they hand the
decision back to us?</a:t>
                      </a:r>
                    </a:p>
                  </a:txBody>
                  <a:tcPr marL="82296" marR="82296" marT="36576" marB="36576" anchor="ctr">
                    <a:solidFill>
                      <a:srgbClr val="F4F6FA"/>
                    </a:solidFill>
                  </a:tcPr>
                </a:tc>
                <a:tc>
                  <a:txBody>
                    <a:bodyPr wrap="square"/>
                    <a:lstStyle/>
                    <a:p>
                      <a:r>
                        <a:rPr sz="1050" b="0">
                          <a:solidFill>
                            <a:srgbClr val="141B2D"/>
                          </a:solidFill>
                          <a:latin typeface="Verdana"/>
                        </a:rPr>
                        <a:t>A closed cue list, read only on a reply already judged contentless.</a:t>
                      </a:r>
                    </a:p>
                  </a:txBody>
                  <a:tcPr marL="82296" marR="82296" marT="36576" marB="36576" anchor="ctr">
                    <a:solidFill>
                      <a:srgbClr val="F4F6FA"/>
                    </a:solidFill>
                  </a:tcPr>
                </a:tc>
                <a:tc>
                  <a:txBody>
                    <a:bodyPr wrap="square"/>
                    <a:lstStyle/>
                    <a:p>
                      <a:r>
                        <a:rPr sz="1050" b="1">
                          <a:solidFill>
                            <a:srgbClr val="0B7A4B"/>
                          </a:solidFill>
                          <a:latin typeface="Verdana"/>
                        </a:rPr>
                        <a:t>Precision. It latches for the whole session.</a:t>
                      </a:r>
                    </a:p>
                  </a:txBody>
                  <a:tcPr marL="82296" marR="82296" marT="36576" marB="36576" anchor="ctr">
                    <a:solidFill>
                      <a:srgbClr val="F4F6FA"/>
                    </a:solidFill>
                  </a:tcPr>
                </a:tc>
                <a:tc>
                  <a:txBody>
                    <a:bodyPr wrap="square"/>
                    <a:lstStyle/>
                    <a:p>
                      <a:r>
                        <a:rPr sz="1050" b="0">
                          <a:solidFill>
                            <a:srgbClr val="141B2D"/>
                          </a:solidFill>
                          <a:latin typeface="Verdana"/>
                        </a:rPr>
                        <a:t>Switches the session
into boundary mode</a:t>
                      </a:r>
                    </a:p>
                  </a:txBody>
                  <a:tcPr marL="82296" marR="82296" marT="36576" marB="36576" anchor="ctr">
                    <a:solidFill>
                      <a:srgbClr val="F4F6FA"/>
                    </a:solidFill>
                  </a:tcPr>
                </a:tc>
              </a:tr>
            </a:tbl>
          </a:graphicData>
        </a:graphic>
      </p:graphicFrame>
      <p:sp>
        <p:nvSpPr>
          <p:cNvPr id="6" name="TextBox 5"/>
          <p:cNvSpPr txBox="1"/>
          <p:nvPr/>
        </p:nvSpPr>
        <p:spPr>
          <a:xfrm>
            <a:off x="640080" y="4572000"/>
            <a:ext cx="10881360" cy="320040"/>
          </a:xfrm>
          <a:prstGeom prst="rect">
            <a:avLst/>
          </a:prstGeom>
          <a:noFill/>
        </p:spPr>
        <p:txBody>
          <a:bodyPr wrap="square" lIns="0" rIns="0" tIns="0" bIns="0">
            <a:spAutoFit/>
          </a:bodyPr>
          <a:lstStyle/>
          <a:p>
            <a:r>
              <a:rPr sz="1300" b="1">
                <a:solidFill>
                  <a:srgbClr val="141B2D"/>
                </a:solidFill>
                <a:latin typeface="Verdana"/>
              </a:rPr>
              <a:t>One prototype set needed a different rule. All 12 pivot examples are long two-clause sentences, so their mean encodes that shape rather than the pivot:</a:t>
            </a:r>
          </a:p>
        </p:txBody>
      </p:sp>
      <p:sp>
        <p:nvSpPr>
          <p:cNvPr id="7" name="Rounded Rectangle 6"/>
          <p:cNvSpPr/>
          <p:nvPr/>
        </p:nvSpPr>
        <p:spPr>
          <a:xfrm>
            <a:off x="685800" y="4983480"/>
            <a:ext cx="3108960" cy="1005840"/>
          </a:xfrm>
          <a:prstGeom prst="roundRect">
            <a:avLst/>
          </a:prstGeom>
          <a:solidFill>
            <a:srgbClr val="FAEAE8"/>
          </a:solidFill>
          <a:ln w="127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B3261E"/>
                </a:solidFill>
                <a:latin typeface="Verdana"/>
              </a:rPr>
              <a:t>Mean of all 12</a:t>
            </a:r>
          </a:p>
          <a:p>
            <a:pPr algn="ctr">
              <a:spcAft>
                <a:spcPts val="0"/>
              </a:spcAft>
            </a:pPr>
            <a:r>
              <a:rPr sz="1000" b="0">
                <a:solidFill>
                  <a:srgbClr val="5B667A"/>
                </a:solidFill>
                <a:latin typeface="Verdana"/>
              </a:rPr>
              <a:t>“never mind, give me white shoes”</a:t>
            </a:r>
          </a:p>
          <a:p>
            <a:pPr algn="ctr">
              <a:spcAft>
                <a:spcPts val="0"/>
              </a:spcAft>
            </a:pPr>
            <a:r>
              <a:rPr sz="1000" b="0">
                <a:solidFill>
                  <a:srgbClr val="5B667A"/>
                </a:solidFill>
                <a:latin typeface="Verdana"/>
              </a:rPr>
              <a:t>is mostly its request half, and lands</a:t>
            </a:r>
          </a:p>
          <a:p>
            <a:pPr algn="ctr">
              <a:spcAft>
                <a:spcPts val="0"/>
              </a:spcAft>
            </a:pPr>
            <a:r>
              <a:rPr sz="1000" b="0">
                <a:solidFill>
                  <a:srgbClr val="5B667A"/>
                </a:solidFill>
                <a:latin typeface="Verdana"/>
              </a:rPr>
              <a:t>nearer the continuation mean</a:t>
            </a:r>
          </a:p>
        </p:txBody>
      </p:sp>
      <p:sp>
        <p:nvSpPr>
          <p:cNvPr id="8" name="Rounded Rectangle 7"/>
          <p:cNvSpPr/>
          <p:nvPr/>
        </p:nvSpPr>
        <p:spPr>
          <a:xfrm>
            <a:off x="3931920" y="4983480"/>
            <a:ext cx="2103120" cy="1005840"/>
          </a:xfrm>
          <a:prstGeom prst="roundRect">
            <a:avLst/>
          </a:prstGeom>
          <a:solidFill>
            <a:srgbClr val="FAEAE8"/>
          </a:solidFill>
          <a:ln w="127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B3261E"/>
                </a:solidFill>
                <a:latin typeface="Verdana"/>
              </a:rPr>
              <a:t>recall 0.900</a:t>
            </a:r>
          </a:p>
          <a:p>
            <a:pPr algn="ctr">
              <a:spcAft>
                <a:spcPts val="0"/>
              </a:spcAft>
            </a:pPr>
            <a:r>
              <a:rPr sz="1000" b="0">
                <a:solidFill>
                  <a:srgbClr val="5B667A"/>
                </a:solidFill>
                <a:latin typeface="Verdana"/>
              </a:rPr>
              <a:t>242 false positives</a:t>
            </a:r>
          </a:p>
          <a:p>
            <a:pPr algn="ctr">
              <a:spcAft>
                <a:spcPts val="0"/>
              </a:spcAft>
            </a:pPr>
            <a:r>
              <a:rPr sz="1000" b="0">
                <a:solidFill>
                  <a:srgbClr val="5B667A"/>
                </a:solidFill>
                <a:latin typeface="Verdana"/>
              </a:rPr>
              <a:t>per 1600 turns</a:t>
            </a:r>
          </a:p>
        </p:txBody>
      </p:sp>
      <p:sp>
        <p:nvSpPr>
          <p:cNvPr id="9" name="Right Arrow 8"/>
          <p:cNvSpPr/>
          <p:nvPr/>
        </p:nvSpPr>
        <p:spPr>
          <a:xfrm>
            <a:off x="6172200" y="5394960"/>
            <a:ext cx="45720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766560" y="4983480"/>
            <a:ext cx="2743200" cy="100584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0B7A4B"/>
                </a:solidFill>
                <a:latin typeface="Verdana"/>
              </a:rPr>
              <a:t>Mean of the nearest 4</a:t>
            </a:r>
          </a:p>
          <a:p>
            <a:pPr algn="ctr">
              <a:spcAft>
                <a:spcPts val="0"/>
              </a:spcAft>
            </a:pPr>
            <a:r>
              <a:rPr sz="1000" b="0">
                <a:solidFill>
                  <a:srgbClr val="5B667A"/>
                </a:solidFill>
                <a:latin typeface="Verdana"/>
              </a:rPr>
              <a:t>compared against the closest</a:t>
            </a:r>
          </a:p>
          <a:p>
            <a:pPr algn="ctr">
              <a:spcAft>
                <a:spcPts val="0"/>
              </a:spcAft>
            </a:pPr>
            <a:r>
              <a:rPr sz="1000" b="0">
                <a:solidFill>
                  <a:srgbClr val="5B667A"/>
                </a:solidFill>
                <a:latin typeface="Verdana"/>
              </a:rPr>
              <a:t>phrasings only, so a terse pivot</a:t>
            </a:r>
          </a:p>
          <a:p>
            <a:pPr algn="ctr">
              <a:spcAft>
                <a:spcPts val="0"/>
              </a:spcAft>
            </a:pPr>
            <a:r>
              <a:rPr sz="1000" b="0">
                <a:solidFill>
                  <a:srgbClr val="5B667A"/>
                </a:solidFill>
                <a:latin typeface="Verdana"/>
              </a:rPr>
              <a:t>finds its own kind</a:t>
            </a:r>
          </a:p>
        </p:txBody>
      </p:sp>
      <p:sp>
        <p:nvSpPr>
          <p:cNvPr id="11" name="Rounded Rectangle 10"/>
          <p:cNvSpPr/>
          <p:nvPr/>
        </p:nvSpPr>
        <p:spPr>
          <a:xfrm>
            <a:off x="9646920" y="4983480"/>
            <a:ext cx="1920240" cy="100584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0B7A4B"/>
                </a:solidFill>
                <a:latin typeface="Verdana"/>
              </a:rPr>
              <a:t>recall 1.000</a:t>
            </a:r>
          </a:p>
          <a:p>
            <a:pPr algn="ctr">
              <a:spcAft>
                <a:spcPts val="0"/>
              </a:spcAft>
            </a:pPr>
            <a:r>
              <a:rPr sz="1000" b="0">
                <a:solidFill>
                  <a:srgbClr val="5B667A"/>
                </a:solidFill>
                <a:latin typeface="Verdana"/>
              </a:rPr>
              <a:t>2 false positives</a:t>
            </a:r>
          </a:p>
          <a:p>
            <a:pPr algn="ctr">
              <a:spcAft>
                <a:spcPts val="0"/>
              </a:spcAft>
            </a:pPr>
            <a:r>
              <a:rPr sz="1000" b="0">
                <a:solidFill>
                  <a:srgbClr val="5B667A"/>
                </a:solidFill>
                <a:latin typeface="Verdana"/>
              </a:rPr>
              <a:t>per 1600 turns</a:t>
            </a:r>
          </a:p>
        </p:txBody>
      </p:sp>
      <p:sp>
        <p:nvSpPr>
          <p:cNvPr id="12" name="TextBox 11"/>
          <p:cNvSpPr txBox="1"/>
          <p:nvPr/>
        </p:nvSpPr>
        <p:spPr>
          <a:xfrm>
            <a:off x="640080" y="6172200"/>
            <a:ext cx="10881360" cy="457200"/>
          </a:xfrm>
          <a:prstGeom prst="rect">
            <a:avLst/>
          </a:prstGeom>
          <a:noFill/>
        </p:spPr>
        <p:txBody>
          <a:bodyPr wrap="square" lIns="0" rIns="0" tIns="0" bIns="0">
            <a:spAutoFit/>
          </a:bodyPr>
          <a:lstStyle/>
          <a:p>
            <a:r>
              <a:rPr sz="1300" b="1">
                <a:solidFill>
                  <a:srgbClr val="0F62FE"/>
                </a:solidFill>
                <a:latin typeface="Verdana"/>
              </a:rPr>
              <a:t>The same trimmed rule made the intent classifier worse — 0.988 down to 0.769 — so that one keeps its centroid. Fragile centroids were a fact about one prototype set, not a rule of thumb.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ARCHITECTURE</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Retrieval: five legs, one fusion</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83080"/>
            <a:ext cx="2743200" cy="658368"/>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BM25 keyword</a:t>
            </a:r>
          </a:p>
          <a:p>
            <a:pPr algn="ctr">
              <a:spcAft>
                <a:spcPts val="0"/>
              </a:spcAft>
            </a:pPr>
            <a:r>
              <a:rPr sz="950" b="0">
                <a:solidFill>
                  <a:srgbClr val="5B667A"/>
                </a:solidFill>
                <a:latin typeface="Verdana"/>
              </a:rPr>
              <a:t>query split into words</a:t>
            </a:r>
          </a:p>
        </p:txBody>
      </p:sp>
      <p:sp>
        <p:nvSpPr>
          <p:cNvPr id="6" name="Rectangle 5"/>
          <p:cNvSpPr/>
          <p:nvPr/>
        </p:nvSpPr>
        <p:spPr>
          <a:xfrm>
            <a:off x="3520440" y="1956816"/>
            <a:ext cx="822960" cy="310896"/>
          </a:xfrm>
          <a:prstGeom prst="rect">
            <a:avLst/>
          </a:prstGeom>
          <a:solidFill>
            <a:srgbClr val="FFFFFF"/>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a:solidFill>
                  <a:srgbClr val="141B2D"/>
                </a:solidFill>
                <a:latin typeface="Verdana"/>
              </a:rPr>
              <a:t>1.25–2.0</a:t>
            </a:r>
          </a:p>
        </p:txBody>
      </p:sp>
      <p:sp>
        <p:nvSpPr>
          <p:cNvPr id="7" name="Right Arrow 6"/>
          <p:cNvSpPr/>
          <p:nvPr/>
        </p:nvSpPr>
        <p:spPr>
          <a:xfrm>
            <a:off x="4434840" y="2011680"/>
            <a:ext cx="32004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85800" y="2505456"/>
            <a:ext cx="2743200" cy="658368"/>
          </a:xfrm>
          <a:prstGeom prst="roundRect">
            <a:avLst/>
          </a:prstGeom>
          <a:solidFill>
            <a:srgbClr val="E4EDFD"/>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0F62FE"/>
                </a:solidFill>
                <a:latin typeface="Verdana"/>
              </a:rPr>
              <a:t>Exact phrase</a:t>
            </a:r>
          </a:p>
          <a:p>
            <a:pPr algn="ctr">
              <a:spcAft>
                <a:spcPts val="0"/>
              </a:spcAft>
            </a:pPr>
            <a:r>
              <a:rPr sz="950" b="0">
                <a:solidFill>
                  <a:srgbClr val="5B667A"/>
                </a:solidFill>
                <a:latin typeface="Verdana"/>
              </a:rPr>
              <a:t>whole spans, stopwords kept</a:t>
            </a:r>
          </a:p>
        </p:txBody>
      </p:sp>
      <p:sp>
        <p:nvSpPr>
          <p:cNvPr id="9" name="Rectangle 8"/>
          <p:cNvSpPr/>
          <p:nvPr/>
        </p:nvSpPr>
        <p:spPr>
          <a:xfrm>
            <a:off x="3520440" y="2679192"/>
            <a:ext cx="822960" cy="310896"/>
          </a:xfrm>
          <a:prstGeom prst="rect">
            <a:avLst/>
          </a:prstGeom>
          <a:solidFill>
            <a:srgbClr val="FFFFFF"/>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a:solidFill>
                  <a:srgbClr val="0F62FE"/>
                </a:solidFill>
                <a:latin typeface="Verdana"/>
              </a:rPr>
              <a:t>2.00</a:t>
            </a:r>
          </a:p>
        </p:txBody>
      </p:sp>
      <p:sp>
        <p:nvSpPr>
          <p:cNvPr id="10" name="Right Arrow 9"/>
          <p:cNvSpPr/>
          <p:nvPr/>
        </p:nvSpPr>
        <p:spPr>
          <a:xfrm>
            <a:off x="4434840" y="2734056"/>
            <a:ext cx="32004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5800" y="3227832"/>
            <a:ext cx="2743200" cy="658368"/>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Dense vectors</a:t>
            </a:r>
          </a:p>
          <a:p>
            <a:pPr algn="ctr">
              <a:spcAft>
                <a:spcPts val="0"/>
              </a:spcAft>
            </a:pPr>
            <a:r>
              <a:rPr sz="950" b="0">
                <a:solidFill>
                  <a:srgbClr val="5B667A"/>
                </a:solidFill>
                <a:latin typeface="Verdana"/>
              </a:rPr>
              <a:t>bge-small cosine</a:t>
            </a:r>
          </a:p>
        </p:txBody>
      </p:sp>
      <p:sp>
        <p:nvSpPr>
          <p:cNvPr id="12" name="Rectangle 11"/>
          <p:cNvSpPr/>
          <p:nvPr/>
        </p:nvSpPr>
        <p:spPr>
          <a:xfrm>
            <a:off x="3520440" y="3401568"/>
            <a:ext cx="822960" cy="310896"/>
          </a:xfrm>
          <a:prstGeom prst="rect">
            <a:avLst/>
          </a:prstGeom>
          <a:solidFill>
            <a:srgbClr val="FFFFFF"/>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a:solidFill>
                  <a:srgbClr val="141B2D"/>
                </a:solidFill>
                <a:latin typeface="Verdana"/>
              </a:rPr>
              <a:t>1.50</a:t>
            </a:r>
          </a:p>
        </p:txBody>
      </p:sp>
      <p:sp>
        <p:nvSpPr>
          <p:cNvPr id="13" name="Right Arrow 12"/>
          <p:cNvSpPr/>
          <p:nvPr/>
        </p:nvSpPr>
        <p:spPr>
          <a:xfrm>
            <a:off x="4434840" y="3456432"/>
            <a:ext cx="32004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85800" y="3950208"/>
            <a:ext cx="2743200" cy="658368"/>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PRF expansion</a:t>
            </a:r>
          </a:p>
          <a:p>
            <a:pPr algn="ctr">
              <a:spcAft>
                <a:spcPts val="0"/>
              </a:spcAft>
            </a:pPr>
            <a:r>
              <a:rPr sz="950" b="0">
                <a:solidFill>
                  <a:srgbClr val="5B667A"/>
                </a:solidFill>
                <a:latin typeface="Verdana"/>
              </a:rPr>
              <a:t>re-query on the top hits' own words</a:t>
            </a:r>
          </a:p>
        </p:txBody>
      </p:sp>
      <p:sp>
        <p:nvSpPr>
          <p:cNvPr id="15" name="Rectangle 14"/>
          <p:cNvSpPr/>
          <p:nvPr/>
        </p:nvSpPr>
        <p:spPr>
          <a:xfrm>
            <a:off x="3520440" y="4123944"/>
            <a:ext cx="822960" cy="310896"/>
          </a:xfrm>
          <a:prstGeom prst="rect">
            <a:avLst/>
          </a:prstGeom>
          <a:solidFill>
            <a:srgbClr val="FFFFFF"/>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a:solidFill>
                  <a:srgbClr val="141B2D"/>
                </a:solidFill>
                <a:latin typeface="Verdana"/>
              </a:rPr>
              <a:t>0.50</a:t>
            </a:r>
          </a:p>
        </p:txBody>
      </p:sp>
      <p:sp>
        <p:nvSpPr>
          <p:cNvPr id="16" name="Right Arrow 15"/>
          <p:cNvSpPr/>
          <p:nvPr/>
        </p:nvSpPr>
        <p:spPr>
          <a:xfrm>
            <a:off x="4434840" y="4178808"/>
            <a:ext cx="32004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4672584"/>
            <a:ext cx="2743200" cy="658368"/>
          </a:xfrm>
          <a:prstGeom prst="roundRect">
            <a:avLst/>
          </a:prstGeom>
          <a:solidFill>
            <a:srgbClr val="E4EDFD"/>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0F62FE"/>
                </a:solidFill>
                <a:latin typeface="Verdana"/>
              </a:rPr>
              <a:t>Popularity prior</a:t>
            </a:r>
          </a:p>
          <a:p>
            <a:pPr algn="ctr">
              <a:spcAft>
                <a:spcPts val="0"/>
              </a:spcAft>
            </a:pPr>
            <a:r>
              <a:rPr sz="950" b="0">
                <a:solidFill>
                  <a:srgbClr val="5B667A"/>
                </a:solidFill>
                <a:latin typeface="Verdana"/>
              </a:rPr>
              <a:t>the pool, re-sorted by review count</a:t>
            </a:r>
          </a:p>
        </p:txBody>
      </p:sp>
      <p:sp>
        <p:nvSpPr>
          <p:cNvPr id="18" name="Rectangle 17"/>
          <p:cNvSpPr/>
          <p:nvPr/>
        </p:nvSpPr>
        <p:spPr>
          <a:xfrm>
            <a:off x="3520440" y="4846320"/>
            <a:ext cx="822960" cy="310896"/>
          </a:xfrm>
          <a:prstGeom prst="rect">
            <a:avLst/>
          </a:prstGeom>
          <a:solidFill>
            <a:srgbClr val="FFFFFF"/>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a:solidFill>
                  <a:srgbClr val="0F62FE"/>
                </a:solidFill>
                <a:latin typeface="Verdana"/>
              </a:rPr>
              <a:t>0.50–1.0</a:t>
            </a:r>
          </a:p>
        </p:txBody>
      </p:sp>
      <p:sp>
        <p:nvSpPr>
          <p:cNvPr id="19" name="Right Arrow 18"/>
          <p:cNvSpPr/>
          <p:nvPr/>
        </p:nvSpPr>
        <p:spPr>
          <a:xfrm>
            <a:off x="4434840" y="4901184"/>
            <a:ext cx="320040" cy="201168"/>
          </a:xfrm>
          <a:prstGeom prst="rightArrow">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00600" y="1783080"/>
            <a:ext cx="1691640" cy="324612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0F62FE"/>
                </a:solidFill>
                <a:latin typeface="Verdana"/>
              </a:rPr>
              <a:t>WEIGHTED</a:t>
            </a:r>
          </a:p>
          <a:p>
            <a:pPr algn="ctr">
              <a:spcAft>
                <a:spcPts val="0"/>
              </a:spcAft>
            </a:pPr>
            <a:r>
              <a:rPr sz="1400" b="1">
                <a:solidFill>
                  <a:srgbClr val="0F62FE"/>
                </a:solidFill>
                <a:latin typeface="Verdana"/>
              </a:rPr>
              <a:t>RRF</a:t>
            </a:r>
          </a:p>
          <a:p>
            <a:pPr algn="ctr">
              <a:spcAft>
                <a:spcPts val="0"/>
              </a:spcAft>
            </a:pPr>
            <a:r>
              <a:rPr sz="1100" b="0">
                <a:solidFill>
                  <a:srgbClr val="5B667A"/>
                </a:solidFill>
                <a:latin typeface="Verdana"/>
              </a:rPr>
              <a:t>rank-based,</a:t>
            </a:r>
          </a:p>
          <a:p>
            <a:pPr algn="ctr">
              <a:spcAft>
                <a:spcPts val="0"/>
              </a:spcAft>
            </a:pPr>
            <a:r>
              <a:rPr sz="1100" b="0">
                <a:solidFill>
                  <a:srgbClr val="5B667A"/>
                </a:solidFill>
                <a:latin typeface="Verdana"/>
              </a:rPr>
              <a:t>not score-based</a:t>
            </a:r>
          </a:p>
        </p:txBody>
      </p:sp>
      <p:sp>
        <p:nvSpPr>
          <p:cNvPr id="21" name="Right Arrow 20"/>
          <p:cNvSpPr/>
          <p:nvPr/>
        </p:nvSpPr>
        <p:spPr>
          <a:xfrm>
            <a:off x="6583680" y="2121408"/>
            <a:ext cx="45720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132320" y="1783080"/>
            <a:ext cx="2743200" cy="77724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1 · Attribute boost</a:t>
            </a:r>
          </a:p>
          <a:p>
            <a:pPr algn="ctr">
              <a:spcAft>
                <a:spcPts val="0"/>
              </a:spcAft>
            </a:pPr>
            <a:r>
              <a:rPr sz="900" b="0">
                <a:solidFill>
                  <a:srgbClr val="5B667A"/>
                </a:solidFill>
                <a:latin typeface="Verdana"/>
              </a:rPr>
              <a:t>agree +1 · clash −1 · delete nothing</a:t>
            </a:r>
          </a:p>
        </p:txBody>
      </p:sp>
      <p:sp>
        <p:nvSpPr>
          <p:cNvPr id="23" name="Down Arrow 22"/>
          <p:cNvSpPr/>
          <p:nvPr/>
        </p:nvSpPr>
        <p:spPr>
          <a:xfrm>
            <a:off x="8403336" y="2606040"/>
            <a:ext cx="201168" cy="320040"/>
          </a:xfrm>
          <a:prstGeom prst="down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32320" y="2926080"/>
            <a:ext cx="2743200" cy="77724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2 · Drop shown items</a:t>
            </a:r>
          </a:p>
          <a:p>
            <a:pPr algn="ctr">
              <a:spcAft>
                <a:spcPts val="0"/>
              </a:spcAft>
            </a:pPr>
            <a:r>
              <a:rPr sz="900" b="0">
                <a:solidFill>
                  <a:srgbClr val="5B667A"/>
                </a:solidFill>
                <a:latin typeface="Verdana"/>
              </a:rPr>
              <a:t>proven not the target</a:t>
            </a:r>
          </a:p>
        </p:txBody>
      </p:sp>
      <p:sp>
        <p:nvSpPr>
          <p:cNvPr id="25" name="Down Arrow 24"/>
          <p:cNvSpPr/>
          <p:nvPr/>
        </p:nvSpPr>
        <p:spPr>
          <a:xfrm>
            <a:off x="8403336" y="3749040"/>
            <a:ext cx="201168" cy="320040"/>
          </a:xfrm>
          <a:prstGeom prst="down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132320" y="4069080"/>
            <a:ext cx="2743200" cy="77724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3 · Cross-encoder re-rank</a:t>
            </a:r>
          </a:p>
          <a:p>
            <a:pPr algn="ctr">
              <a:spcAft>
                <a:spcPts val="0"/>
              </a:spcAft>
            </a:pPr>
            <a:r>
              <a:rPr sz="900" b="0">
                <a:solidFill>
                  <a:srgbClr val="5B667A"/>
                </a:solidFill>
                <a:latin typeface="Verdana"/>
              </a:rPr>
              <a:t>minilm, top 20 candidates</a:t>
            </a:r>
          </a:p>
        </p:txBody>
      </p:sp>
      <p:sp>
        <p:nvSpPr>
          <p:cNvPr id="27" name="Right Arrow 26"/>
          <p:cNvSpPr/>
          <p:nvPr/>
        </p:nvSpPr>
        <p:spPr>
          <a:xfrm>
            <a:off x="9966960" y="4224528"/>
            <a:ext cx="41148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0469880" y="3749039"/>
            <a:ext cx="1097280" cy="105156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0B7A4B"/>
                </a:solidFill>
                <a:latin typeface="Verdana"/>
              </a:rPr>
              <a:t>TOP 10</a:t>
            </a:r>
          </a:p>
        </p:txBody>
      </p:sp>
      <p:sp>
        <p:nvSpPr>
          <p:cNvPr id="29" name="TextBox 28"/>
          <p:cNvSpPr txBox="1"/>
          <p:nvPr/>
        </p:nvSpPr>
        <p:spPr>
          <a:xfrm>
            <a:off x="640080" y="5349240"/>
            <a:ext cx="10881360" cy="457200"/>
          </a:xfrm>
          <a:prstGeom prst="rect">
            <a:avLst/>
          </a:prstGeom>
          <a:noFill/>
        </p:spPr>
        <p:txBody>
          <a:bodyPr wrap="square" lIns="0" rIns="0" tIns="0" bIns="0">
            <a:spAutoFit/>
          </a:bodyPr>
          <a:lstStyle/>
          <a:p>
            <a:r>
              <a:rPr sz="1300" b="0">
                <a:solidFill>
                  <a:srgbClr val="5B667A"/>
                </a:solidFill>
                <a:latin typeface="Verdana"/>
              </a:rPr>
              <a:t>Weighted RRF is scale-invariant per leg, so only the ratios matter — that is what makes each leg sweepable on its own.</a:t>
            </a:r>
          </a:p>
        </p:txBody>
      </p:sp>
      <p:sp>
        <p:nvSpPr>
          <p:cNvPr id="30" name="TextBox 29"/>
          <p:cNvSpPr txBox="1"/>
          <p:nvPr/>
        </p:nvSpPr>
        <p:spPr>
          <a:xfrm>
            <a:off x="640080" y="5715000"/>
            <a:ext cx="10881360" cy="457200"/>
          </a:xfrm>
          <a:prstGeom prst="rect">
            <a:avLst/>
          </a:prstGeom>
          <a:noFill/>
        </p:spPr>
        <p:txBody>
          <a:bodyPr wrap="square" lIns="0" rIns="0" tIns="0" bIns="0">
            <a:spAutoFit/>
          </a:bodyPr>
          <a:lstStyle/>
          <a:p>
            <a:r>
              <a:rPr sz="1300" b="0">
                <a:solidFill>
                  <a:srgbClr val="5B667A"/>
                </a:solidFill>
                <a:latin typeface="Verdana"/>
              </a:rPr>
              <a:t>The two track-dependent weights are BM25 and popularity. Every leg is independent, so a leg that fails costs score and the agent keeps answering.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ARCHITECTURE</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A fifth leg: search where the targets actually live</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45920"/>
            <a:ext cx="3520440" cy="96012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400" b="1">
                <a:solidFill>
                  <a:srgbClr val="0F62FE"/>
                </a:solidFill>
                <a:latin typeface="Verdana"/>
              </a:rPr>
              <a:t>12</a:t>
            </a:r>
          </a:p>
          <a:p>
            <a:pPr algn="ctr">
              <a:spcAft>
                <a:spcPts val="0"/>
              </a:spcAft>
            </a:pPr>
            <a:r>
              <a:rPr sz="1000" b="0">
                <a:solidFill>
                  <a:srgbClr val="5B667A"/>
                </a:solidFill>
                <a:latin typeface="Verdana"/>
              </a:rPr>
              <a:t>median reviews</a:t>
            </a:r>
          </a:p>
          <a:p>
            <a:pPr algn="ctr">
              <a:spcAft>
                <a:spcPts val="0"/>
              </a:spcAft>
            </a:pPr>
            <a:r>
              <a:rPr sz="1000" b="0">
                <a:solidFill>
                  <a:srgbClr val="5B667A"/>
                </a:solidFill>
                <a:latin typeface="Verdana"/>
              </a:rPr>
              <a:t>across the 50,000 catalog</a:t>
            </a:r>
          </a:p>
        </p:txBody>
      </p:sp>
      <p:sp>
        <p:nvSpPr>
          <p:cNvPr id="6" name="Rounded Rectangle 5"/>
          <p:cNvSpPr/>
          <p:nvPr/>
        </p:nvSpPr>
        <p:spPr>
          <a:xfrm>
            <a:off x="4389120" y="1645920"/>
            <a:ext cx="3520440" cy="96012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400" b="1">
                <a:solidFill>
                  <a:srgbClr val="0F62FE"/>
                </a:solidFill>
                <a:latin typeface="Verdana"/>
              </a:rPr>
              <a:t>6,846</a:t>
            </a:r>
          </a:p>
          <a:p>
            <a:pPr algn="ctr">
              <a:spcAft>
                <a:spcPts val="0"/>
              </a:spcAft>
            </a:pPr>
            <a:r>
              <a:rPr sz="1000" b="0">
                <a:solidFill>
                  <a:srgbClr val="5B667A"/>
                </a:solidFill>
                <a:latin typeface="Verdana"/>
              </a:rPr>
              <a:t>median reviews</a:t>
            </a:r>
          </a:p>
          <a:p>
            <a:pPr algn="ctr">
              <a:spcAft>
                <a:spcPts val="0"/>
              </a:spcAft>
            </a:pPr>
            <a:r>
              <a:rPr sz="1000" b="0">
                <a:solidFill>
                  <a:srgbClr val="5B667A"/>
                </a:solidFill>
                <a:latin typeface="Verdana"/>
              </a:rPr>
              <a:t>across the 200 hidden targets</a:t>
            </a:r>
          </a:p>
        </p:txBody>
      </p:sp>
      <p:sp>
        <p:nvSpPr>
          <p:cNvPr id="7" name="Rounded Rectangle 6"/>
          <p:cNvSpPr/>
          <p:nvPr/>
        </p:nvSpPr>
        <p:spPr>
          <a:xfrm>
            <a:off x="8092440" y="1645920"/>
            <a:ext cx="3520440" cy="96012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400" b="1">
                <a:solidFill>
                  <a:srgbClr val="0F62FE"/>
                </a:solidFill>
                <a:latin typeface="Verdana"/>
              </a:rPr>
              <a:t>63%</a:t>
            </a:r>
          </a:p>
          <a:p>
            <a:pPr algn="ctr">
              <a:spcAft>
                <a:spcPts val="0"/>
              </a:spcAft>
            </a:pPr>
            <a:r>
              <a:rPr sz="1000" b="0">
                <a:solidFill>
                  <a:srgbClr val="5B667A"/>
                </a:solidFill>
                <a:latin typeface="Verdana"/>
              </a:rPr>
              <a:t>of targets sit in the</a:t>
            </a:r>
          </a:p>
          <a:p>
            <a:pPr algn="ctr">
              <a:spcAft>
                <a:spcPts val="0"/>
              </a:spcAft>
            </a:pPr>
            <a:r>
              <a:rPr sz="1000" b="0">
                <a:solidFill>
                  <a:srgbClr val="5B667A"/>
                </a:solidFill>
                <a:latin typeface="Verdana"/>
              </a:rPr>
              <a:t>top 1% of the catalog — a 63x lift</a:t>
            </a:r>
          </a:p>
        </p:txBody>
      </p:sp>
      <p:sp>
        <p:nvSpPr>
          <p:cNvPr id="8" name="Rounded Rectangle 7"/>
          <p:cNvSpPr/>
          <p:nvPr/>
        </p:nvSpPr>
        <p:spPr>
          <a:xfrm>
            <a:off x="685800" y="2971800"/>
            <a:ext cx="2286000" cy="86868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The four legs run</a:t>
            </a:r>
          </a:p>
          <a:p>
            <a:pPr algn="ctr">
              <a:spcAft>
                <a:spcPts val="0"/>
              </a:spcAft>
            </a:pPr>
            <a:r>
              <a:rPr sz="900" b="0">
                <a:solidFill>
                  <a:srgbClr val="5B667A"/>
                </a:solidFill>
                <a:latin typeface="Verdana"/>
              </a:rPr>
              <a:t>each over all 50k</a:t>
            </a:r>
          </a:p>
        </p:txBody>
      </p:sp>
      <p:sp>
        <p:nvSpPr>
          <p:cNvPr id="9" name="Right Arrow 8"/>
          <p:cNvSpPr/>
          <p:nvPr/>
        </p:nvSpPr>
        <p:spPr>
          <a:xfrm>
            <a:off x="3063240" y="3310128"/>
            <a:ext cx="41148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11880" y="2971800"/>
            <a:ext cx="2286000" cy="86868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Take their union</a:t>
            </a:r>
          </a:p>
          <a:p>
            <a:pPr algn="ctr">
              <a:spcAft>
                <a:spcPts val="0"/>
              </a:spcAft>
            </a:pPr>
            <a:r>
              <a:rPr sz="900" b="0">
                <a:solidFill>
                  <a:srgbClr val="5B667A"/>
                </a:solidFill>
                <a:latin typeface="Verdana"/>
              </a:rPr>
              <a:t>~200 products, and</a:t>
            </a:r>
          </a:p>
          <a:p>
            <a:pPr algn="ctr">
              <a:spcAft>
                <a:spcPts val="0"/>
              </a:spcAft>
            </a:pPr>
            <a:r>
              <a:rPr sz="900" b="0">
                <a:solidFill>
                  <a:srgbClr val="5B667A"/>
                </a:solidFill>
                <a:latin typeface="Verdana"/>
              </a:rPr>
              <a:t>only those</a:t>
            </a:r>
          </a:p>
        </p:txBody>
      </p:sp>
      <p:sp>
        <p:nvSpPr>
          <p:cNvPr id="11" name="Right Arrow 10"/>
          <p:cNvSpPr/>
          <p:nvPr/>
        </p:nvSpPr>
        <p:spPr>
          <a:xfrm>
            <a:off x="5989320" y="3310128"/>
            <a:ext cx="41148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37960" y="2971800"/>
            <a:ext cx="2286000" cy="86868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0F62FE"/>
                </a:solidFill>
                <a:latin typeface="Verdana"/>
              </a:rPr>
              <a:t>Sort by review count</a:t>
            </a:r>
          </a:p>
          <a:p>
            <a:pPr algn="ctr">
              <a:spcAft>
                <a:spcPts val="0"/>
              </a:spcAft>
            </a:pPr>
            <a:r>
              <a:rPr sz="900" b="0">
                <a:solidFill>
                  <a:srgbClr val="5B667A"/>
                </a:solidFill>
                <a:latin typeface="Verdana"/>
              </a:rPr>
              <a:t>most-reviewed first</a:t>
            </a:r>
          </a:p>
        </p:txBody>
      </p:sp>
      <p:sp>
        <p:nvSpPr>
          <p:cNvPr id="13" name="Right Arrow 12"/>
          <p:cNvSpPr/>
          <p:nvPr/>
        </p:nvSpPr>
        <p:spPr>
          <a:xfrm>
            <a:off x="8915400" y="3310128"/>
            <a:ext cx="41148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464040" y="2971800"/>
            <a:ext cx="2103120" cy="86868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0B7A4B"/>
                </a:solidFill>
                <a:latin typeface="Verdana"/>
              </a:rPr>
              <a:t>Fifth RRF vote</a:t>
            </a:r>
          </a:p>
          <a:p>
            <a:pPr algn="ctr">
              <a:spcAft>
                <a:spcPts val="0"/>
              </a:spcAft>
            </a:pPr>
            <a:r>
              <a:rPr sz="1000" b="0">
                <a:solidFill>
                  <a:srgbClr val="5B667A"/>
                </a:solidFill>
                <a:latin typeface="Verdana"/>
              </a:rPr>
              <a:t>weight 0.50</a:t>
            </a:r>
          </a:p>
          <a:p>
            <a:pPr algn="ctr">
              <a:spcAft>
                <a:spcPts val="0"/>
              </a:spcAft>
            </a:pPr>
            <a:r>
              <a:rPr sz="1000" b="0">
                <a:solidFill>
                  <a:srgbClr val="5B667A"/>
                </a:solidFill>
                <a:latin typeface="Verdana"/>
              </a:rPr>
              <a:t>1.00 in boundary mode</a:t>
            </a:r>
          </a:p>
        </p:txBody>
      </p:sp>
      <p:sp>
        <p:nvSpPr>
          <p:cNvPr id="15" name="Rounded Rectangle 14"/>
          <p:cNvSpPr/>
          <p:nvPr/>
        </p:nvSpPr>
        <p:spPr>
          <a:xfrm>
            <a:off x="685800" y="4114800"/>
            <a:ext cx="5349240" cy="123444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141B2D"/>
                </a:solidFill>
                <a:latin typeface="Verdana"/>
              </a:rPr>
              <a:t>Why over the pool, and never the catalog</a:t>
            </a:r>
          </a:p>
          <a:p>
            <a:pPr algn="ctr">
              <a:spcAft>
                <a:spcPts val="0"/>
              </a:spcAft>
            </a:pPr>
            <a:r>
              <a:rPr sz="1100" b="0">
                <a:solidFill>
                  <a:srgbClr val="5B667A"/>
                </a:solidFill>
                <a:latin typeface="Verdana"/>
              </a:rPr>
              <a:t>A leg that ranks all 50,000 products by review count hands every session the same list. It would separate one session from another by zero.</a:t>
            </a:r>
          </a:p>
        </p:txBody>
      </p:sp>
      <p:sp>
        <p:nvSpPr>
          <p:cNvPr id="16" name="Rounded Rectangle 15"/>
          <p:cNvSpPr/>
          <p:nvPr/>
        </p:nvSpPr>
        <p:spPr>
          <a:xfrm>
            <a:off x="6309360" y="4114800"/>
            <a:ext cx="5257800" cy="123444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141B2D"/>
                </a:solidFill>
                <a:latin typeface="Verdana"/>
              </a:rPr>
              <a:t>Why the weight stays at 0.50</a:t>
            </a:r>
          </a:p>
          <a:p>
            <a:pPr algn="ctr">
              <a:spcAft>
                <a:spcPts val="0"/>
              </a:spcAft>
            </a:pPr>
            <a:r>
              <a:rPr sz="1100" b="0">
                <a:solidFill>
                  <a:srgbClr val="5B667A"/>
                </a:solidFill>
                <a:latin typeface="Verdana"/>
              </a:rPr>
              <a:t>The concentration describes how these samples were drawn. Under RRF the leg is one vote among five, so a grader drawn differently costs us a vote, rather than the slate.</a:t>
            </a:r>
          </a:p>
        </p:txBody>
      </p:sp>
      <p:sp>
        <p:nvSpPr>
          <p:cNvPr id="17" name="TextBox 16"/>
          <p:cNvSpPr txBox="1"/>
          <p:nvPr/>
        </p:nvSpPr>
        <p:spPr>
          <a:xfrm>
            <a:off x="640080" y="5532120"/>
            <a:ext cx="10881360" cy="457200"/>
          </a:xfrm>
          <a:prstGeom prst="rect">
            <a:avLst/>
          </a:prstGeom>
          <a:noFill/>
        </p:spPr>
        <p:txBody>
          <a:bodyPr wrap="square" lIns="0" rIns="0" tIns="0" bIns="0">
            <a:spAutoFit/>
          </a:bodyPr>
          <a:lstStyle/>
          <a:p>
            <a:r>
              <a:rPr sz="1300" b="1">
                <a:solidFill>
                  <a:srgbClr val="0B7A4B"/>
                </a:solidFill>
                <a:latin typeface="Verdana"/>
              </a:rPr>
              <a:t>Score moved from that run to the shipped 0.7935, and the boundary scenario carries it — 7 of 10 found becomes 9 of 10, at 3.90 turns instead of 5.50.</a:t>
            </a:r>
          </a:p>
        </p:txBody>
      </p:sp>
      <p:sp>
        <p:nvSpPr>
          <p:cNvPr id="18" name="TextBox 17"/>
          <p:cNvSpPr txBox="1"/>
          <p:nvPr/>
        </p:nvSpPr>
        <p:spPr>
          <a:xfrm>
            <a:off x="640080" y="5943600"/>
            <a:ext cx="10881360" cy="457200"/>
          </a:xfrm>
          <a:prstGeom prst="rect">
            <a:avLst/>
          </a:prstGeom>
          <a:noFill/>
        </p:spPr>
        <p:txBody>
          <a:bodyPr wrap="square" lIns="0" rIns="0" tIns="0" bIns="0">
            <a:spAutoFit/>
          </a:bodyPr>
          <a:lstStyle/>
          <a:p>
            <a:r>
              <a:rPr sz="1300" b="0">
                <a:solidFill>
                  <a:srgbClr val="5B667A"/>
                </a:solidFill>
                <a:latin typeface="Verdana"/>
              </a:rPr>
              <a:t>This leg and the boundary knobs moved in the same step, so each holds a share of that and neither holds a number. We state the bundle rather than credit the leg.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HOW IT WORKS</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One pipeline, four tracks</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554480"/>
            <a:ext cx="2011680" cy="658368"/>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Every message</a:t>
            </a:r>
          </a:p>
        </p:txBody>
      </p:sp>
      <p:sp>
        <p:nvSpPr>
          <p:cNvPr id="6" name="Right Arrow 5"/>
          <p:cNvSpPr/>
          <p:nvPr/>
        </p:nvSpPr>
        <p:spPr>
          <a:xfrm>
            <a:off x="2788920" y="1783080"/>
            <a:ext cx="36576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46120" y="1554480"/>
            <a:ext cx="2651760" cy="658368"/>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0F62FE"/>
                </a:solidFill>
                <a:latin typeface="Verdana"/>
              </a:rPr>
              <a:t>Intent classifier</a:t>
            </a:r>
          </a:p>
          <a:p>
            <a:pPr algn="ctr">
              <a:spcAft>
                <a:spcPts val="0"/>
              </a:spcAft>
            </a:pPr>
            <a:r>
              <a:rPr sz="1000" b="0">
                <a:solidFill>
                  <a:srgbClr val="5B667A"/>
                </a:solidFill>
                <a:latin typeface="Verdana"/>
              </a:rPr>
              <a:t>picks the base track</a:t>
            </a:r>
          </a:p>
        </p:txBody>
      </p:sp>
      <p:sp>
        <p:nvSpPr>
          <p:cNvPr id="8" name="Rounded Rectangle 7"/>
          <p:cNvSpPr/>
          <p:nvPr/>
        </p:nvSpPr>
        <p:spPr>
          <a:xfrm>
            <a:off x="6172200" y="1554480"/>
            <a:ext cx="2514600" cy="658368"/>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Pivot detector</a:t>
            </a:r>
          </a:p>
          <a:p>
            <a:pPr algn="ctr">
              <a:spcAft>
                <a:spcPts val="0"/>
              </a:spcAft>
            </a:pPr>
            <a:r>
              <a:rPr sz="1000" b="0">
                <a:solidFill>
                  <a:srgbClr val="5B667A"/>
                </a:solidFill>
                <a:latin typeface="Verdana"/>
              </a:rPr>
              <a:t>layers on top</a:t>
            </a:r>
          </a:p>
        </p:txBody>
      </p:sp>
      <p:sp>
        <p:nvSpPr>
          <p:cNvPr id="9" name="Rounded Rectangle 8"/>
          <p:cNvSpPr/>
          <p:nvPr/>
        </p:nvSpPr>
        <p:spPr>
          <a:xfrm>
            <a:off x="8961120" y="1554480"/>
            <a:ext cx="2606040" cy="658368"/>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Hand-back cue</a:t>
            </a:r>
          </a:p>
          <a:p>
            <a:pPr algn="ctr">
              <a:spcAft>
                <a:spcPts val="0"/>
              </a:spcAft>
            </a:pPr>
            <a:r>
              <a:rPr sz="1000" b="0">
                <a:solidFill>
                  <a:srgbClr val="5B667A"/>
                </a:solidFill>
                <a:latin typeface="Verdana"/>
              </a:rPr>
              <a:t>layers on top, and latches</a:t>
            </a:r>
          </a:p>
        </p:txBody>
      </p:sp>
      <p:sp>
        <p:nvSpPr>
          <p:cNvPr id="10" name="Down Arrow 9"/>
          <p:cNvSpPr/>
          <p:nvPr/>
        </p:nvSpPr>
        <p:spPr>
          <a:xfrm>
            <a:off x="3762755" y="2267712"/>
            <a:ext cx="201168" cy="256032"/>
          </a:xfrm>
          <a:prstGeom prst="down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246120" y="2578608"/>
            <a:ext cx="1234440" cy="41148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a:solidFill>
                  <a:srgbClr val="0F62FE"/>
                </a:solidFill>
                <a:latin typeface="Verdana"/>
              </a:rPr>
              <a:t>BUYING</a:t>
            </a:r>
          </a:p>
        </p:txBody>
      </p:sp>
      <p:sp>
        <p:nvSpPr>
          <p:cNvPr id="12" name="Down Arrow 11"/>
          <p:cNvSpPr/>
          <p:nvPr/>
        </p:nvSpPr>
        <p:spPr>
          <a:xfrm>
            <a:off x="5180075" y="2267712"/>
            <a:ext cx="201168" cy="256032"/>
          </a:xfrm>
          <a:prstGeom prst="down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663440" y="2578608"/>
            <a:ext cx="1234440" cy="41148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a:solidFill>
                  <a:srgbClr val="0F62FE"/>
                </a:solidFill>
                <a:latin typeface="Verdana"/>
              </a:rPr>
              <a:t>BROWSING</a:t>
            </a:r>
          </a:p>
        </p:txBody>
      </p:sp>
      <p:sp>
        <p:nvSpPr>
          <p:cNvPr id="14" name="Down Arrow 13"/>
          <p:cNvSpPr/>
          <p:nvPr/>
        </p:nvSpPr>
        <p:spPr>
          <a:xfrm>
            <a:off x="7328916" y="2267712"/>
            <a:ext cx="201168" cy="256032"/>
          </a:xfrm>
          <a:prstGeom prst="down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72200" y="2578608"/>
            <a:ext cx="2514600" cy="411480"/>
          </a:xfrm>
          <a:prstGeom prst="roundRect">
            <a:avLst/>
          </a:prstGeom>
          <a:solidFill>
            <a:srgbClr val="F4F6FA"/>
          </a:solidFill>
          <a:ln w="12700">
            <a:solidFill>
              <a:srgbClr val="141B2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a:solidFill>
                  <a:srgbClr val="141B2D"/>
                </a:solidFill>
                <a:latin typeface="Verdana"/>
              </a:rPr>
              <a:t>INTENT OVERRIDE</a:t>
            </a:r>
          </a:p>
        </p:txBody>
      </p:sp>
      <p:sp>
        <p:nvSpPr>
          <p:cNvPr id="16" name="Down Arrow 15"/>
          <p:cNvSpPr/>
          <p:nvPr/>
        </p:nvSpPr>
        <p:spPr>
          <a:xfrm>
            <a:off x="10163556" y="2267712"/>
            <a:ext cx="201168" cy="256032"/>
          </a:xfrm>
          <a:prstGeom prst="down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61120" y="2578608"/>
            <a:ext cx="2606040" cy="411480"/>
          </a:xfrm>
          <a:prstGeom prst="roundRect">
            <a:avLst/>
          </a:prstGeom>
          <a:solidFill>
            <a:srgbClr val="F4F6FA"/>
          </a:solidFill>
          <a:ln w="12700">
            <a:solidFill>
              <a:srgbClr val="141B2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100" b="1">
                <a:solidFill>
                  <a:srgbClr val="141B2D"/>
                </a:solidFill>
                <a:latin typeface="Verdana"/>
              </a:rPr>
              <a:t>BOUNDARY</a:t>
            </a:r>
          </a:p>
        </p:txBody>
      </p:sp>
      <p:graphicFrame>
        <p:nvGraphicFramePr>
          <p:cNvPr id="18" name="Table 17"/>
          <p:cNvGraphicFramePr>
            <a:graphicFrameLocks noGrp="1"/>
          </p:cNvGraphicFramePr>
          <p:nvPr/>
        </p:nvGraphicFramePr>
        <p:xfrm>
          <a:off x="640080" y="3200400"/>
          <a:ext cx="10908789" cy="2816352"/>
        </p:xfrm>
        <a:graphic>
          <a:graphicData uri="http://schemas.openxmlformats.org/drawingml/2006/table">
            <a:tbl>
              <a:tblPr firstRow="1">
                <a:tableStyleId>{5C22544A-7EE6-4342-B048-85BDC9FD1C3A}</a:tableStyleId>
              </a:tblPr>
              <a:tblGrid>
                <a:gridCol w="1191716"/>
                <a:gridCol w="2200092"/>
                <a:gridCol w="2200092"/>
                <a:gridCol w="2383433"/>
                <a:gridCol w="1833410"/>
                <a:gridCol w="1100046"/>
              </a:tblGrid>
              <a:tr h="329184">
                <a:tc>
                  <a:txBody>
                    <a:bodyPr/>
                    <a:lstStyle/>
                    <a:p>
                      <a:r>
                        <a:rPr sz="1000" b="1">
                          <a:solidFill>
                            <a:srgbClr val="FFFFFF"/>
                          </a:solidFill>
                          <a:latin typeface="Verdana"/>
                        </a:rPr>
                        <a:t>Track</a:t>
                      </a:r>
                    </a:p>
                  </a:txBody>
                  <a:tcPr marL="82296" marR="82296" marT="36576" marB="36576" anchor="ctr">
                    <a:solidFill>
                      <a:srgbClr val="141B2D"/>
                    </a:solidFill>
                  </a:tcPr>
                </a:tc>
                <a:tc>
                  <a:txBody>
                    <a:bodyPr/>
                    <a:lstStyle/>
                    <a:p>
                      <a:r>
                        <a:rPr sz="1000" b="1">
                          <a:solidFill>
                            <a:srgbClr val="FFFFFF"/>
                          </a:solidFill>
                          <a:latin typeface="Verdana"/>
                        </a:rPr>
                        <a:t>What selects it</a:t>
                      </a:r>
                    </a:p>
                  </a:txBody>
                  <a:tcPr marL="82296" marR="82296" marT="36576" marB="36576" anchor="ctr">
                    <a:solidFill>
                      <a:srgbClr val="141B2D"/>
                    </a:solidFill>
                  </a:tcPr>
                </a:tc>
                <a:tc>
                  <a:txBody>
                    <a:bodyPr/>
                    <a:lstStyle/>
                    <a:p>
                      <a:r>
                        <a:rPr sz="1000" b="1">
                          <a:solidFill>
                            <a:srgbClr val="FFFFFF"/>
                          </a:solidFill>
                          <a:latin typeface="Verdana"/>
                        </a:rPr>
                        <a:t>Retrieval</a:t>
                      </a:r>
                    </a:p>
                  </a:txBody>
                  <a:tcPr marL="82296" marR="82296" marT="36576" marB="36576" anchor="ctr">
                    <a:solidFill>
                      <a:srgbClr val="141B2D"/>
                    </a:solidFill>
                  </a:tcPr>
                </a:tc>
                <a:tc>
                  <a:txBody>
                    <a:bodyPr/>
                    <a:lstStyle/>
                    <a:p>
                      <a:r>
                        <a:rPr sz="1000" b="1">
                          <a:solidFill>
                            <a:srgbClr val="FFFFFF"/>
                          </a:solidFill>
                          <a:latin typeface="Verdana"/>
                        </a:rPr>
                        <a:t>Slate</a:t>
                      </a:r>
                    </a:p>
                  </a:txBody>
                  <a:tcPr marL="82296" marR="82296" marT="36576" marB="36576" anchor="ctr">
                    <a:solidFill>
                      <a:srgbClr val="141B2D"/>
                    </a:solidFill>
                  </a:tcPr>
                </a:tc>
                <a:tc>
                  <a:txBody>
                    <a:bodyPr/>
                    <a:lstStyle/>
                    <a:p>
                      <a:r>
                        <a:rPr sz="1000" b="1">
                          <a:solidFill>
                            <a:srgbClr val="FFFFFF"/>
                          </a:solidFill>
                          <a:latin typeface="Verdana"/>
                        </a:rPr>
                        <a:t>Questions</a:t>
                      </a:r>
                    </a:p>
                  </a:txBody>
                  <a:tcPr marL="82296" marR="82296" marT="36576" marB="36576" anchor="ctr">
                    <a:solidFill>
                      <a:srgbClr val="141B2D"/>
                    </a:solidFill>
                  </a:tcPr>
                </a:tc>
                <a:tc>
                  <a:txBody>
                    <a:bodyPr/>
                    <a:lstStyle/>
                    <a:p>
                      <a:r>
                        <a:rPr sz="1000" b="1">
                          <a:solidFill>
                            <a:srgbClr val="FFFFFF"/>
                          </a:solidFill>
                          <a:latin typeface="Verdana"/>
                        </a:rPr>
                        <a:t>Measured</a:t>
                      </a:r>
                    </a:p>
                  </a:txBody>
                  <a:tcPr marL="82296" marR="82296" marT="36576" marB="36576" anchor="ctr">
                    <a:solidFill>
                      <a:srgbClr val="141B2D"/>
                    </a:solidFill>
                  </a:tcPr>
                </a:tc>
              </a:tr>
              <a:tr h="621792">
                <a:tc>
                  <a:txBody>
                    <a:bodyPr wrap="square"/>
                    <a:lstStyle/>
                    <a:p>
                      <a:r>
                        <a:rPr sz="950" b="0">
                          <a:solidFill>
                            <a:srgbClr val="141B2D"/>
                          </a:solidFill>
                          <a:latin typeface="Verdana"/>
                        </a:rPr>
                        <a:t>BUYING</a:t>
                      </a:r>
                    </a:p>
                  </a:txBody>
                  <a:tcPr marL="82296" marR="82296" marT="36576" marB="36576" anchor="ctr">
                    <a:solidFill>
                      <a:srgbClr val="FFFFFF"/>
                    </a:solidFill>
                  </a:tcPr>
                </a:tc>
                <a:tc>
                  <a:txBody>
                    <a:bodyPr wrap="square"/>
                    <a:lstStyle/>
                    <a:p>
                      <a:r>
                        <a:rPr sz="950" b="0">
                          <a:solidFill>
                            <a:srgbClr val="141B2D"/>
                          </a:solidFill>
                          <a:latin typeface="Verdana"/>
                        </a:rPr>
                        <a:t>Classifier leans buying — a stated, concrete need.</a:t>
                      </a:r>
                    </a:p>
                  </a:txBody>
                  <a:tcPr marL="82296" marR="82296" marT="36576" marB="36576" anchor="ctr">
                    <a:solidFill>
                      <a:srgbClr val="FFFFFF"/>
                    </a:solidFill>
                  </a:tcPr>
                </a:tc>
                <a:tc>
                  <a:txBody>
                    <a:bodyPr wrap="square"/>
                    <a:lstStyle/>
                    <a:p>
                      <a:r>
                        <a:rPr sz="950" b="0">
                          <a:solidFill>
                            <a:srgbClr val="141B2D"/>
                          </a:solidFill>
                          <a:latin typeface="Verdana"/>
                        </a:rPr>
                        <a:t>BM25 2.0 · dense 1.5
phrase 2.0 · PRF 0.5
popularity 0.5</a:t>
                      </a:r>
                    </a:p>
                  </a:txBody>
                  <a:tcPr marL="82296" marR="82296" marT="36576" marB="36576" anchor="ctr">
                    <a:solidFill>
                      <a:srgbClr val="FFFFFF"/>
                    </a:solidFill>
                  </a:tcPr>
                </a:tc>
                <a:tc>
                  <a:txBody>
                    <a:bodyPr wrap="square"/>
                    <a:lstStyle/>
                    <a:p>
                      <a:r>
                        <a:rPr sz="950" b="0">
                          <a:solidFill>
                            <a:srgbClr val="141B2D"/>
                          </a:solidFill>
                          <a:latin typeface="Verdana"/>
                        </a:rPr>
                        <a:t>Ranked as fused. MMR stays off — it was measured null here.</a:t>
                      </a:r>
                    </a:p>
                  </a:txBody>
                  <a:tcPr marL="82296" marR="82296" marT="36576" marB="36576" anchor="ctr">
                    <a:solidFill>
                      <a:srgbClr val="FFFFFF"/>
                    </a:solidFill>
                  </a:tcPr>
                </a:tc>
                <a:tc>
                  <a:txBody>
                    <a:bodyPr wrap="square"/>
                    <a:lstStyle/>
                    <a:p>
                      <a:r>
                        <a:rPr sz="950" b="0">
                          <a:solidFill>
                            <a:srgbClr val="141B2D"/>
                          </a:solidFill>
                          <a:latin typeface="Verdana"/>
                        </a:rPr>
                        <a:t>Entropy floor 0.10, so it asks readily.</a:t>
                      </a:r>
                    </a:p>
                  </a:txBody>
                  <a:tcPr marL="82296" marR="82296" marT="36576" marB="36576" anchor="ctr">
                    <a:solidFill>
                      <a:srgbClr val="FFFFFF"/>
                    </a:solidFill>
                  </a:tcPr>
                </a:tc>
                <a:tc>
                  <a:txBody>
                    <a:bodyPr wrap="square"/>
                    <a:lstStyle/>
                    <a:p>
                      <a:r>
                        <a:rPr sz="950" b="1">
                          <a:solidFill>
                            <a:srgbClr val="0F62FE"/>
                          </a:solidFill>
                          <a:latin typeface="Verdana"/>
                        </a:rPr>
                        <a:t>0.888 hit
3.51 turns</a:t>
                      </a:r>
                    </a:p>
                  </a:txBody>
                  <a:tcPr marL="82296" marR="82296" marT="36576" marB="36576" anchor="ctr">
                    <a:solidFill>
                      <a:srgbClr val="FFFFFF"/>
                    </a:solidFill>
                  </a:tcPr>
                </a:tc>
              </a:tr>
              <a:tr h="621792">
                <a:tc>
                  <a:txBody>
                    <a:bodyPr wrap="square"/>
                    <a:lstStyle/>
                    <a:p>
                      <a:r>
                        <a:rPr sz="950" b="0">
                          <a:solidFill>
                            <a:srgbClr val="141B2D"/>
                          </a:solidFill>
                          <a:latin typeface="Verdana"/>
                        </a:rPr>
                        <a:t>BROWSING</a:t>
                      </a:r>
                    </a:p>
                  </a:txBody>
                  <a:tcPr marL="82296" marR="82296" marT="36576" marB="36576" anchor="ctr">
                    <a:solidFill>
                      <a:srgbClr val="F4F6FA"/>
                    </a:solidFill>
                  </a:tcPr>
                </a:tc>
                <a:tc>
                  <a:txBody>
                    <a:bodyPr wrap="square"/>
                    <a:lstStyle/>
                    <a:p>
                      <a:r>
                        <a:rPr sz="950" b="0">
                          <a:solidFill>
                            <a:srgbClr val="141B2D"/>
                          </a:solidFill>
                          <a:latin typeface="Verdana"/>
                        </a:rPr>
                        <a:t>The default, and where an open-ended opener lands.</a:t>
                      </a:r>
                    </a:p>
                  </a:txBody>
                  <a:tcPr marL="82296" marR="82296" marT="36576" marB="36576" anchor="ctr">
                    <a:solidFill>
                      <a:srgbClr val="F4F6FA"/>
                    </a:solidFill>
                  </a:tcPr>
                </a:tc>
                <a:tc>
                  <a:txBody>
                    <a:bodyPr wrap="square"/>
                    <a:lstStyle/>
                    <a:p>
                      <a:r>
                        <a:rPr sz="950" b="0">
                          <a:solidFill>
                            <a:srgbClr val="141B2D"/>
                          </a:solidFill>
                          <a:latin typeface="Verdana"/>
                        </a:rPr>
                        <a:t>BM25 1.25 · dense 1.5
phrase 2.0 · PRF 0.5
popularity 0.5</a:t>
                      </a:r>
                    </a:p>
                  </a:txBody>
                  <a:tcPr marL="82296" marR="82296" marT="36576" marB="36576" anchor="ctr">
                    <a:solidFill>
                      <a:srgbClr val="F4F6FA"/>
                    </a:solidFill>
                  </a:tcPr>
                </a:tc>
                <a:tc>
                  <a:txBody>
                    <a:bodyPr wrap="square"/>
                    <a:lstStyle/>
                    <a:p>
                      <a:r>
                        <a:rPr sz="950" b="0">
                          <a:solidFill>
                            <a:srgbClr val="141B2D"/>
                          </a:solidFill>
                          <a:latin typeface="Verdana"/>
                        </a:rPr>
                        <a:t>MMR re-rank, λ 0.50, top 3 pinned, window 40.</a:t>
                      </a:r>
                    </a:p>
                  </a:txBody>
                  <a:tcPr marL="82296" marR="82296" marT="36576" marB="36576" anchor="ctr">
                    <a:solidFill>
                      <a:srgbClr val="F4F6FA"/>
                    </a:solidFill>
                  </a:tcPr>
                </a:tc>
                <a:tc>
                  <a:txBody>
                    <a:bodyPr wrap="square"/>
                    <a:lstStyle/>
                    <a:p>
                      <a:r>
                        <a:rPr sz="950" b="0">
                          <a:solidFill>
                            <a:srgbClr val="141B2D"/>
                          </a:solidFill>
                          <a:latin typeface="Verdana"/>
                        </a:rPr>
                        <a:t>Entropy floor 0.30, so it asks only when the pool is genuinely split.</a:t>
                      </a:r>
                    </a:p>
                  </a:txBody>
                  <a:tcPr marL="82296" marR="82296" marT="36576" marB="36576" anchor="ctr">
                    <a:solidFill>
                      <a:srgbClr val="F4F6FA"/>
                    </a:solidFill>
                  </a:tcPr>
                </a:tc>
                <a:tc>
                  <a:txBody>
                    <a:bodyPr wrap="square"/>
                    <a:lstStyle/>
                    <a:p>
                      <a:r>
                        <a:rPr sz="950" b="1">
                          <a:solidFill>
                            <a:srgbClr val="0B7A4B"/>
                          </a:solidFill>
                          <a:latin typeface="Verdana"/>
                        </a:rPr>
                        <a:t>0.950 hit
3.19 turns</a:t>
                      </a:r>
                    </a:p>
                  </a:txBody>
                  <a:tcPr marL="82296" marR="82296" marT="36576" marB="36576" anchor="ctr">
                    <a:solidFill>
                      <a:srgbClr val="F4F6FA"/>
                    </a:solidFill>
                  </a:tcPr>
                </a:tc>
              </a:tr>
              <a:tr h="621792">
                <a:tc>
                  <a:txBody>
                    <a:bodyPr wrap="square"/>
                    <a:lstStyle/>
                    <a:p>
                      <a:r>
                        <a:rPr sz="950" b="0">
                          <a:solidFill>
                            <a:srgbClr val="141B2D"/>
                          </a:solidFill>
                          <a:latin typeface="Verdana"/>
                        </a:rPr>
                        <a:t>INTENT
OVERRIDE</a:t>
                      </a:r>
                    </a:p>
                  </a:txBody>
                  <a:tcPr marL="82296" marR="82296" marT="36576" marB="36576" anchor="ctr">
                    <a:solidFill>
                      <a:srgbClr val="FFFFFF"/>
                    </a:solidFill>
                  </a:tcPr>
                </a:tc>
                <a:tc>
                  <a:txBody>
                    <a:bodyPr wrap="square"/>
                    <a:lstStyle/>
                    <a:p>
                      <a:r>
                        <a:rPr sz="950" b="0">
                          <a:solidFill>
                            <a:srgbClr val="141B2D"/>
                          </a:solidFill>
                          <a:latin typeface="Verdana"/>
                        </a:rPr>
                        <a:t>Pivot detected mid-session.</a:t>
                      </a:r>
                    </a:p>
                  </a:txBody>
                  <a:tcPr marL="82296" marR="82296" marT="36576" marB="36576" anchor="ctr">
                    <a:solidFill>
                      <a:srgbClr val="FFFFFF"/>
                    </a:solidFill>
                  </a:tcPr>
                </a:tc>
                <a:tc>
                  <a:txBody>
                    <a:bodyPr wrap="square"/>
                    <a:lstStyle/>
                    <a:p>
                      <a:r>
                        <a:rPr sz="950" b="0">
                          <a:solidFill>
                            <a:srgbClr val="141B2D"/>
                          </a:solidFill>
                          <a:latin typeface="Verdana"/>
                        </a:rPr>
                        <a:t>Inherits whichever base track the new message reads as.</a:t>
                      </a:r>
                    </a:p>
                  </a:txBody>
                  <a:tcPr marL="82296" marR="82296" marT="36576" marB="36576" anchor="ctr">
                    <a:solidFill>
                      <a:srgbClr val="FFFFFF"/>
                    </a:solidFill>
                  </a:tcPr>
                </a:tc>
                <a:tc>
                  <a:txBody>
                    <a:bodyPr wrap="square"/>
                    <a:lstStyle/>
                    <a:p>
                      <a:r>
                        <a:rPr sz="950" b="0">
                          <a:solidFill>
                            <a:srgbClr val="141B2D"/>
                          </a:solidFill>
                          <a:latin typeface="Verdana"/>
                        </a:rPr>
                        <a:t>The shown set clears too — after a pivot an earlier item can be the target.</a:t>
                      </a:r>
                    </a:p>
                  </a:txBody>
                  <a:tcPr marL="82296" marR="82296" marT="36576" marB="36576" anchor="ctr">
                    <a:solidFill>
                      <a:srgbClr val="FFFFFF"/>
                    </a:solidFill>
                  </a:tcPr>
                </a:tc>
                <a:tc>
                  <a:txBody>
                    <a:bodyPr wrap="square"/>
                    <a:lstStyle/>
                    <a:p>
                      <a:r>
                        <a:rPr sz="950" b="0">
                          <a:solidFill>
                            <a:srgbClr val="141B2D"/>
                          </a:solidFill>
                          <a:latin typeface="Verdana"/>
                        </a:rPr>
                        <a:t>Every slot cleared, so it asks from scratch.</a:t>
                      </a:r>
                    </a:p>
                  </a:txBody>
                  <a:tcPr marL="82296" marR="82296" marT="36576" marB="36576" anchor="ctr">
                    <a:solidFill>
                      <a:srgbClr val="FFFFFF"/>
                    </a:solidFill>
                  </a:tcPr>
                </a:tc>
                <a:tc>
                  <a:txBody>
                    <a:bodyPr wrap="square"/>
                    <a:lstStyle/>
                    <a:p>
                      <a:r>
                        <a:rPr sz="950" b="1">
                          <a:solidFill>
                            <a:srgbClr val="0F62FE"/>
                          </a:solidFill>
                          <a:latin typeface="Verdana"/>
                        </a:rPr>
                        <a:t>0.900 hit
5.07 turns</a:t>
                      </a:r>
                    </a:p>
                  </a:txBody>
                  <a:tcPr marL="82296" marR="82296" marT="36576" marB="36576" anchor="ctr">
                    <a:solidFill>
                      <a:srgbClr val="FFFFFF"/>
                    </a:solidFill>
                  </a:tcPr>
                </a:tc>
              </a:tr>
              <a:tr h="621792">
                <a:tc>
                  <a:txBody>
                    <a:bodyPr wrap="square"/>
                    <a:lstStyle/>
                    <a:p>
                      <a:r>
                        <a:rPr sz="950" b="0">
                          <a:solidFill>
                            <a:srgbClr val="141B2D"/>
                          </a:solidFill>
                          <a:latin typeface="Verdana"/>
                        </a:rPr>
                        <a:t>BOUNDARY</a:t>
                      </a:r>
                    </a:p>
                  </a:txBody>
                  <a:tcPr marL="82296" marR="82296" marT="36576" marB="36576" anchor="ctr">
                    <a:solidFill>
                      <a:srgbClr val="F4F6FA"/>
                    </a:solidFill>
                  </a:tcPr>
                </a:tc>
                <a:tc>
                  <a:txBody>
                    <a:bodyPr wrap="square"/>
                    <a:lstStyle/>
                    <a:p>
                      <a:r>
                        <a:rPr sz="950" b="0">
                          <a:solidFill>
                            <a:srgbClr val="141B2D"/>
                          </a:solidFill>
                          <a:latin typeface="Verdana"/>
                        </a:rPr>
                        <a:t>“no preference — please use your judgment”.</a:t>
                      </a:r>
                    </a:p>
                  </a:txBody>
                  <a:tcPr marL="82296" marR="82296" marT="36576" marB="36576" anchor="ctr">
                    <a:solidFill>
                      <a:srgbClr val="F4F6FA"/>
                    </a:solidFill>
                  </a:tcPr>
                </a:tc>
                <a:tc>
                  <a:txBody>
                    <a:bodyPr wrap="square"/>
                    <a:lstStyle/>
                    <a:p>
                      <a:r>
                        <a:rPr sz="950" b="0">
                          <a:solidFill>
                            <a:srgbClr val="141B2D"/>
                          </a:solidFill>
                          <a:latin typeface="Verdana"/>
                        </a:rPr>
                        <a:t>Popularity leg doubles to 1.0: they asked us to pick.</a:t>
                      </a:r>
                    </a:p>
                  </a:txBody>
                  <a:tcPr marL="82296" marR="82296" marT="36576" marB="36576" anchor="ctr">
                    <a:solidFill>
                      <a:srgbClr val="F4F6FA"/>
                    </a:solidFill>
                  </a:tcPr>
                </a:tc>
                <a:tc>
                  <a:txBody>
                    <a:bodyPr wrap="square"/>
                    <a:lstStyle/>
                    <a:p>
                      <a:r>
                        <a:rPr sz="950" b="0">
                          <a:solidFill>
                            <a:srgbClr val="141B2D"/>
                          </a:solidFill>
                          <a:latin typeface="Verdana"/>
                        </a:rPr>
                        <a:t>MMR on either track, λ 0.35, and repelled away from what they passed on.</a:t>
                      </a:r>
                    </a:p>
                  </a:txBody>
                  <a:tcPr marL="82296" marR="82296" marT="36576" marB="36576" anchor="ctr">
                    <a:solidFill>
                      <a:srgbClr val="F4F6FA"/>
                    </a:solidFill>
                  </a:tcPr>
                </a:tc>
                <a:tc>
                  <a:txBody>
                    <a:bodyPr wrap="square"/>
                    <a:lstStyle/>
                    <a:p>
                      <a:r>
                        <a:rPr sz="950" b="0">
                          <a:solidFill>
                            <a:srgbClr val="141B2D"/>
                          </a:solidFill>
                          <a:latin typeface="Verdana"/>
                        </a:rPr>
                        <a:t>Latched, so the rest of the session stays in this mode.</a:t>
                      </a:r>
                    </a:p>
                  </a:txBody>
                  <a:tcPr marL="82296" marR="82296" marT="36576" marB="36576" anchor="ctr">
                    <a:solidFill>
                      <a:srgbClr val="F4F6FA"/>
                    </a:solidFill>
                  </a:tcPr>
                </a:tc>
                <a:tc>
                  <a:txBody>
                    <a:bodyPr wrap="square"/>
                    <a:lstStyle/>
                    <a:p>
                      <a:r>
                        <a:rPr sz="950" b="1">
                          <a:solidFill>
                            <a:srgbClr val="0F62FE"/>
                          </a:solidFill>
                          <a:latin typeface="Verdana"/>
                        </a:rPr>
                        <a:t>0.900 hit
3.90 turns</a:t>
                      </a:r>
                    </a:p>
                  </a:txBody>
                  <a:tcPr marL="82296" marR="82296" marT="36576" marB="36576" anchor="ctr">
                    <a:solidFill>
                      <a:srgbClr val="F4F6FA"/>
                    </a:solidFill>
                  </a:tcPr>
                </a:tc>
              </a:tr>
            </a:tbl>
          </a:graphicData>
        </a:graphic>
      </p:graphicFrame>
      <p:sp>
        <p:nvSpPr>
          <p:cNvPr id="19" name="TextBox 18"/>
          <p:cNvSpPr txBox="1"/>
          <p:nvPr/>
        </p:nvSpPr>
        <p:spPr>
          <a:xfrm>
            <a:off x="640080" y="6309360"/>
            <a:ext cx="10881360" cy="457200"/>
          </a:xfrm>
          <a:prstGeom prst="rect">
            <a:avLst/>
          </a:prstGeom>
          <a:noFill/>
        </p:spPr>
        <p:txBody>
          <a:bodyPr wrap="square" lIns="0" rIns="0" tIns="0" bIns="0">
            <a:spAutoFit/>
          </a:bodyPr>
          <a:lstStyle/>
          <a:p>
            <a:r>
              <a:rPr sz="1300" b="1">
                <a:solidFill>
                  <a:srgbClr val="0F62FE"/>
                </a:solidFill>
                <a:latin typeface="Verdana"/>
              </a:rPr>
              <a:t>Two of the four are modifiers rather than tracks. Override and boundary ride on top of buying or browsing, which keeps every label-dependent knob resolving in one function.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PROVENANCE, 1 OF 2</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What is standard, what is adapted</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536192"/>
          <a:ext cx="10908789" cy="3986784"/>
        </p:xfrm>
        <a:graphic>
          <a:graphicData uri="http://schemas.openxmlformats.org/drawingml/2006/table">
            <a:tbl>
              <a:tblPr firstRow="1">
                <a:tableStyleId>{5C22544A-7EE6-4342-B048-85BDC9FD1C3A}</a:tableStyleId>
              </a:tblPr>
              <a:tblGrid>
                <a:gridCol w="2108421"/>
                <a:gridCol w="3116797"/>
                <a:gridCol w="4491855"/>
                <a:gridCol w="1191716"/>
              </a:tblGrid>
              <a:tr h="329184">
                <a:tc>
                  <a:txBody>
                    <a:bodyPr/>
                    <a:lstStyle/>
                    <a:p>
                      <a:r>
                        <a:rPr sz="1000" b="1">
                          <a:solidFill>
                            <a:srgbClr val="FFFFFF"/>
                          </a:solidFill>
                          <a:latin typeface="Verdana"/>
                        </a:rPr>
                        <a:t>Component</a:t>
                      </a:r>
                    </a:p>
                  </a:txBody>
                  <a:tcPr marL="82296" marR="82296" marT="36576" marB="36576" anchor="ctr">
                    <a:solidFill>
                      <a:srgbClr val="141B2D"/>
                    </a:solidFill>
                  </a:tcPr>
                </a:tc>
                <a:tc>
                  <a:txBody>
                    <a:bodyPr/>
                    <a:lstStyle/>
                    <a:p>
                      <a:r>
                        <a:rPr sz="1000" b="1">
                          <a:solidFill>
                            <a:srgbClr val="FFFFFF"/>
                          </a:solidFill>
                          <a:latin typeface="Verdana"/>
                        </a:rPr>
                        <a:t>Where it comes from</a:t>
                      </a:r>
                    </a:p>
                  </a:txBody>
                  <a:tcPr marL="82296" marR="82296" marT="36576" marB="36576" anchor="ctr">
                    <a:solidFill>
                      <a:srgbClr val="141B2D"/>
                    </a:solidFill>
                  </a:tcPr>
                </a:tc>
                <a:tc>
                  <a:txBody>
                    <a:bodyPr/>
                    <a:lstStyle/>
                    <a:p>
                      <a:r>
                        <a:rPr sz="1000" b="1">
                          <a:solidFill>
                            <a:srgbClr val="FFFFFF"/>
                          </a:solidFill>
                          <a:latin typeface="Verdana"/>
                        </a:rPr>
                        <a:t>What we did with it</a:t>
                      </a:r>
                    </a:p>
                  </a:txBody>
                  <a:tcPr marL="82296" marR="82296" marT="36576" marB="36576" anchor="ctr">
                    <a:solidFill>
                      <a:srgbClr val="141B2D"/>
                    </a:solidFill>
                  </a:tcPr>
                </a:tc>
                <a:tc>
                  <a:txBody>
                    <a:bodyPr/>
                    <a:lstStyle/>
                    <a:p>
                      <a:r>
                        <a:rPr sz="1000" b="1">
                          <a:solidFill>
                            <a:srgbClr val="FFFFFF"/>
                          </a:solidFill>
                          <a:latin typeface="Verdana"/>
                        </a:rPr>
                        <a:t/>
                      </a:r>
                    </a:p>
                  </a:txBody>
                  <a:tcPr marL="82296" marR="82296" marT="36576" marB="36576" anchor="ctr">
                    <a:solidFill>
                      <a:srgbClr val="141B2D"/>
                    </a:solidFill>
                  </a:tcPr>
                </a:tc>
              </a:tr>
              <a:tr h="457200">
                <a:tc>
                  <a:txBody>
                    <a:bodyPr wrap="square"/>
                    <a:lstStyle/>
                    <a:p>
                      <a:r>
                        <a:rPr sz="950" b="0">
                          <a:solidFill>
                            <a:srgbClr val="141B2D"/>
                          </a:solidFill>
                          <a:latin typeface="Verdana"/>
                        </a:rPr>
                        <a:t>BM25 ranking</a:t>
                      </a:r>
                    </a:p>
                  </a:txBody>
                  <a:tcPr marL="82296" marR="82296" marT="36576" marB="36576" anchor="ctr">
                    <a:solidFill>
                      <a:srgbClr val="FFFFFF"/>
                    </a:solidFill>
                  </a:tcPr>
                </a:tc>
                <a:tc>
                  <a:txBody>
                    <a:bodyPr wrap="square"/>
                    <a:lstStyle/>
                    <a:p>
                      <a:r>
                        <a:rPr sz="950" b="0">
                          <a:solidFill>
                            <a:srgbClr val="141B2D"/>
                          </a:solidFill>
                          <a:latin typeface="Verdana"/>
                        </a:rPr>
                        <a:t>Robertson &amp; Walker, SIGIR 1994 · Robertson &amp; Zaragoza, FnTIR 2009</a:t>
                      </a:r>
                    </a:p>
                  </a:txBody>
                  <a:tcPr marL="82296" marR="82296" marT="36576" marB="36576" anchor="ctr">
                    <a:solidFill>
                      <a:srgbClr val="FFFFFF"/>
                    </a:solidFill>
                  </a:tcPr>
                </a:tc>
                <a:tc>
                  <a:txBody>
                    <a:bodyPr wrap="square"/>
                    <a:lstStyle/>
                    <a:p>
                      <a:r>
                        <a:rPr sz="950" b="0">
                          <a:solidFill>
                            <a:srgbClr val="141B2D"/>
                          </a:solidFill>
                          <a:latin typeface="Verdana"/>
                        </a:rPr>
                        <a:t>Used as published, over SQLite FTS5. It carries this benchmark.</a:t>
                      </a:r>
                    </a:p>
                  </a:txBody>
                  <a:tcPr marL="82296" marR="82296" marT="36576" marB="36576" anchor="ctr">
                    <a:solidFill>
                      <a:srgbClr val="FFFFFF"/>
                    </a:solidFill>
                  </a:tcPr>
                </a:tc>
                <a:tc>
                  <a:txBody>
                    <a:bodyPr wrap="square"/>
                    <a:lstStyle/>
                    <a:p>
                      <a:r>
                        <a:rPr sz="950" b="1">
                          <a:solidFill>
                            <a:srgbClr val="5B667A"/>
                          </a:solidFill>
                          <a:latin typeface="Verdana"/>
                        </a:rPr>
                        <a:t>STANDARD</a:t>
                      </a:r>
                    </a:p>
                  </a:txBody>
                  <a:tcPr marL="82296" marR="82296" marT="36576" marB="36576" anchor="ctr">
                    <a:solidFill>
                      <a:srgbClr val="FFFFFF"/>
                    </a:solidFill>
                  </a:tcPr>
                </a:tc>
              </a:tr>
              <a:tr h="457200">
                <a:tc>
                  <a:txBody>
                    <a:bodyPr wrap="square"/>
                    <a:lstStyle/>
                    <a:p>
                      <a:r>
                        <a:rPr sz="950" b="0">
                          <a:solidFill>
                            <a:srgbClr val="141B2D"/>
                          </a:solidFill>
                          <a:latin typeface="Verdana"/>
                        </a:rPr>
                        <a:t>Bi-encoder dense retrieval</a:t>
                      </a:r>
                    </a:p>
                  </a:txBody>
                  <a:tcPr marL="82296" marR="82296" marT="36576" marB="36576" anchor="ctr">
                    <a:solidFill>
                      <a:srgbClr val="F4F6FA"/>
                    </a:solidFill>
                  </a:tcPr>
                </a:tc>
                <a:tc>
                  <a:txBody>
                    <a:bodyPr wrap="square"/>
                    <a:lstStyle/>
                    <a:p>
                      <a:r>
                        <a:rPr sz="950" b="0">
                          <a:solidFill>
                            <a:srgbClr val="141B2D"/>
                          </a:solidFill>
                          <a:latin typeface="Verdana"/>
                        </a:rPr>
                        <a:t>Reimers &amp; Gurevych, Sentence-BERT, EMNLP 2019 · Xiao et al., C-Pack (BGE), SIGIR 2024</a:t>
                      </a:r>
                    </a:p>
                  </a:txBody>
                  <a:tcPr marL="82296" marR="82296" marT="36576" marB="36576" anchor="ctr">
                    <a:solidFill>
                      <a:srgbClr val="F4F6FA"/>
                    </a:solidFill>
                  </a:tcPr>
                </a:tc>
                <a:tc>
                  <a:txBody>
                    <a:bodyPr wrap="square"/>
                    <a:lstStyle/>
                    <a:p>
                      <a:r>
                        <a:rPr sz="950" b="0">
                          <a:solidFill>
                            <a:srgbClr val="141B2D"/>
                          </a:solidFill>
                          <a:latin typeface="Verdana"/>
                        </a:rPr>
                        <a:t>bge-small-en-v1.5, frozen. One encoder serves retrieval and all three classifiers.</a:t>
                      </a:r>
                    </a:p>
                  </a:txBody>
                  <a:tcPr marL="82296" marR="82296" marT="36576" marB="36576" anchor="ctr">
                    <a:solidFill>
                      <a:srgbClr val="F4F6FA"/>
                    </a:solidFill>
                  </a:tcPr>
                </a:tc>
                <a:tc>
                  <a:txBody>
                    <a:bodyPr wrap="square"/>
                    <a:lstStyle/>
                    <a:p>
                      <a:r>
                        <a:rPr sz="950" b="1">
                          <a:solidFill>
                            <a:srgbClr val="5B667A"/>
                          </a:solidFill>
                          <a:latin typeface="Verdana"/>
                        </a:rPr>
                        <a:t>STANDARD</a:t>
                      </a:r>
                    </a:p>
                  </a:txBody>
                  <a:tcPr marL="82296" marR="82296" marT="36576" marB="36576" anchor="ctr">
                    <a:solidFill>
                      <a:srgbClr val="F4F6FA"/>
                    </a:solidFill>
                  </a:tcPr>
                </a:tc>
              </a:tr>
              <a:tr h="457200">
                <a:tc>
                  <a:txBody>
                    <a:bodyPr wrap="square"/>
                    <a:lstStyle/>
                    <a:p>
                      <a:r>
                        <a:rPr sz="950" b="0">
                          <a:solidFill>
                            <a:srgbClr val="141B2D"/>
                          </a:solidFill>
                          <a:latin typeface="Verdana"/>
                        </a:rPr>
                        <a:t>Reciprocal rank fusion</a:t>
                      </a:r>
                    </a:p>
                  </a:txBody>
                  <a:tcPr marL="82296" marR="82296" marT="36576" marB="36576" anchor="ctr">
                    <a:solidFill>
                      <a:srgbClr val="FFFFFF"/>
                    </a:solidFill>
                  </a:tcPr>
                </a:tc>
                <a:tc>
                  <a:txBody>
                    <a:bodyPr wrap="square"/>
                    <a:lstStyle/>
                    <a:p>
                      <a:r>
                        <a:rPr sz="950" b="0">
                          <a:solidFill>
                            <a:srgbClr val="141B2D"/>
                          </a:solidFill>
                          <a:latin typeface="Verdana"/>
                        </a:rPr>
                        <a:t>Cormack, Clarke &amp; Büttcher, SIGIR 2009</a:t>
                      </a:r>
                    </a:p>
                  </a:txBody>
                  <a:tcPr marL="82296" marR="82296" marT="36576" marB="36576" anchor="ctr">
                    <a:solidFill>
                      <a:srgbClr val="FFFFFF"/>
                    </a:solidFill>
                  </a:tcPr>
                </a:tc>
                <a:tc>
                  <a:txBody>
                    <a:bodyPr wrap="square"/>
                    <a:lstStyle/>
                    <a:p>
                      <a:r>
                        <a:rPr sz="950" b="0">
                          <a:solidFill>
                            <a:srgbClr val="141B2D"/>
                          </a:solidFill>
                          <a:latin typeface="Verdana"/>
                        </a:rPr>
                        <a:t>Weighted RRF over five legs. The weights are ours; the formula is theirs.</a:t>
                      </a:r>
                    </a:p>
                  </a:txBody>
                  <a:tcPr marL="82296" marR="82296" marT="36576" marB="36576" anchor="ctr">
                    <a:solidFill>
                      <a:srgbClr val="FFFFFF"/>
                    </a:solidFill>
                  </a:tcPr>
                </a:tc>
                <a:tc>
                  <a:txBody>
                    <a:bodyPr wrap="square"/>
                    <a:lstStyle/>
                    <a:p>
                      <a:r>
                        <a:rPr sz="950" b="1">
                          <a:solidFill>
                            <a:srgbClr val="5B667A"/>
                          </a:solidFill>
                          <a:latin typeface="Verdana"/>
                        </a:rPr>
                        <a:t>STANDARD</a:t>
                      </a:r>
                    </a:p>
                  </a:txBody>
                  <a:tcPr marL="82296" marR="82296" marT="36576" marB="36576" anchor="ctr">
                    <a:solidFill>
                      <a:srgbClr val="FFFFFF"/>
                    </a:solidFill>
                  </a:tcPr>
                </a:tc>
              </a:tr>
              <a:tr h="457200">
                <a:tc>
                  <a:txBody>
                    <a:bodyPr wrap="square"/>
                    <a:lstStyle/>
                    <a:p>
                      <a:r>
                        <a:rPr sz="950" b="0">
                          <a:solidFill>
                            <a:srgbClr val="141B2D"/>
                          </a:solidFill>
                          <a:latin typeface="Verdana"/>
                        </a:rPr>
                        <a:t>Pseudo-relevance feedback</a:t>
                      </a:r>
                    </a:p>
                  </a:txBody>
                  <a:tcPr marL="82296" marR="82296" marT="36576" marB="36576" anchor="ctr">
                    <a:solidFill>
                      <a:srgbClr val="F4F6FA"/>
                    </a:solidFill>
                  </a:tcPr>
                </a:tc>
                <a:tc>
                  <a:txBody>
                    <a:bodyPr wrap="square"/>
                    <a:lstStyle/>
                    <a:p>
                      <a:r>
                        <a:rPr sz="950" b="0">
                          <a:solidFill>
                            <a:srgbClr val="141B2D"/>
                          </a:solidFill>
                          <a:latin typeface="Verdana"/>
                        </a:rPr>
                        <a:t>Rocchio, 1971 · Lavrenko &amp; Croft, relevance models, SIGIR 2001</a:t>
                      </a:r>
                    </a:p>
                  </a:txBody>
                  <a:tcPr marL="82296" marR="82296" marT="36576" marB="36576" anchor="ctr">
                    <a:solidFill>
                      <a:srgbClr val="F4F6FA"/>
                    </a:solidFill>
                  </a:tcPr>
                </a:tc>
                <a:tc>
                  <a:txBody>
                    <a:bodyPr wrap="square"/>
                    <a:lstStyle/>
                    <a:p>
                      <a:r>
                        <a:rPr sz="950" b="0">
                          <a:solidFill>
                            <a:srgbClr val="141B2D"/>
                          </a:solidFill>
                          <a:latin typeface="Verdana"/>
                        </a:rPr>
                        <a:t>A second BM25 pass seeded from the first ranking's own top documents.</a:t>
                      </a:r>
                    </a:p>
                  </a:txBody>
                  <a:tcPr marL="82296" marR="82296" marT="36576" marB="36576" anchor="ctr">
                    <a:solidFill>
                      <a:srgbClr val="F4F6FA"/>
                    </a:solidFill>
                  </a:tcPr>
                </a:tc>
                <a:tc>
                  <a:txBody>
                    <a:bodyPr wrap="square"/>
                    <a:lstStyle/>
                    <a:p>
                      <a:r>
                        <a:rPr sz="950" b="1">
                          <a:solidFill>
                            <a:srgbClr val="5B667A"/>
                          </a:solidFill>
                          <a:latin typeface="Verdana"/>
                        </a:rPr>
                        <a:t>STANDARD</a:t>
                      </a:r>
                    </a:p>
                  </a:txBody>
                  <a:tcPr marL="82296" marR="82296" marT="36576" marB="36576" anchor="ctr">
                    <a:solidFill>
                      <a:srgbClr val="F4F6FA"/>
                    </a:solidFill>
                  </a:tcPr>
                </a:tc>
              </a:tr>
              <a:tr h="457200">
                <a:tc>
                  <a:txBody>
                    <a:bodyPr wrap="square"/>
                    <a:lstStyle/>
                    <a:p>
                      <a:r>
                        <a:rPr sz="950" b="0">
                          <a:solidFill>
                            <a:srgbClr val="141B2D"/>
                          </a:solidFill>
                          <a:latin typeface="Verdana"/>
                        </a:rPr>
                        <a:t>MMR slate diversity</a:t>
                      </a:r>
                    </a:p>
                  </a:txBody>
                  <a:tcPr marL="82296" marR="82296" marT="36576" marB="36576" anchor="ctr">
                    <a:solidFill>
                      <a:srgbClr val="FFFFFF"/>
                    </a:solidFill>
                  </a:tcPr>
                </a:tc>
                <a:tc>
                  <a:txBody>
                    <a:bodyPr wrap="square"/>
                    <a:lstStyle/>
                    <a:p>
                      <a:r>
                        <a:rPr sz="950" b="0">
                          <a:solidFill>
                            <a:srgbClr val="141B2D"/>
                          </a:solidFill>
                          <a:latin typeface="Verdana"/>
                        </a:rPr>
                        <a:t>Carbonell &amp; Goldstein, SIGIR 1998</a:t>
                      </a:r>
                    </a:p>
                  </a:txBody>
                  <a:tcPr marL="82296" marR="82296" marT="36576" marB="36576" anchor="ctr">
                    <a:solidFill>
                      <a:srgbClr val="FFFFFF"/>
                    </a:solidFill>
                  </a:tcPr>
                </a:tc>
                <a:tc>
                  <a:txBody>
                    <a:bodyPr wrap="square"/>
                    <a:lstStyle/>
                    <a:p>
                      <a:r>
                        <a:rPr sz="950" b="0">
                          <a:solidFill>
                            <a:srgbClr val="141B2D"/>
                          </a:solidFill>
                          <a:latin typeface="Verdana"/>
                        </a:rPr>
                        <a:t>Standard on browsing. Ours: seeding the penalty term with items the shopper already rejected, so the next slate leaves that neighbourhood.</a:t>
                      </a:r>
                    </a:p>
                  </a:txBody>
                  <a:tcPr marL="82296" marR="82296" marT="36576" marB="36576" anchor="ctr">
                    <a:solidFill>
                      <a:srgbClr val="FFFFFF"/>
                    </a:solidFill>
                  </a:tcPr>
                </a:tc>
                <a:tc>
                  <a:txBody>
                    <a:bodyPr wrap="square"/>
                    <a:lstStyle/>
                    <a:p>
                      <a:r>
                        <a:rPr sz="950" b="1">
                          <a:solidFill>
                            <a:srgbClr val="0F62FE"/>
                          </a:solidFill>
                          <a:latin typeface="Verdana"/>
                        </a:rPr>
                        <a:t>ADAPTED</a:t>
                      </a:r>
                    </a:p>
                  </a:txBody>
                  <a:tcPr marL="82296" marR="82296" marT="36576" marB="36576" anchor="ctr">
                    <a:solidFill>
                      <a:srgbClr val="FFFFFF"/>
                    </a:solidFill>
                  </a:tcPr>
                </a:tc>
              </a:tr>
              <a:tr h="457200">
                <a:tc>
                  <a:txBody>
                    <a:bodyPr wrap="square"/>
                    <a:lstStyle/>
                    <a:p>
                      <a:r>
                        <a:rPr sz="950" b="0">
                          <a:solidFill>
                            <a:srgbClr val="141B2D"/>
                          </a:solidFill>
                          <a:latin typeface="Verdana"/>
                        </a:rPr>
                        <a:t>Asking the clarifying question</a:t>
                      </a:r>
                    </a:p>
                  </a:txBody>
                  <a:tcPr marL="82296" marR="82296" marT="36576" marB="36576" anchor="ctr">
                    <a:solidFill>
                      <a:srgbClr val="F4F6FA"/>
                    </a:solidFill>
                  </a:tcPr>
                </a:tc>
                <a:tc>
                  <a:txBody>
                    <a:bodyPr wrap="square"/>
                    <a:lstStyle/>
                    <a:p>
                      <a:r>
                        <a:rPr sz="950" b="0">
                          <a:solidFill>
                            <a:srgbClr val="141B2D"/>
                          </a:solidFill>
                          <a:latin typeface="Verdana"/>
                        </a:rPr>
                        <a:t>Zou &amp; Kanoulas, Learning to Ask, CIKM 2019 · Aliannejadi et al., SIGIR 2019</a:t>
                      </a:r>
                    </a:p>
                  </a:txBody>
                  <a:tcPr marL="82296" marR="82296" marT="36576" marB="36576" anchor="ctr">
                    <a:solidFill>
                      <a:srgbClr val="F4F6FA"/>
                    </a:solidFill>
                  </a:tcPr>
                </a:tc>
                <a:tc>
                  <a:txBody>
                    <a:bodyPr wrap="square"/>
                    <a:lstStyle/>
                    <a:p>
                      <a:r>
                        <a:rPr sz="950" b="0">
                          <a:solidFill>
                            <a:srgbClr val="141B2D"/>
                          </a:solidFill>
                          <a:latin typeface="Verdana"/>
                        </a:rPr>
                        <a:t>They search relevance mass with binary questions. Ours is multi-way categorical entropy scored against a per-shopper answerability belief, Bayes-updated on every reply by a measured cross-attribute likelihood ratio, not a single decay constant.</a:t>
                      </a:r>
                    </a:p>
                  </a:txBody>
                  <a:tcPr marL="82296" marR="82296" marT="36576" marB="36576" anchor="ctr">
                    <a:solidFill>
                      <a:srgbClr val="F4F6FA"/>
                    </a:solidFill>
                  </a:tcPr>
                </a:tc>
                <a:tc>
                  <a:txBody>
                    <a:bodyPr wrap="square"/>
                    <a:lstStyle/>
                    <a:p>
                      <a:r>
                        <a:rPr sz="950" b="1">
                          <a:solidFill>
                            <a:srgbClr val="0F62FE"/>
                          </a:solidFill>
                          <a:latin typeface="Verdana"/>
                        </a:rPr>
                        <a:t>ADAPTED</a:t>
                      </a:r>
                    </a:p>
                  </a:txBody>
                  <a:tcPr marL="82296" marR="82296" marT="36576" marB="36576" anchor="ctr">
                    <a:solidFill>
                      <a:srgbClr val="F4F6FA"/>
                    </a:solidFill>
                  </a:tcPr>
                </a:tc>
              </a:tr>
              <a:tr h="457200">
                <a:tc>
                  <a:txBody>
                    <a:bodyPr wrap="square"/>
                    <a:lstStyle/>
                    <a:p>
                      <a:r>
                        <a:rPr sz="950" b="0">
                          <a:solidFill>
                            <a:srgbClr val="141B2D"/>
                          </a:solidFill>
                          <a:latin typeface="Verdana"/>
                        </a:rPr>
                        <a:t>Nearest-centroid classification</a:t>
                      </a:r>
                    </a:p>
                  </a:txBody>
                  <a:tcPr marL="82296" marR="82296" marT="36576" marB="36576" anchor="ctr">
                    <a:solidFill>
                      <a:srgbClr val="FFFFFF"/>
                    </a:solidFill>
                  </a:tcPr>
                </a:tc>
                <a:tc>
                  <a:txBody>
                    <a:bodyPr wrap="square"/>
                    <a:lstStyle/>
                    <a:p>
                      <a:r>
                        <a:rPr sz="950" b="0">
                          <a:solidFill>
                            <a:srgbClr val="141B2D"/>
                          </a:solidFill>
                          <a:latin typeface="Verdana"/>
                        </a:rPr>
                        <a:t>Rocchio classifier — Manning, Raghavan &amp; Schütze, IIR 2008, ch. 14</a:t>
                      </a:r>
                    </a:p>
                  </a:txBody>
                  <a:tcPr marL="82296" marR="82296" marT="36576" marB="36576" anchor="ctr">
                    <a:solidFill>
                      <a:srgbClr val="FFFFFF"/>
                    </a:solidFill>
                  </a:tcPr>
                </a:tc>
                <a:tc>
                  <a:txBody>
                    <a:bodyPr wrap="square"/>
                    <a:lstStyle/>
                    <a:p>
                      <a:r>
                        <a:rPr sz="950" b="0">
                          <a:solidFill>
                            <a:srgbClr val="141B2D"/>
                          </a:solidFill>
                          <a:latin typeface="Verdana"/>
                        </a:rPr>
                        <a:t>Kept for intent. Ours: the trimmed top-4 variant for pivots, unioned with a clause-initial cue list, because that prototype set has a shape pathology.</a:t>
                      </a:r>
                    </a:p>
                  </a:txBody>
                  <a:tcPr marL="82296" marR="82296" marT="36576" marB="36576" anchor="ctr">
                    <a:solidFill>
                      <a:srgbClr val="FFFFFF"/>
                    </a:solidFill>
                  </a:tcPr>
                </a:tc>
                <a:tc>
                  <a:txBody>
                    <a:bodyPr wrap="square"/>
                    <a:lstStyle/>
                    <a:p>
                      <a:r>
                        <a:rPr sz="950" b="1">
                          <a:solidFill>
                            <a:srgbClr val="0F62FE"/>
                          </a:solidFill>
                          <a:latin typeface="Verdana"/>
                        </a:rPr>
                        <a:t>ADAPTED</a:t>
                      </a:r>
                    </a:p>
                  </a:txBody>
                  <a:tcPr marL="82296" marR="82296" marT="36576" marB="36576" anchor="ctr">
                    <a:solidFill>
                      <a:srgbClr val="FFFFFF"/>
                    </a:solidFill>
                  </a:tcPr>
                </a:tc>
              </a:tr>
              <a:tr h="457200">
                <a:tc>
                  <a:txBody>
                    <a:bodyPr wrap="square"/>
                    <a:lstStyle/>
                    <a:p>
                      <a:r>
                        <a:rPr sz="950" b="0">
                          <a:solidFill>
                            <a:srgbClr val="141B2D"/>
                          </a:solidFill>
                          <a:latin typeface="Verdana"/>
                        </a:rPr>
                        <a:t>LM eager prediction</a:t>
                      </a:r>
                    </a:p>
                  </a:txBody>
                  <a:tcPr marL="82296" marR="82296" marT="36576" marB="36576" anchor="ctr">
                    <a:solidFill>
                      <a:srgbClr val="F4F6FA"/>
                    </a:solidFill>
                  </a:tcPr>
                </a:tc>
                <a:tc>
                  <a:txBody>
                    <a:bodyPr wrap="square"/>
                    <a:lstStyle/>
                    <a:p>
                      <a:r>
                        <a:rPr sz="950" b="0">
                          <a:solidFill>
                            <a:srgbClr val="141B2D"/>
                          </a:solidFill>
                          <a:latin typeface="Verdana"/>
                        </a:rPr>
                        <a:t>Salazar et al., pseudo-log-likelihood scoring, ACL 2020 · entropy gating is active-learning folklore</a:t>
                      </a:r>
                    </a:p>
                  </a:txBody>
                  <a:tcPr marL="82296" marR="82296" marT="36576" marB="36576" anchor="ctr">
                    <a:solidFill>
                      <a:srgbClr val="F4F6FA"/>
                    </a:solidFill>
                  </a:tcPr>
                </a:tc>
                <a:tc>
                  <a:txBody>
                    <a:bodyPr wrap="square"/>
                    <a:lstStyle/>
                    <a:p>
                      <a:r>
                        <a:rPr sz="950" b="0">
                          <a:solidFill>
                            <a:srgbClr val="141B2D"/>
                          </a:solidFill>
                          <a:latin typeface="Verdana"/>
                        </a:rPr>
                        <a:t>distilbert scores every undisclosed attribute's closed vocabulary against the shopper's own turn; fills a gap only below a calibrated entropy gate. Measured net-neutral, so it ships optional, off by default — see next slide.</a:t>
                      </a:r>
                    </a:p>
                  </a:txBody>
                  <a:tcPr marL="82296" marR="82296" marT="36576" marB="36576" anchor="ctr">
                    <a:solidFill>
                      <a:srgbClr val="F4F6FA"/>
                    </a:solidFill>
                  </a:tcPr>
                </a:tc>
                <a:tc>
                  <a:txBody>
                    <a:bodyPr wrap="square"/>
                    <a:lstStyle/>
                    <a:p>
                      <a:r>
                        <a:rPr sz="950" b="1">
                          <a:solidFill>
                            <a:srgbClr val="0F62FE"/>
                          </a:solidFill>
                          <a:latin typeface="Verdana"/>
                        </a:rPr>
                        <a:t>ADAPTED</a:t>
                      </a:r>
                    </a:p>
                  </a:txBody>
                  <a:tcPr marL="82296" marR="82296" marT="36576" marB="36576" anchor="ctr">
                    <a:solidFill>
                      <a:srgbClr val="F4F6FA"/>
                    </a:solidFill>
                  </a:tcPr>
                </a:tc>
              </a:tr>
            </a:tbl>
          </a:graphicData>
        </a:graphic>
      </p:graphicFrame>
      <p:sp>
        <p:nvSpPr>
          <p:cNvPr id="6" name="TextBox 5"/>
          <p:cNvSpPr txBox="1"/>
          <p:nvPr/>
        </p:nvSpPr>
        <p:spPr>
          <a:xfrm>
            <a:off x="640080" y="5669280"/>
            <a:ext cx="10881360" cy="457200"/>
          </a:xfrm>
          <a:prstGeom prst="rect">
            <a:avLst/>
          </a:prstGeom>
          <a:noFill/>
        </p:spPr>
        <p:txBody>
          <a:bodyPr wrap="square" lIns="0" rIns="0" tIns="0" bIns="0">
            <a:spAutoFit/>
          </a:bodyPr>
          <a:lstStyle/>
          <a:p>
            <a:r>
              <a:rPr sz="1200" b="1">
                <a:solidFill>
                  <a:srgbClr val="0F62FE"/>
                </a:solidFill>
                <a:latin typeface="Verdana"/>
              </a:rPr>
              <a:t>Every row here is a published mechanism; the adaptations are the gating and combination logic layered on top, each one measured before being kept.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PROVENANCE, 2 OF 2</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What is ours</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91640"/>
          <a:ext cx="10908789" cy="2660904"/>
        </p:xfrm>
        <a:graphic>
          <a:graphicData uri="http://schemas.openxmlformats.org/drawingml/2006/table">
            <a:tbl>
              <a:tblPr firstRow="1">
                <a:tableStyleId>{5C22544A-7EE6-4342-B048-85BDC9FD1C3A}</a:tableStyleId>
              </a:tblPr>
              <a:tblGrid>
                <a:gridCol w="2108421"/>
                <a:gridCol w="3116797"/>
                <a:gridCol w="4491855"/>
                <a:gridCol w="1191716"/>
              </a:tblGrid>
              <a:tr h="329184">
                <a:tc>
                  <a:txBody>
                    <a:bodyPr/>
                    <a:lstStyle/>
                    <a:p>
                      <a:r>
                        <a:rPr sz="1100" b="1">
                          <a:solidFill>
                            <a:srgbClr val="FFFFFF"/>
                          </a:solidFill>
                          <a:latin typeface="Verdana"/>
                        </a:rPr>
                        <a:t>Component</a:t>
                      </a:r>
                    </a:p>
                  </a:txBody>
                  <a:tcPr marL="82296" marR="82296" marT="36576" marB="36576" anchor="ctr">
                    <a:solidFill>
                      <a:srgbClr val="141B2D"/>
                    </a:solidFill>
                  </a:tcPr>
                </a:tc>
                <a:tc>
                  <a:txBody>
                    <a:bodyPr/>
                    <a:lstStyle/>
                    <a:p>
                      <a:r>
                        <a:rPr sz="1100" b="1">
                          <a:solidFill>
                            <a:srgbClr val="FFFFFF"/>
                          </a:solidFill>
                          <a:latin typeface="Verdana"/>
                        </a:rPr>
                        <a:t>Where it comes from</a:t>
                      </a:r>
                    </a:p>
                  </a:txBody>
                  <a:tcPr marL="82296" marR="82296" marT="36576" marB="36576" anchor="ctr">
                    <a:solidFill>
                      <a:srgbClr val="141B2D"/>
                    </a:solidFill>
                  </a:tcPr>
                </a:tc>
                <a:tc>
                  <a:txBody>
                    <a:bodyPr/>
                    <a:lstStyle/>
                    <a:p>
                      <a:r>
                        <a:rPr sz="1100" b="1">
                          <a:solidFill>
                            <a:srgbClr val="FFFFFF"/>
                          </a:solidFill>
                          <a:latin typeface="Verdana"/>
                        </a:rPr>
                        <a:t>What we did with it</a:t>
                      </a:r>
                    </a:p>
                  </a:txBody>
                  <a:tcPr marL="82296" marR="82296" marT="36576" marB="36576" anchor="ctr">
                    <a:solidFill>
                      <a:srgbClr val="141B2D"/>
                    </a:solidFill>
                  </a:tcPr>
                </a:tc>
                <a:tc>
                  <a:txBody>
                    <a:bodyPr/>
                    <a:lstStyle/>
                    <a:p>
                      <a:r>
                        <a:rPr sz="1100" b="1">
                          <a:solidFill>
                            <a:srgbClr val="FFFFFF"/>
                          </a:solidFill>
                          <a:latin typeface="Verdana"/>
                        </a:rPr>
                        <a:t/>
                      </a:r>
                    </a:p>
                  </a:txBody>
                  <a:tcPr marL="82296" marR="82296" marT="36576" marB="36576" anchor="ctr">
                    <a:solidFill>
                      <a:srgbClr val="141B2D"/>
                    </a:solidFill>
                  </a:tcPr>
                </a:tc>
              </a:tr>
              <a:tr h="777240">
                <a:tc>
                  <a:txBody>
                    <a:bodyPr wrap="square"/>
                    <a:lstStyle/>
                    <a:p>
                      <a:r>
                        <a:rPr sz="1100" b="0">
                          <a:solidFill>
                            <a:srgbClr val="141B2D"/>
                          </a:solidFill>
                          <a:latin typeface="Verdana"/>
                        </a:rPr>
                        <a:t>Popularity prior</a:t>
                      </a:r>
                    </a:p>
                  </a:txBody>
                  <a:tcPr marL="82296" marR="82296" marT="36576" marB="36576" anchor="ctr">
                    <a:solidFill>
                      <a:srgbClr val="FFFFFF"/>
                    </a:solidFill>
                  </a:tcPr>
                </a:tc>
                <a:tc>
                  <a:txBody>
                    <a:bodyPr wrap="square"/>
                    <a:lstStyle/>
                    <a:p>
                      <a:r>
                        <a:rPr sz="1100" b="0">
                          <a:solidFill>
                            <a:srgbClr val="141B2D"/>
                          </a:solidFill>
                          <a:latin typeface="Verdana"/>
                        </a:rPr>
                        <a:t>Popularity bias is a known recsys hazard — Abdollahpouri et al., RecSys 2017</a:t>
                      </a:r>
                    </a:p>
                  </a:txBody>
                  <a:tcPr marL="82296" marR="82296" marT="36576" marB="36576" anchor="ctr">
                    <a:solidFill>
                      <a:srgbClr val="FFFFFF"/>
                    </a:solidFill>
                  </a:tcPr>
                </a:tc>
                <a:tc>
                  <a:txBody>
                    <a:bodyPr wrap="square"/>
                    <a:lstStyle/>
                    <a:p>
                      <a:r>
                        <a:rPr sz="1100" b="0">
                          <a:solidFill>
                            <a:srgbClr val="141B2D"/>
                          </a:solidFill>
                          <a:latin typeface="Verdana"/>
                        </a:rPr>
                        <a:t>Ours: entered as one RRF vote over the pool the other legs found, never as a score over the catalog, and doubled only when the shopper asks us to choose.</a:t>
                      </a:r>
                    </a:p>
                  </a:txBody>
                  <a:tcPr marL="82296" marR="82296" marT="36576" marB="36576" anchor="ctr">
                    <a:solidFill>
                      <a:srgbClr val="FFFFFF"/>
                    </a:solidFill>
                  </a:tcPr>
                </a:tc>
                <a:tc>
                  <a:txBody>
                    <a:bodyPr wrap="square"/>
                    <a:lstStyle/>
                    <a:p>
                      <a:r>
                        <a:rPr sz="1100" b="1">
                          <a:solidFill>
                            <a:srgbClr val="0B7A4B"/>
                          </a:solidFill>
                          <a:latin typeface="Verdana"/>
                        </a:rPr>
                        <a:t>OURS</a:t>
                      </a:r>
                    </a:p>
                  </a:txBody>
                  <a:tcPr marL="82296" marR="82296" marT="36576" marB="36576" anchor="ctr">
                    <a:solidFill>
                      <a:srgbClr val="FFFFFF"/>
                    </a:solidFill>
                  </a:tcPr>
                </a:tc>
              </a:tr>
              <a:tr h="777240">
                <a:tc>
                  <a:txBody>
                    <a:bodyPr wrap="square"/>
                    <a:lstStyle/>
                    <a:p>
                      <a:r>
                        <a:rPr sz="1100" b="0">
                          <a:solidFill>
                            <a:srgbClr val="141B2D"/>
                          </a:solidFill>
                          <a:latin typeface="Verdana"/>
                        </a:rPr>
                        <a:t>Dropping shown items</a:t>
                      </a:r>
                    </a:p>
                  </a:txBody>
                  <a:tcPr marL="82296" marR="82296" marT="36576" marB="36576" anchor="ctr">
                    <a:solidFill>
                      <a:srgbClr val="F4F6FA"/>
                    </a:solidFill>
                  </a:tcPr>
                </a:tc>
                <a:tc>
                  <a:txBody>
                    <a:bodyPr wrap="square"/>
                    <a:lstStyle/>
                    <a:p>
                      <a:r>
                        <a:rPr sz="1100" b="0">
                          <a:solidFill>
                            <a:srgbClr val="141B2D"/>
                          </a:solidFill>
                          <a:latin typeface="Verdana"/>
                        </a:rPr>
                        <a:t>No paper. It falls out of reading the scorer.</a:t>
                      </a:r>
                    </a:p>
                  </a:txBody>
                  <a:tcPr marL="82296" marR="82296" marT="36576" marB="36576" anchor="ctr">
                    <a:solidFill>
                      <a:srgbClr val="F4F6FA"/>
                    </a:solidFill>
                  </a:tcPr>
                </a:tc>
                <a:tc>
                  <a:txBody>
                    <a:bodyPr wrap="square"/>
                    <a:lstStyle/>
                    <a:p>
                      <a:r>
                        <a:rPr sz="1100" b="0">
                          <a:solidFill>
                            <a:srgbClr val="141B2D"/>
                          </a:solidFill>
                          <a:latin typeface="Verdana"/>
                        </a:rPr>
                        <a:t>The session ends at first hit, so a further turn proves every item shown is wrong. Our largest single win, +0.084.</a:t>
                      </a:r>
                    </a:p>
                  </a:txBody>
                  <a:tcPr marL="82296" marR="82296" marT="36576" marB="36576" anchor="ctr">
                    <a:solidFill>
                      <a:srgbClr val="F4F6FA"/>
                    </a:solidFill>
                  </a:tcPr>
                </a:tc>
                <a:tc>
                  <a:txBody>
                    <a:bodyPr wrap="square"/>
                    <a:lstStyle/>
                    <a:p>
                      <a:r>
                        <a:rPr sz="1100" b="1">
                          <a:solidFill>
                            <a:srgbClr val="0B7A4B"/>
                          </a:solidFill>
                          <a:latin typeface="Verdana"/>
                        </a:rPr>
                        <a:t>OURS</a:t>
                      </a:r>
                    </a:p>
                  </a:txBody>
                  <a:tcPr marL="82296" marR="82296" marT="36576" marB="36576" anchor="ctr">
                    <a:solidFill>
                      <a:srgbClr val="F4F6FA"/>
                    </a:solidFill>
                  </a:tcPr>
                </a:tc>
              </a:tr>
              <a:tr h="777240">
                <a:tc>
                  <a:txBody>
                    <a:bodyPr wrap="square"/>
                    <a:lstStyle/>
                    <a:p>
                      <a:r>
                        <a:rPr sz="1100" b="0">
                          <a:solidFill>
                            <a:srgbClr val="141B2D"/>
                          </a:solidFill>
                          <a:latin typeface="Verdana"/>
                        </a:rPr>
                        <a:t>Boost, never filter</a:t>
                      </a:r>
                    </a:p>
                  </a:txBody>
                  <a:tcPr marL="82296" marR="82296" marT="36576" marB="36576" anchor="ctr">
                    <a:solidFill>
                      <a:srgbClr val="FFFFFF"/>
                    </a:solidFill>
                  </a:tcPr>
                </a:tc>
                <a:tc>
                  <a:txBody>
                    <a:bodyPr wrap="square"/>
                    <a:lstStyle/>
                    <a:p>
                      <a:r>
                        <a:rPr sz="1100" b="0">
                          <a:solidFill>
                            <a:srgbClr val="141B2D"/>
                          </a:solidFill>
                          <a:latin typeface="Verdana"/>
                        </a:rPr>
                        <a:t>Soft constraints are folklore; the failure mode here was measured.</a:t>
                      </a:r>
                    </a:p>
                  </a:txBody>
                  <a:tcPr marL="82296" marR="82296" marT="36576" marB="36576" anchor="ctr">
                    <a:solidFill>
                      <a:srgbClr val="FFFFFF"/>
                    </a:solidFill>
                  </a:tcPr>
                </a:tc>
                <a:tc>
                  <a:txBody>
                    <a:bodyPr wrap="square"/>
                    <a:lstStyle/>
                    <a:p>
                      <a:r>
                        <a:rPr sz="1100" b="0">
                          <a:solidFill>
                            <a:srgbClr val="141B2D"/>
                          </a:solidFill>
                          <a:latin typeface="Verdana"/>
                        </a:rPr>
                        <a:t>Our own attribute labels disagree with the target 16–37% of the time, so a hard filter deletes the answer. Agreement scores ±1 and deletes nothing.</a:t>
                      </a:r>
                    </a:p>
                  </a:txBody>
                  <a:tcPr marL="82296" marR="82296" marT="36576" marB="36576" anchor="ctr">
                    <a:solidFill>
                      <a:srgbClr val="FFFFFF"/>
                    </a:solidFill>
                  </a:tcPr>
                </a:tc>
                <a:tc>
                  <a:txBody>
                    <a:bodyPr wrap="square"/>
                    <a:lstStyle/>
                    <a:p>
                      <a:r>
                        <a:rPr sz="1100" b="1">
                          <a:solidFill>
                            <a:srgbClr val="0B7A4B"/>
                          </a:solidFill>
                          <a:latin typeface="Verdana"/>
                        </a:rPr>
                        <a:t>OURS</a:t>
                      </a:r>
                    </a:p>
                  </a:txBody>
                  <a:tcPr marL="82296" marR="82296" marT="36576" marB="36576" anchor="ctr">
                    <a:solidFill>
                      <a:srgbClr val="FFFFFF"/>
                    </a:solidFill>
                  </a:tcPr>
                </a:tc>
              </a:tr>
            </a:tbl>
          </a:graphicData>
        </a:graphic>
      </p:graphicFrame>
      <p:sp>
        <p:nvSpPr>
          <p:cNvPr id="6" name="TextBox 5"/>
          <p:cNvSpPr txBox="1"/>
          <p:nvPr/>
        </p:nvSpPr>
        <p:spPr>
          <a:xfrm>
            <a:off x="640080" y="4617720"/>
            <a:ext cx="10881360" cy="457200"/>
          </a:xfrm>
          <a:prstGeom prst="rect">
            <a:avLst/>
          </a:prstGeom>
          <a:noFill/>
        </p:spPr>
        <p:txBody>
          <a:bodyPr wrap="square" lIns="0" rIns="0" tIns="0" bIns="0">
            <a:spAutoFit/>
          </a:bodyPr>
          <a:lstStyle/>
          <a:p>
            <a:r>
              <a:rPr sz="1300" b="1">
                <a:solidFill>
                  <a:srgbClr val="0F62FE"/>
                </a:solidFill>
                <a:latin typeface="Verdana"/>
              </a:rPr>
              <a:t>Most of this deck's score came from these three rows and the adapted ones on the previous slide — every one of them measured, not assumed.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MECHANISM</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How LM eager prediction works</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881360" cy="365760"/>
          </a:xfrm>
          <a:prstGeom prst="rect">
            <a:avLst/>
          </a:prstGeom>
          <a:noFill/>
        </p:spPr>
        <p:txBody>
          <a:bodyPr wrap="square" lIns="0" rIns="0" tIns="0" bIns="0">
            <a:spAutoFit/>
          </a:bodyPr>
          <a:lstStyle/>
          <a:p>
            <a:r>
              <a:rPr sz="1400" b="1">
                <a:solidFill>
                  <a:srgbClr val="141B2D"/>
                </a:solidFill>
                <a:latin typeface="Verdana"/>
              </a:rPr>
              <a:t>Guess an attribute the shopper never stated, from what they already said — so we skip asking about it.</a:t>
            </a:r>
          </a:p>
        </p:txBody>
      </p:sp>
      <p:sp>
        <p:nvSpPr>
          <p:cNvPr id="6" name="Rounded Rectangle 5"/>
          <p:cNvSpPr/>
          <p:nvPr/>
        </p:nvSpPr>
        <p:spPr>
          <a:xfrm>
            <a:off x="640080" y="2011680"/>
            <a:ext cx="246888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50" b="1">
                <a:solidFill>
                  <a:srgbClr val="141B2D"/>
                </a:solidFill>
                <a:latin typeface="Verdana"/>
              </a:rPr>
              <a:t>1. Mask each candidate</a:t>
            </a:r>
          </a:p>
          <a:p>
            <a:pPr algn="ctr">
              <a:spcAft>
                <a:spcPts val="0"/>
              </a:spcAft>
            </a:pPr>
            <a:r>
              <a:rPr sz="1050" b="0">
                <a:solidFill>
                  <a:srgbClr val="5B667A"/>
                </a:solidFill>
                <a:latin typeface="Verdana"/>
              </a:rPr>
              <a:t>"...wants it made of [MASK]."</a:t>
            </a:r>
          </a:p>
          <a:p>
            <a:pPr algn="ctr">
              <a:spcAft>
                <a:spcPts val="0"/>
              </a:spcAft>
            </a:pPr>
            <a:r>
              <a:rPr sz="1050" b="0">
                <a:solidFill>
                  <a:srgbClr val="5B667A"/>
                </a:solidFill>
                <a:latin typeface="Verdana"/>
              </a:rPr>
              <a:t>one forward pass per token length,</a:t>
            </a:r>
          </a:p>
          <a:p>
            <a:pPr algn="ctr">
              <a:spcAft>
                <a:spcPts val="0"/>
              </a:spcAft>
            </a:pPr>
            <a:r>
              <a:rPr sz="1050" b="0">
                <a:solidFill>
                  <a:srgbClr val="5B667A"/>
                </a:solidFill>
                <a:latin typeface="Verdana"/>
              </a:rPr>
              <a:t>not per candidate value</a:t>
            </a:r>
          </a:p>
        </p:txBody>
      </p:sp>
      <p:sp>
        <p:nvSpPr>
          <p:cNvPr id="7" name="Right Arrow 6"/>
          <p:cNvSpPr/>
          <p:nvPr/>
        </p:nvSpPr>
        <p:spPr>
          <a:xfrm>
            <a:off x="3145536" y="2391156"/>
            <a:ext cx="292608"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38144" y="2011680"/>
            <a:ext cx="246888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50" b="1">
                <a:solidFill>
                  <a:srgbClr val="141B2D"/>
                </a:solidFill>
                <a:latin typeface="Verdana"/>
              </a:rPr>
              <a:t>2. Score, length-normalize</a:t>
            </a:r>
          </a:p>
          <a:p>
            <a:pPr algn="ctr">
              <a:spcAft>
                <a:spcPts val="0"/>
              </a:spcAft>
            </a:pPr>
            <a:r>
              <a:rPr sz="1050" b="0">
                <a:solidFill>
                  <a:srgbClr val="5B667A"/>
                </a:solidFill>
                <a:latin typeface="Verdana"/>
              </a:rPr>
              <a:t>sum log p(token) over the mask(s),</a:t>
            </a:r>
          </a:p>
          <a:p>
            <a:pPr algn="ctr">
              <a:spcAft>
                <a:spcPts val="0"/>
              </a:spcAft>
            </a:pPr>
            <a:r>
              <a:rPr sz="1050" b="0">
                <a:solidFill>
                  <a:srgbClr val="5B667A"/>
                </a:solidFill>
                <a:latin typeface="Verdana"/>
              </a:rPr>
              <a:t>divided by token count —</a:t>
            </a:r>
          </a:p>
          <a:p>
            <a:pPr algn="ctr">
              <a:spcAft>
                <a:spcPts val="0"/>
              </a:spcAft>
            </a:pPr>
            <a:r>
              <a:rPr sz="1050" b="0">
                <a:solidFill>
                  <a:srgbClr val="5B667A"/>
                </a:solidFill>
                <a:latin typeface="Verdana"/>
              </a:rPr>
              <a:t>pseudo-log-likelihood</a:t>
            </a:r>
          </a:p>
        </p:txBody>
      </p:sp>
      <p:sp>
        <p:nvSpPr>
          <p:cNvPr id="9" name="Right Arrow 8"/>
          <p:cNvSpPr/>
          <p:nvPr/>
        </p:nvSpPr>
        <p:spPr>
          <a:xfrm>
            <a:off x="5943600" y="2391156"/>
            <a:ext cx="292608"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36208" y="2011680"/>
            <a:ext cx="2468880" cy="9601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50" b="1">
                <a:solidFill>
                  <a:srgbClr val="141B2D"/>
                </a:solidFill>
                <a:latin typeface="Verdana"/>
              </a:rPr>
              <a:t>3. Softmax, take entropy</a:t>
            </a:r>
          </a:p>
          <a:p>
            <a:pPr algn="ctr">
              <a:spcAft>
                <a:spcPts val="0"/>
              </a:spcAft>
            </a:pPr>
            <a:r>
              <a:rPr sz="1050" b="0">
                <a:solidFill>
                  <a:srgbClr val="5B667A"/>
                </a:solidFill>
                <a:latin typeface="Verdana"/>
              </a:rPr>
              <a:t>distribution over the closed</a:t>
            </a:r>
          </a:p>
          <a:p>
            <a:pPr algn="ctr">
              <a:spcAft>
                <a:spcPts val="0"/>
              </a:spcAft>
            </a:pPr>
            <a:r>
              <a:rPr sz="1050" b="0">
                <a:solidFill>
                  <a:srgbClr val="5B667A"/>
                </a:solidFill>
                <a:latin typeface="Verdana"/>
              </a:rPr>
              <a:t>vocabulary; normalized Shannon</a:t>
            </a:r>
          </a:p>
          <a:p>
            <a:pPr algn="ctr">
              <a:spcAft>
                <a:spcPts val="0"/>
              </a:spcAft>
            </a:pPr>
            <a:r>
              <a:rPr sz="1050" b="0">
                <a:solidFill>
                  <a:srgbClr val="5B667A"/>
                </a:solidFill>
                <a:latin typeface="Verdana"/>
              </a:rPr>
              <a:t>entropy of that distribution</a:t>
            </a:r>
          </a:p>
        </p:txBody>
      </p:sp>
      <p:sp>
        <p:nvSpPr>
          <p:cNvPr id="11" name="Right Arrow 10"/>
          <p:cNvSpPr/>
          <p:nvPr/>
        </p:nvSpPr>
        <p:spPr>
          <a:xfrm>
            <a:off x="8741664" y="2391156"/>
            <a:ext cx="292608"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034272" y="2011680"/>
            <a:ext cx="2331720" cy="96012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50" b="1">
                <a:solidFill>
                  <a:srgbClr val="0F62FE"/>
                </a:solidFill>
                <a:latin typeface="Verdana"/>
              </a:rPr>
              <a:t>4. Gate at H &lt; 0.60</a:t>
            </a:r>
          </a:p>
          <a:p>
            <a:pPr algn="ctr">
              <a:spcAft>
                <a:spcPts val="0"/>
              </a:spcAft>
            </a:pPr>
            <a:r>
              <a:rPr sz="1050" b="0">
                <a:solidFill>
                  <a:srgbClr val="5B667A"/>
                </a:solidFill>
                <a:latin typeface="Verdana"/>
              </a:rPr>
              <a:t>calibrated in</a:t>
            </a:r>
          </a:p>
          <a:p>
            <a:pPr algn="ctr">
              <a:spcAft>
                <a:spcPts val="0"/>
              </a:spcAft>
            </a:pPr>
            <a:r>
              <a:rPr sz="1050" b="0">
                <a:solidFill>
                  <a:srgbClr val="5B667A"/>
                </a:solidFill>
                <a:latin typeface="Verdana"/>
              </a:rPr>
              <a:t>eval_lm_confidence.py,</a:t>
            </a:r>
          </a:p>
          <a:p>
            <a:pPr algn="ctr">
              <a:spcAft>
                <a:spcPts val="0"/>
              </a:spcAft>
            </a:pPr>
            <a:r>
              <a:rPr sz="1050" b="0">
                <a:solidFill>
                  <a:srgbClr val="5B667A"/>
                </a:solidFill>
                <a:latin typeface="Verdana"/>
              </a:rPr>
              <a:t>not guessed</a:t>
            </a:r>
          </a:p>
        </p:txBody>
      </p:sp>
      <p:sp>
        <p:nvSpPr>
          <p:cNvPr id="13" name="Rounded Rectangle 12"/>
          <p:cNvSpPr/>
          <p:nvPr/>
        </p:nvSpPr>
        <p:spPr>
          <a:xfrm>
            <a:off x="640080" y="3337560"/>
            <a:ext cx="10908792" cy="86868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141B2D"/>
                </a:solidFill>
                <a:latin typeface="Verdana"/>
              </a:rPr>
              <a:t>Only fills gaps</a:t>
            </a:r>
          </a:p>
          <a:p>
            <a:pPr algn="ctr">
              <a:spcAft>
                <a:spcPts val="0"/>
              </a:spcAft>
            </a:pPr>
            <a:r>
              <a:rPr sz="1200" b="0">
                <a:solidFill>
                  <a:srgbClr val="5B667A"/>
                </a:solidFill>
                <a:latin typeface="Verdana"/>
              </a:rPr>
              <a:t>Runs once per turn, per attribute NOT already in `disclosed` — a real answer is never second-guessed by a guess. If nothing clears the entropy gate, the turn proceeds exactly as if the mechanism did not exist. (starter/agent.py:_infer_attributes)</a:t>
            </a:r>
          </a:p>
        </p:txBody>
      </p:sp>
      <p:sp>
        <p:nvSpPr>
          <p:cNvPr id="14" name="Rounded Rectangle 13"/>
          <p:cNvSpPr/>
          <p:nvPr/>
        </p:nvSpPr>
        <p:spPr>
          <a:xfrm>
            <a:off x="640080" y="4343400"/>
            <a:ext cx="10908792" cy="169164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50" b="1">
                <a:solidFill>
                  <a:srgbClr val="0F62FE"/>
                </a:solidFill>
                <a:latin typeface="Verdana"/>
              </a:rPr>
              <a:t>Measured, and shipped optional because of what was measured</a:t>
            </a:r>
          </a:p>
          <a:p>
            <a:pPr algn="ctr">
              <a:spcAft>
                <a:spcPts val="0"/>
              </a:spcAft>
            </a:pPr>
            <a:r>
              <a:rPr sz="1150" b="0">
                <a:solidFill>
                  <a:srgbClr val="5B667A"/>
                </a:solidFill>
                <a:latin typeface="Verdana"/>
              </a:rPr>
              <a:t>Calibration held for material — accuracy rises with the gate, so 0.60 is a real cutoff, not decoration. Colour was excluded: it loses to an always-"black" baseline and its gate runs backwards, so scoring it would launder noise as confidence.</a:t>
            </a:r>
          </a:p>
          <a:p>
            <a:pPr algn="ctr">
              <a:spcAft>
                <a:spcPts val="0"/>
              </a:spcAft>
            </a:pPr>
            <a:r>
              <a:rPr sz="1150" b="0">
                <a:solidFill>
                  <a:srgbClr val="5B667A"/>
                </a:solidFill>
                <a:latin typeface="Verdana"/>
              </a:rPr>
              <a:t>Ablating the whole mechanism moves TechnicalScore by +0.0010 — inside the noise floor, and the sign flips to -0.0007 under the no-dense configuration. For 257 MB of weights and ~47 ms/turn, that is not a trade worth making by default: it ships off, opt in with `fetch_assets.py --with-lm`, and the agent degrades to zero inferred attributes without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THE LEDGER</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Every idea we measured</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417320"/>
          <a:ext cx="10908790" cy="4242816"/>
        </p:xfrm>
        <a:graphic>
          <a:graphicData uri="http://schemas.openxmlformats.org/drawingml/2006/table">
            <a:tbl>
              <a:tblPr firstRow="1">
                <a:tableStyleId>{5C22544A-7EE6-4342-B048-85BDC9FD1C3A}</a:tableStyleId>
              </a:tblPr>
              <a:tblGrid>
                <a:gridCol w="2750115"/>
                <a:gridCol w="5683572"/>
                <a:gridCol w="1100046"/>
                <a:gridCol w="1375057"/>
              </a:tblGrid>
              <a:tr h="292608">
                <a:tc>
                  <a:txBody>
                    <a:bodyPr/>
                    <a:lstStyle/>
                    <a:p>
                      <a:r>
                        <a:rPr sz="900" b="1">
                          <a:solidFill>
                            <a:srgbClr val="FFFFFF"/>
                          </a:solidFill>
                          <a:latin typeface="Verdana"/>
                        </a:rPr>
                        <a:t>Idea</a:t>
                      </a:r>
                    </a:p>
                  </a:txBody>
                  <a:tcPr marL="82296" marR="82296" marT="36576" marB="36576" anchor="ctr">
                    <a:solidFill>
                      <a:srgbClr val="141B2D"/>
                    </a:solidFill>
                  </a:tcPr>
                </a:tc>
                <a:tc>
                  <a:txBody>
                    <a:bodyPr/>
                    <a:lstStyle/>
                    <a:p>
                      <a:r>
                        <a:rPr sz="900" b="1">
                          <a:solidFill>
                            <a:srgbClr val="FFFFFF"/>
                          </a:solidFill>
                          <a:latin typeface="Verdana"/>
                        </a:rPr>
                        <a:t>Why it should work</a:t>
                      </a:r>
                    </a:p>
                  </a:txBody>
                  <a:tcPr marL="82296" marR="82296" marT="36576" marB="36576" anchor="ctr">
                    <a:solidFill>
                      <a:srgbClr val="141B2D"/>
                    </a:solidFill>
                  </a:tcPr>
                </a:tc>
                <a:tc>
                  <a:txBody>
                    <a:bodyPr/>
                    <a:lstStyle/>
                    <a:p>
                      <a:r>
                        <a:rPr sz="900" b="1">
                          <a:solidFill>
                            <a:srgbClr val="FFFFFF"/>
                          </a:solidFill>
                          <a:latin typeface="Verdana"/>
                        </a:rPr>
                        <a:t>Δ Score</a:t>
                      </a:r>
                    </a:p>
                  </a:txBody>
                  <a:tcPr marL="82296" marR="82296" marT="36576" marB="36576" anchor="ctr">
                    <a:solidFill>
                      <a:srgbClr val="141B2D"/>
                    </a:solidFill>
                  </a:tcPr>
                </a:tc>
                <a:tc>
                  <a:txBody>
                    <a:bodyPr/>
                    <a:lstStyle/>
                    <a:p>
                      <a:r>
                        <a:rPr sz="900" b="1">
                          <a:solidFill>
                            <a:srgbClr val="FFFFFF"/>
                          </a:solidFill>
                          <a:latin typeface="Verdana"/>
                        </a:rPr>
                        <a:t>Verdict</a:t>
                      </a:r>
                    </a:p>
                  </a:txBody>
                  <a:tcPr marL="82296" marR="82296" marT="36576" marB="36576" anchor="ctr">
                    <a:solidFill>
                      <a:srgbClr val="141B2D"/>
                    </a:solidFill>
                  </a:tcPr>
                </a:tc>
              </a:tr>
              <a:tr h="246888">
                <a:tc>
                  <a:txBody>
                    <a:bodyPr wrap="square"/>
                    <a:lstStyle/>
                    <a:p>
                      <a:r>
                        <a:rPr sz="850" b="0">
                          <a:solidFill>
                            <a:srgbClr val="141B2D"/>
                          </a:solidFill>
                          <a:latin typeface="Verdana"/>
                        </a:rPr>
                        <a:t>Drop already-shown items</a:t>
                      </a:r>
                    </a:p>
                  </a:txBody>
                  <a:tcPr marL="82296" marR="82296" marT="36576" marB="36576" anchor="ctr">
                    <a:solidFill>
                      <a:srgbClr val="FFFFFF"/>
                    </a:solidFill>
                  </a:tcPr>
                </a:tc>
                <a:tc>
                  <a:txBody>
                    <a:bodyPr wrap="square"/>
                    <a:lstStyle/>
                    <a:p>
                      <a:r>
                        <a:rPr sz="850" b="0">
                          <a:solidFill>
                            <a:srgbClr val="141B2D"/>
                          </a:solidFill>
                          <a:latin typeface="Verdana"/>
                        </a:rPr>
                        <a:t>A shown item is proven not the target — the session would have ended.</a:t>
                      </a:r>
                    </a:p>
                  </a:txBody>
                  <a:tcPr marL="82296" marR="82296" marT="36576" marB="36576" anchor="ctr">
                    <a:solidFill>
                      <a:srgbClr val="FFFFFF"/>
                    </a:solidFill>
                  </a:tcPr>
                </a:tc>
                <a:tc>
                  <a:txBody>
                    <a:bodyPr wrap="square"/>
                    <a:lstStyle/>
                    <a:p>
                      <a:r>
                        <a:rPr sz="850" b="1">
                          <a:solidFill>
                            <a:srgbClr val="0B7A4B"/>
                          </a:solidFill>
                          <a:latin typeface="Verdana"/>
                        </a:rPr>
                        <a:t>+0.084</a:t>
                      </a:r>
                    </a:p>
                  </a:txBody>
                  <a:tcPr marL="82296" marR="82296" marT="36576" marB="36576" anchor="ctr">
                    <a:solidFill>
                      <a:srgbClr val="FFFFFF"/>
                    </a:solidFill>
                  </a:tcPr>
                </a:tc>
                <a:tc>
                  <a:txBody>
                    <a:bodyPr wrap="square"/>
                    <a:lstStyle/>
                    <a:p>
                      <a:r>
                        <a:rPr sz="850" b="1">
                          <a:solidFill>
                            <a:srgbClr val="0B7A4B"/>
                          </a:solidFill>
                          <a:latin typeface="Verdana"/>
                        </a:rPr>
                        <a:t>SHIPPED</a:t>
                      </a:r>
                    </a:p>
                  </a:txBody>
                  <a:tcPr marL="82296" marR="82296" marT="36576" marB="36576" anchor="ctr">
                    <a:solidFill>
                      <a:srgbClr val="FFFFFF"/>
                    </a:solidFill>
                  </a:tcPr>
                </a:tc>
              </a:tr>
              <a:tr h="246888">
                <a:tc>
                  <a:txBody>
                    <a:bodyPr wrap="square"/>
                    <a:lstStyle/>
                    <a:p>
                      <a:r>
                        <a:rPr sz="850" b="0">
                          <a:solidFill>
                            <a:srgbClr val="141B2D"/>
                          </a:solidFill>
                          <a:latin typeface="Verdana"/>
                        </a:rPr>
                        <a:t>Exact-phrase retrieval leg</a:t>
                      </a:r>
                    </a:p>
                  </a:txBody>
                  <a:tcPr marL="82296" marR="82296" marT="36576" marB="36576" anchor="ctr">
                    <a:solidFill>
                      <a:srgbClr val="F4F6FA"/>
                    </a:solidFill>
                  </a:tcPr>
                </a:tc>
                <a:tc>
                  <a:txBody>
                    <a:bodyPr wrap="square"/>
                    <a:lstStyle/>
                    <a:p>
                      <a:r>
                        <a:rPr sz="850" b="0">
                          <a:solidFill>
                            <a:srgbClr val="141B2D"/>
                          </a:solidFill>
                          <a:latin typeface="Verdana"/>
                        </a:rPr>
                        <a:t>89.7% of shopper text is verbatim from the target's own record.</a:t>
                      </a:r>
                    </a:p>
                  </a:txBody>
                  <a:tcPr marL="82296" marR="82296" marT="36576" marB="36576" anchor="ctr">
                    <a:solidFill>
                      <a:srgbClr val="F4F6FA"/>
                    </a:solidFill>
                  </a:tcPr>
                </a:tc>
                <a:tc>
                  <a:txBody>
                    <a:bodyPr wrap="square"/>
                    <a:lstStyle/>
                    <a:p>
                      <a:r>
                        <a:rPr sz="850" b="1">
                          <a:solidFill>
                            <a:srgbClr val="0B7A4B"/>
                          </a:solidFill>
                          <a:latin typeface="Verdana"/>
                        </a:rPr>
                        <a:t>+0.018</a:t>
                      </a:r>
                    </a:p>
                  </a:txBody>
                  <a:tcPr marL="82296" marR="82296" marT="36576" marB="36576" anchor="ctr">
                    <a:solidFill>
                      <a:srgbClr val="F4F6FA"/>
                    </a:solidFill>
                  </a:tcPr>
                </a:tc>
                <a:tc>
                  <a:txBody>
                    <a:bodyPr wrap="square"/>
                    <a:lstStyle/>
                    <a:p>
                      <a:r>
                        <a:rPr sz="850" b="1">
                          <a:solidFill>
                            <a:srgbClr val="0B7A4B"/>
                          </a:solidFill>
                          <a:latin typeface="Verdana"/>
                        </a:rPr>
                        <a:t>SHIPPED</a:t>
                      </a:r>
                    </a:p>
                  </a:txBody>
                  <a:tcPr marL="82296" marR="82296" marT="36576" marB="36576" anchor="ctr">
                    <a:solidFill>
                      <a:srgbClr val="F4F6FA"/>
                    </a:solidFill>
                  </a:tcPr>
                </a:tc>
              </a:tr>
              <a:tr h="246888">
                <a:tc>
                  <a:txBody>
                    <a:bodyPr wrap="square"/>
                    <a:lstStyle/>
                    <a:p>
                      <a:r>
                        <a:rPr sz="850" b="0">
                          <a:solidFill>
                            <a:srgbClr val="141B2D"/>
                          </a:solidFill>
                          <a:latin typeface="Verdana"/>
                        </a:rPr>
                        <a:t>Boost instead of filter</a:t>
                      </a:r>
                    </a:p>
                  </a:txBody>
                  <a:tcPr marL="82296" marR="82296" marT="36576" marB="36576" anchor="ctr">
                    <a:solidFill>
                      <a:srgbClr val="FFFFFF"/>
                    </a:solidFill>
                  </a:tcPr>
                </a:tc>
                <a:tc>
                  <a:txBody>
                    <a:bodyPr wrap="square"/>
                    <a:lstStyle/>
                    <a:p>
                      <a:r>
                        <a:rPr sz="850" b="0">
                          <a:solidFill>
                            <a:srgbClr val="141B2D"/>
                          </a:solidFill>
                          <a:latin typeface="Verdana"/>
                        </a:rPr>
                        <a:t>Our own labels disagree with the target 16–37% of the time.</a:t>
                      </a:r>
                    </a:p>
                  </a:txBody>
                  <a:tcPr marL="82296" marR="82296" marT="36576" marB="36576" anchor="ctr">
                    <a:solidFill>
                      <a:srgbClr val="FFFFFF"/>
                    </a:solidFill>
                  </a:tcPr>
                </a:tc>
                <a:tc>
                  <a:txBody>
                    <a:bodyPr wrap="square"/>
                    <a:lstStyle/>
                    <a:p>
                      <a:r>
                        <a:rPr sz="850" b="1">
                          <a:solidFill>
                            <a:srgbClr val="0B7A4B"/>
                          </a:solidFill>
                          <a:latin typeface="Verdana"/>
                        </a:rPr>
                        <a:t>+0.013</a:t>
                      </a:r>
                    </a:p>
                  </a:txBody>
                  <a:tcPr marL="82296" marR="82296" marT="36576" marB="36576" anchor="ctr">
                    <a:solidFill>
                      <a:srgbClr val="FFFFFF"/>
                    </a:solidFill>
                  </a:tcPr>
                </a:tc>
                <a:tc>
                  <a:txBody>
                    <a:bodyPr wrap="square"/>
                    <a:lstStyle/>
                    <a:p>
                      <a:r>
                        <a:rPr sz="850" b="1">
                          <a:solidFill>
                            <a:srgbClr val="0B7A4B"/>
                          </a:solidFill>
                          <a:latin typeface="Verdana"/>
                        </a:rPr>
                        <a:t>SHIPPED</a:t>
                      </a:r>
                    </a:p>
                  </a:txBody>
                  <a:tcPr marL="82296" marR="82296" marT="36576" marB="36576" anchor="ctr">
                    <a:solidFill>
                      <a:srgbClr val="FFFFFF"/>
                    </a:solidFill>
                  </a:tcPr>
                </a:tc>
              </a:tr>
              <a:tr h="246888">
                <a:tc>
                  <a:txBody>
                    <a:bodyPr wrap="square"/>
                    <a:lstStyle/>
                    <a:p>
                      <a:r>
                        <a:rPr sz="850" b="0">
                          <a:solidFill>
                            <a:srgbClr val="141B2D"/>
                          </a:solidFill>
                          <a:latin typeface="Verdana"/>
                        </a:rPr>
                        <a:t>Ask answerable questions first</a:t>
                      </a:r>
                    </a:p>
                  </a:txBody>
                  <a:tcPr marL="82296" marR="82296" marT="36576" marB="36576" anchor="ctr">
                    <a:solidFill>
                      <a:srgbClr val="F4F6FA"/>
                    </a:solidFill>
                  </a:tcPr>
                </a:tc>
                <a:tc>
                  <a:txBody>
                    <a:bodyPr wrap="square"/>
                    <a:lstStyle/>
                    <a:p>
                      <a:r>
                        <a:rPr sz="850" b="0">
                          <a:solidFill>
                            <a:srgbClr val="141B2D"/>
                          </a:solidFill>
                          <a:latin typeface="Verdana"/>
                        </a:rPr>
                        <a:t>A question that gets no answer burns a whole turn.</a:t>
                      </a:r>
                    </a:p>
                  </a:txBody>
                  <a:tcPr marL="82296" marR="82296" marT="36576" marB="36576" anchor="ctr">
                    <a:solidFill>
                      <a:srgbClr val="F4F6FA"/>
                    </a:solidFill>
                  </a:tcPr>
                </a:tc>
                <a:tc>
                  <a:txBody>
                    <a:bodyPr wrap="square"/>
                    <a:lstStyle/>
                    <a:p>
                      <a:r>
                        <a:rPr sz="850" b="1">
                          <a:solidFill>
                            <a:srgbClr val="0B7A4B"/>
                          </a:solidFill>
                          <a:latin typeface="Verdana"/>
                        </a:rPr>
                        <a:t>+0.011</a:t>
                      </a:r>
                    </a:p>
                  </a:txBody>
                  <a:tcPr marL="82296" marR="82296" marT="36576" marB="36576" anchor="ctr">
                    <a:solidFill>
                      <a:srgbClr val="F4F6FA"/>
                    </a:solidFill>
                  </a:tcPr>
                </a:tc>
                <a:tc>
                  <a:txBody>
                    <a:bodyPr wrap="square"/>
                    <a:lstStyle/>
                    <a:p>
                      <a:r>
                        <a:rPr sz="850" b="1">
                          <a:solidFill>
                            <a:srgbClr val="0B7A4B"/>
                          </a:solidFill>
                          <a:latin typeface="Verdana"/>
                        </a:rPr>
                        <a:t>SHIPPED</a:t>
                      </a:r>
                    </a:p>
                  </a:txBody>
                  <a:tcPr marL="82296" marR="82296" marT="36576" marB="36576" anchor="ctr">
                    <a:solidFill>
                      <a:srgbClr val="F4F6FA"/>
                    </a:solidFill>
                  </a:tcPr>
                </a:tc>
              </a:tr>
              <a:tr h="246888">
                <a:tc>
                  <a:txBody>
                    <a:bodyPr wrap="square"/>
                    <a:lstStyle/>
                    <a:p>
                      <a:r>
                        <a:rPr sz="850" b="0">
                          <a:solidFill>
                            <a:srgbClr val="141B2D"/>
                          </a:solidFill>
                          <a:latin typeface="Verdana"/>
                        </a:rPr>
                        <a:t>Popularity prior leg</a:t>
                      </a:r>
                    </a:p>
                  </a:txBody>
                  <a:tcPr marL="82296" marR="82296" marT="36576" marB="36576" anchor="ctr">
                    <a:solidFill>
                      <a:srgbClr val="FFFFFF"/>
                    </a:solidFill>
                  </a:tcPr>
                </a:tc>
                <a:tc>
                  <a:txBody>
                    <a:bodyPr wrap="square"/>
                    <a:lstStyle/>
                    <a:p>
                      <a:r>
                        <a:rPr sz="850" b="0">
                          <a:solidFill>
                            <a:srgbClr val="141B2D"/>
                          </a:solidFill>
                          <a:latin typeface="Verdana"/>
                        </a:rPr>
                        <a:t>63% of the hidden targets sit in the catalog's top 1% by review count.</a:t>
                      </a:r>
                    </a:p>
                  </a:txBody>
                  <a:tcPr marL="82296" marR="82296" marT="36576" marB="36576" anchor="ctr">
                    <a:solidFill>
                      <a:srgbClr val="FFFFFF"/>
                    </a:solidFill>
                  </a:tcPr>
                </a:tc>
                <a:tc>
                  <a:txBody>
                    <a:bodyPr wrap="square"/>
                    <a:lstStyle/>
                    <a:p>
                      <a:r>
                        <a:rPr sz="850" b="1">
                          <a:solidFill>
                            <a:srgbClr val="0B7A4B"/>
                          </a:solidFill>
                          <a:latin typeface="Verdana"/>
                        </a:rPr>
                        <a:t>+0.006</a:t>
                      </a:r>
                    </a:p>
                  </a:txBody>
                  <a:tcPr marL="82296" marR="82296" marT="36576" marB="36576" anchor="ctr">
                    <a:solidFill>
                      <a:srgbClr val="FFFFFF"/>
                    </a:solidFill>
                  </a:tcPr>
                </a:tc>
                <a:tc>
                  <a:txBody>
                    <a:bodyPr wrap="square"/>
                    <a:lstStyle/>
                    <a:p>
                      <a:r>
                        <a:rPr sz="850" b="1">
                          <a:solidFill>
                            <a:srgbClr val="0B7A4B"/>
                          </a:solidFill>
                          <a:latin typeface="Verdana"/>
                        </a:rPr>
                        <a:t>SHIPPED</a:t>
                      </a:r>
                    </a:p>
                  </a:txBody>
                  <a:tcPr marL="82296" marR="82296" marT="36576" marB="36576" anchor="ctr">
                    <a:solidFill>
                      <a:srgbClr val="FFFFFF"/>
                    </a:solidFill>
                  </a:tcPr>
                </a:tc>
              </a:tr>
              <a:tr h="246888">
                <a:tc>
                  <a:txBody>
                    <a:bodyPr wrap="square"/>
                    <a:lstStyle/>
                    <a:p>
                      <a:r>
                        <a:rPr sz="850" b="0">
                          <a:solidFill>
                            <a:srgbClr val="141B2D"/>
                          </a:solidFill>
                          <a:latin typeface="Verdana"/>
                        </a:rPr>
                        <a:t>Boundary mode on a hand-back</a:t>
                      </a:r>
                    </a:p>
                  </a:txBody>
                  <a:tcPr marL="82296" marR="82296" marT="36576" marB="36576" anchor="ctr">
                    <a:solidFill>
                      <a:srgbClr val="F4F6FA"/>
                    </a:solidFill>
                  </a:tcPr>
                </a:tc>
                <a:tc>
                  <a:txBody>
                    <a:bodyPr wrap="square"/>
                    <a:lstStyle/>
                    <a:p>
                      <a:r>
                        <a:rPr sz="850" b="0">
                          <a:solidFill>
                            <a:srgbClr val="141B2D"/>
                          </a:solidFill>
                          <a:latin typeface="Verdana"/>
                        </a:rPr>
                        <a:t>"Use your judgment" is a request for exactly the prior we hold.</a:t>
                      </a:r>
                    </a:p>
                  </a:txBody>
                  <a:tcPr marL="82296" marR="82296" marT="36576" marB="36576" anchor="ctr">
                    <a:solidFill>
                      <a:srgbClr val="F4F6FA"/>
                    </a:solidFill>
                  </a:tcPr>
                </a:tc>
                <a:tc>
                  <a:txBody>
                    <a:bodyPr wrap="square"/>
                    <a:lstStyle/>
                    <a:p>
                      <a:r>
                        <a:rPr sz="850" b="1">
                          <a:solidFill>
                            <a:srgbClr val="5B667A"/>
                          </a:solidFill>
                          <a:latin typeface="Verdana"/>
                        </a:rPr>
                        <a:t>bundled</a:t>
                      </a:r>
                    </a:p>
                  </a:txBody>
                  <a:tcPr marL="82296" marR="82296" marT="36576" marB="36576" anchor="ctr">
                    <a:solidFill>
                      <a:srgbClr val="F4F6FA"/>
                    </a:solidFill>
                  </a:tcPr>
                </a:tc>
                <a:tc>
                  <a:txBody>
                    <a:bodyPr wrap="square"/>
                    <a:lstStyle/>
                    <a:p>
                      <a:r>
                        <a:rPr sz="850" b="1">
                          <a:solidFill>
                            <a:srgbClr val="0B7A4B"/>
                          </a:solidFill>
                          <a:latin typeface="Verdana"/>
                        </a:rPr>
                        <a:t>SHIPPED</a:t>
                      </a:r>
                    </a:p>
                  </a:txBody>
                  <a:tcPr marL="82296" marR="82296" marT="36576" marB="36576" anchor="ctr">
                    <a:solidFill>
                      <a:srgbClr val="F4F6FA"/>
                    </a:solidFill>
                  </a:tcPr>
                </a:tc>
              </a:tr>
              <a:tr h="246888">
                <a:tc>
                  <a:txBody>
                    <a:bodyPr wrap="square"/>
                    <a:lstStyle/>
                    <a:p>
                      <a:r>
                        <a:rPr sz="850" b="0">
                          <a:solidFill>
                            <a:srgbClr val="141B2D"/>
                          </a:solidFill>
                          <a:latin typeface="Verdana"/>
                        </a:rPr>
                        <a:t>Weighted question score</a:t>
                      </a:r>
                    </a:p>
                  </a:txBody>
                  <a:tcPr marL="82296" marR="82296" marT="36576" marB="36576" anchor="ctr">
                    <a:solidFill>
                      <a:srgbClr val="FFFFFF"/>
                    </a:solidFill>
                  </a:tcPr>
                </a:tc>
                <a:tc>
                  <a:txBody>
                    <a:bodyPr wrap="square"/>
                    <a:lstStyle/>
                    <a:p>
                      <a:r>
                        <a:rPr sz="850" b="0">
                          <a:solidFill>
                            <a:srgbClr val="141B2D"/>
                          </a:solidFill>
                          <a:latin typeface="Verdana"/>
                        </a:rPr>
                        <a:t>Entropy and answerability were taking turns over one ordering.</a:t>
                      </a:r>
                    </a:p>
                  </a:txBody>
                  <a:tcPr marL="82296" marR="82296" marT="36576" marB="36576" anchor="ctr">
                    <a:solidFill>
                      <a:srgbClr val="FFFFFF"/>
                    </a:solidFill>
                  </a:tcPr>
                </a:tc>
                <a:tc>
                  <a:txBody>
                    <a:bodyPr wrap="square"/>
                    <a:lstStyle/>
                    <a:p>
                      <a:r>
                        <a:rPr sz="850" b="1">
                          <a:solidFill>
                            <a:srgbClr val="5B667A"/>
                          </a:solidFill>
                          <a:latin typeface="Verdana"/>
                        </a:rPr>
                        <a:t>bundled</a:t>
                      </a:r>
                    </a:p>
                  </a:txBody>
                  <a:tcPr marL="82296" marR="82296" marT="36576" marB="36576" anchor="ctr">
                    <a:solidFill>
                      <a:srgbClr val="FFFFFF"/>
                    </a:solidFill>
                  </a:tcPr>
                </a:tc>
                <a:tc>
                  <a:txBody>
                    <a:bodyPr wrap="square"/>
                    <a:lstStyle/>
                    <a:p>
                      <a:r>
                        <a:rPr sz="850" b="1">
                          <a:solidFill>
                            <a:srgbClr val="0B7A4B"/>
                          </a:solidFill>
                          <a:latin typeface="Verdana"/>
                        </a:rPr>
                        <a:t>SHIPPED</a:t>
                      </a:r>
                    </a:p>
                  </a:txBody>
                  <a:tcPr marL="82296" marR="82296" marT="36576" marB="36576" anchor="ctr">
                    <a:solidFill>
                      <a:srgbClr val="FFFFFF"/>
                    </a:solidFill>
                  </a:tcPr>
                </a:tc>
              </a:tr>
              <a:tr h="246888">
                <a:tc>
                  <a:txBody>
                    <a:bodyPr wrap="square"/>
                    <a:lstStyle/>
                    <a:p>
                      <a:r>
                        <a:rPr sz="850" b="0">
                          <a:solidFill>
                            <a:srgbClr val="141B2D"/>
                          </a:solidFill>
                          <a:latin typeface="Verdana"/>
                        </a:rPr>
                        <a:t>Cross-encoder re-rank, minilm</a:t>
                      </a:r>
                    </a:p>
                  </a:txBody>
                  <a:tcPr marL="82296" marR="82296" marT="36576" marB="36576" anchor="ctr">
                    <a:solidFill>
                      <a:srgbClr val="F4F6FA"/>
                    </a:solidFill>
                  </a:tcPr>
                </a:tc>
                <a:tc>
                  <a:txBody>
                    <a:bodyPr wrap="square"/>
                    <a:lstStyle/>
                    <a:p>
                      <a:r>
                        <a:rPr sz="850" b="0">
                          <a:solidFill>
                            <a:srgbClr val="141B2D"/>
                          </a:solidFill>
                          <a:latin typeface="Verdana"/>
                        </a:rPr>
                        <a:t>Scores the top 20 candidates; can promote a rank-11 item into the shown ten.</a:t>
                      </a:r>
                    </a:p>
                  </a:txBody>
                  <a:tcPr marL="82296" marR="82296" marT="36576" marB="36576" anchor="ctr">
                    <a:solidFill>
                      <a:srgbClr val="F4F6FA"/>
                    </a:solidFill>
                  </a:tcPr>
                </a:tc>
                <a:tc>
                  <a:txBody>
                    <a:bodyPr wrap="square"/>
                    <a:lstStyle/>
                    <a:p>
                      <a:r>
                        <a:rPr sz="850" b="1">
                          <a:solidFill>
                            <a:srgbClr val="5B667A"/>
                          </a:solidFill>
                          <a:latin typeface="Verdana"/>
                        </a:rPr>
                        <a:t>bundled</a:t>
                      </a:r>
                    </a:p>
                  </a:txBody>
                  <a:tcPr marL="82296" marR="82296" marT="36576" marB="36576" anchor="ctr">
                    <a:solidFill>
                      <a:srgbClr val="F4F6FA"/>
                    </a:solidFill>
                  </a:tcPr>
                </a:tc>
                <a:tc>
                  <a:txBody>
                    <a:bodyPr wrap="square"/>
                    <a:lstStyle/>
                    <a:p>
                      <a:r>
                        <a:rPr sz="850" b="1">
                          <a:solidFill>
                            <a:srgbClr val="5B667A"/>
                          </a:solidFill>
                          <a:latin typeface="Verdana"/>
                        </a:rPr>
                        <a:t>UNSWEPT</a:t>
                      </a:r>
                    </a:p>
                  </a:txBody>
                  <a:tcPr marL="82296" marR="82296" marT="36576" marB="36576" anchor="ctr">
                    <a:solidFill>
                      <a:srgbClr val="F4F6FA"/>
                    </a:solidFill>
                  </a:tcPr>
                </a:tc>
              </a:tr>
              <a:tr h="246888">
                <a:tc>
                  <a:txBody>
                    <a:bodyPr wrap="square"/>
                    <a:lstStyle/>
                    <a:p>
                      <a:r>
                        <a:rPr sz="850" b="0">
                          <a:solidFill>
                            <a:srgbClr val="141B2D"/>
                          </a:solidFill>
                          <a:latin typeface="Verdana"/>
                        </a:rPr>
                        <a:t>More evaluator-template stopwords</a:t>
                      </a:r>
                    </a:p>
                  </a:txBody>
                  <a:tcPr marL="82296" marR="82296" marT="36576" marB="36576" anchor="ctr">
                    <a:solidFill>
                      <a:srgbClr val="FFFFFF"/>
                    </a:solidFill>
                  </a:tcPr>
                </a:tc>
                <a:tc>
                  <a:txBody>
                    <a:bodyPr wrap="square"/>
                    <a:lstStyle/>
                    <a:p>
                      <a:r>
                        <a:rPr sz="850" b="0">
                          <a:solidFill>
                            <a:srgbClr val="141B2D"/>
                          </a:solidFill>
                          <a:latin typeface="Verdana"/>
                        </a:rPr>
                        <a:t>"A key requirement is:" was handing the ranking to "key".</a:t>
                      </a:r>
                    </a:p>
                  </a:txBody>
                  <a:tcPr marL="82296" marR="82296" marT="36576" marB="36576" anchor="ctr">
                    <a:solidFill>
                      <a:srgbClr val="FFFFFF"/>
                    </a:solidFill>
                  </a:tcPr>
                </a:tc>
                <a:tc>
                  <a:txBody>
                    <a:bodyPr wrap="square"/>
                    <a:lstStyle/>
                    <a:p>
                      <a:r>
                        <a:rPr sz="850" b="1">
                          <a:solidFill>
                            <a:srgbClr val="5B667A"/>
                          </a:solidFill>
                          <a:latin typeface="Verdana"/>
                        </a:rPr>
                        <a:t>bundled</a:t>
                      </a:r>
                    </a:p>
                  </a:txBody>
                  <a:tcPr marL="82296" marR="82296" marT="36576" marB="36576" anchor="ctr">
                    <a:solidFill>
                      <a:srgbClr val="FFFFFF"/>
                    </a:solidFill>
                  </a:tcPr>
                </a:tc>
                <a:tc>
                  <a:txBody>
                    <a:bodyPr wrap="square"/>
                    <a:lstStyle/>
                    <a:p>
                      <a:r>
                        <a:rPr sz="850" b="1">
                          <a:solidFill>
                            <a:srgbClr val="0B7A4B"/>
                          </a:solidFill>
                          <a:latin typeface="Verdana"/>
                        </a:rPr>
                        <a:t>SHIPPED</a:t>
                      </a:r>
                    </a:p>
                  </a:txBody>
                  <a:tcPr marL="82296" marR="82296" marT="36576" marB="36576" anchor="ctr">
                    <a:solidFill>
                      <a:srgbClr val="FFFFFF"/>
                    </a:solidFill>
                  </a:tcPr>
                </a:tc>
              </a:tr>
              <a:tr h="246888">
                <a:tc>
                  <a:txBody>
                    <a:bodyPr wrap="square"/>
                    <a:lstStyle/>
                    <a:p>
                      <a:r>
                        <a:rPr sz="850" b="0">
                          <a:solidFill>
                            <a:srgbClr val="141B2D"/>
                          </a:solidFill>
                          <a:latin typeface="Verdana"/>
                        </a:rPr>
                        <a:t>Eight knobs, changed together</a:t>
                      </a:r>
                    </a:p>
                  </a:txBody>
                  <a:tcPr marL="82296" marR="82296" marT="36576" marB="36576" anchor="ctr">
                    <a:solidFill>
                      <a:srgbClr val="F4F6FA"/>
                    </a:solidFill>
                  </a:tcPr>
                </a:tc>
                <a:tc>
                  <a:txBody>
                    <a:bodyPr wrap="square"/>
                    <a:lstStyle/>
                    <a:p>
                      <a:r>
                        <a:rPr sz="850" b="0">
                          <a:solidFill>
                            <a:srgbClr val="141B2D"/>
                          </a:solidFill>
                          <a:latin typeface="Verdana"/>
                        </a:rPr>
                        <a:t>Each looked safe alone, so we moved them in one commit.</a:t>
                      </a:r>
                    </a:p>
                  </a:txBody>
                  <a:tcPr marL="82296" marR="82296" marT="36576" marB="36576" anchor="ctr">
                    <a:solidFill>
                      <a:srgbClr val="F4F6FA"/>
                    </a:solidFill>
                  </a:tcPr>
                </a:tc>
                <a:tc>
                  <a:txBody>
                    <a:bodyPr wrap="square"/>
                    <a:lstStyle/>
                    <a:p>
                      <a:r>
                        <a:rPr sz="850" b="1">
                          <a:solidFill>
                            <a:srgbClr val="0B7A4B"/>
                          </a:solidFill>
                          <a:latin typeface="Verdana"/>
                        </a:rPr>
                        <a:t>+0.046</a:t>
                      </a:r>
                    </a:p>
                  </a:txBody>
                  <a:tcPr marL="82296" marR="82296" marT="36576" marB="36576" anchor="ctr">
                    <a:solidFill>
                      <a:srgbClr val="F4F6FA"/>
                    </a:solidFill>
                  </a:tcPr>
                </a:tc>
                <a:tc>
                  <a:txBody>
                    <a:bodyPr wrap="square"/>
                    <a:lstStyle/>
                    <a:p>
                      <a:r>
                        <a:rPr sz="850" b="1">
                          <a:solidFill>
                            <a:srgbClr val="5B667A"/>
                          </a:solidFill>
                          <a:latin typeface="Verdana"/>
                        </a:rPr>
                        <a:t>UNATTRIB.</a:t>
                      </a:r>
                    </a:p>
                  </a:txBody>
                  <a:tcPr marL="82296" marR="82296" marT="36576" marB="36576" anchor="ctr">
                    <a:solidFill>
                      <a:srgbClr val="F4F6FA"/>
                    </a:solidFill>
                  </a:tcPr>
                </a:tc>
              </a:tr>
              <a:tr h="246888">
                <a:tc>
                  <a:txBody>
                    <a:bodyPr wrap="square"/>
                    <a:lstStyle/>
                    <a:p>
                      <a:r>
                        <a:rPr sz="850" b="0">
                          <a:solidFill>
                            <a:srgbClr val="141B2D"/>
                          </a:solidFill>
                          <a:latin typeface="Verdana"/>
                        </a:rPr>
                        <a:t>Cut the buying dense weight</a:t>
                      </a:r>
                    </a:p>
                  </a:txBody>
                  <a:tcPr marL="82296" marR="82296" marT="36576" marB="36576" anchor="ctr">
                    <a:solidFill>
                      <a:srgbClr val="FFFFFF"/>
                    </a:solidFill>
                  </a:tcPr>
                </a:tc>
                <a:tc>
                  <a:txBody>
                    <a:bodyPr wrap="square"/>
                    <a:lstStyle/>
                    <a:p>
                      <a:r>
                        <a:rPr sz="850" b="0">
                          <a:solidFill>
                            <a:srgbClr val="141B2D"/>
                          </a:solidFill>
                          <a:latin typeface="Verdana"/>
                        </a:rPr>
                        <a:t>Dense adds no recall here; it demotes correct keyword hits.</a:t>
                      </a:r>
                    </a:p>
                  </a:txBody>
                  <a:tcPr marL="82296" marR="82296" marT="36576" marB="36576" anchor="ctr">
                    <a:solidFill>
                      <a:srgbClr val="FFFFFF"/>
                    </a:solidFill>
                  </a:tcPr>
                </a:tc>
                <a:tc>
                  <a:txBody>
                    <a:bodyPr wrap="square"/>
                    <a:lstStyle/>
                    <a:p>
                      <a:r>
                        <a:rPr sz="850" b="1">
                          <a:solidFill>
                            <a:srgbClr val="0B7A4B"/>
                          </a:solidFill>
                          <a:latin typeface="Verdana"/>
                        </a:rPr>
                        <a:t>+0.011</a:t>
                      </a:r>
                    </a:p>
                  </a:txBody>
                  <a:tcPr marL="82296" marR="82296" marT="36576" marB="36576" anchor="ctr">
                    <a:solidFill>
                      <a:srgbClr val="FFFFFF"/>
                    </a:solidFill>
                  </a:tcPr>
                </a:tc>
                <a:tc>
                  <a:txBody>
                    <a:bodyPr wrap="square"/>
                    <a:lstStyle/>
                    <a:p>
                      <a:r>
                        <a:rPr sz="850" b="1">
                          <a:solidFill>
                            <a:srgbClr val="5B667A"/>
                          </a:solidFill>
                          <a:latin typeface="Verdana"/>
                        </a:rPr>
                        <a:t>REVERSED</a:t>
                      </a:r>
                    </a:p>
                  </a:txBody>
                  <a:tcPr marL="82296" marR="82296" marT="36576" marB="36576" anchor="ctr">
                    <a:solidFill>
                      <a:srgbClr val="FFFFFF"/>
                    </a:solidFill>
                  </a:tcPr>
                </a:tc>
              </a:tr>
              <a:tr h="246888">
                <a:tc>
                  <a:txBody>
                    <a:bodyPr wrap="square"/>
                    <a:lstStyle/>
                    <a:p>
                      <a:r>
                        <a:rPr sz="850" b="0">
                          <a:solidFill>
                            <a:srgbClr val="141B2D"/>
                          </a:solidFill>
                          <a:latin typeface="Verdana"/>
                        </a:rPr>
                        <a:t>Rewrite query on a pivot</a:t>
                      </a:r>
                    </a:p>
                  </a:txBody>
                  <a:tcPr marL="82296" marR="82296" marT="36576" marB="36576" anchor="ctr">
                    <a:solidFill>
                      <a:srgbClr val="F4F6FA"/>
                    </a:solidFill>
                  </a:tcPr>
                </a:tc>
                <a:tc>
                  <a:txBody>
                    <a:bodyPr wrap="square"/>
                    <a:lstStyle/>
                    <a:p>
                      <a:r>
                        <a:rPr sz="850" b="0">
                          <a:solidFill>
                            <a:srgbClr val="141B2D"/>
                          </a:solidFill>
                          <a:latin typeface="Verdana"/>
                        </a:rPr>
                        <a:t>Stale preferences keep biasing search after the shopper changes their mind.</a:t>
                      </a:r>
                    </a:p>
                  </a:txBody>
                  <a:tcPr marL="82296" marR="82296" marT="36576" marB="36576" anchor="ctr">
                    <a:solidFill>
                      <a:srgbClr val="F4F6FA"/>
                    </a:solidFill>
                  </a:tcPr>
                </a:tc>
                <a:tc>
                  <a:txBody>
                    <a:bodyPr wrap="square"/>
                    <a:lstStyle/>
                    <a:p>
                      <a:r>
                        <a:rPr sz="850" b="1">
                          <a:solidFill>
                            <a:srgbClr val="B3261E"/>
                          </a:solidFill>
                          <a:latin typeface="Verdana"/>
                        </a:rPr>
                        <a:t>−0.058</a:t>
                      </a:r>
                    </a:p>
                  </a:txBody>
                  <a:tcPr marL="82296" marR="82296" marT="36576" marB="36576" anchor="ctr">
                    <a:solidFill>
                      <a:srgbClr val="F4F6FA"/>
                    </a:solidFill>
                  </a:tcPr>
                </a:tc>
                <a:tc>
                  <a:txBody>
                    <a:bodyPr wrap="square"/>
                    <a:lstStyle/>
                    <a:p>
                      <a:r>
                        <a:rPr sz="850" b="1">
                          <a:solidFill>
                            <a:srgbClr val="B3261E"/>
                          </a:solidFill>
                          <a:latin typeface="Verdana"/>
                        </a:rPr>
                        <a:t>REJECTED</a:t>
                      </a:r>
                    </a:p>
                  </a:txBody>
                  <a:tcPr marL="82296" marR="82296" marT="36576" marB="36576" anchor="ctr">
                    <a:solidFill>
                      <a:srgbClr val="F4F6FA"/>
                    </a:solidFill>
                  </a:tcPr>
                </a:tc>
              </a:tr>
              <a:tr h="246888">
                <a:tc>
                  <a:txBody>
                    <a:bodyPr wrap="square"/>
                    <a:lstStyle/>
                    <a:p>
                      <a:r>
                        <a:rPr sz="850" b="0">
                          <a:solidFill>
                            <a:srgbClr val="141B2D"/>
                          </a:solidFill>
                          <a:latin typeface="Verdana"/>
                        </a:rPr>
                        <a:t>Strip non-answer replies</a:t>
                      </a:r>
                    </a:p>
                  </a:txBody>
                  <a:tcPr marL="82296" marR="82296" marT="36576" marB="36576" anchor="ctr">
                    <a:solidFill>
                      <a:srgbClr val="FFFFFF"/>
                    </a:solidFill>
                  </a:tcPr>
                </a:tc>
                <a:tc>
                  <a:txBody>
                    <a:bodyPr wrap="square"/>
                    <a:lstStyle/>
                    <a:p>
                      <a:r>
                        <a:rPr sz="850" b="0">
                          <a:solidFill>
                            <a:srgbClr val="141B2D"/>
                          </a:solidFill>
                          <a:latin typeface="Verdana"/>
                        </a:rPr>
                        <a:t>"I don't have a preference" is noise in the query.</a:t>
                      </a:r>
                    </a:p>
                  </a:txBody>
                  <a:tcPr marL="82296" marR="82296" marT="36576" marB="36576" anchor="ctr">
                    <a:solidFill>
                      <a:srgbClr val="FFFFFF"/>
                    </a:solidFill>
                  </a:tcPr>
                </a:tc>
                <a:tc>
                  <a:txBody>
                    <a:bodyPr wrap="square"/>
                    <a:lstStyle/>
                    <a:p>
                      <a:r>
                        <a:rPr sz="850" b="1">
                          <a:solidFill>
                            <a:srgbClr val="B3261E"/>
                          </a:solidFill>
                          <a:latin typeface="Verdana"/>
                        </a:rPr>
                        <a:t>−0.041</a:t>
                      </a:r>
                    </a:p>
                  </a:txBody>
                  <a:tcPr marL="82296" marR="82296" marT="36576" marB="36576" anchor="ctr">
                    <a:solidFill>
                      <a:srgbClr val="FFFFFF"/>
                    </a:solidFill>
                  </a:tcPr>
                </a:tc>
                <a:tc>
                  <a:txBody>
                    <a:bodyPr wrap="square"/>
                    <a:lstStyle/>
                    <a:p>
                      <a:r>
                        <a:rPr sz="850" b="1">
                          <a:solidFill>
                            <a:srgbClr val="B3261E"/>
                          </a:solidFill>
                          <a:latin typeface="Verdana"/>
                        </a:rPr>
                        <a:t>REJECTED</a:t>
                      </a:r>
                    </a:p>
                  </a:txBody>
                  <a:tcPr marL="82296" marR="82296" marT="36576" marB="36576" anchor="ctr">
                    <a:solidFill>
                      <a:srgbClr val="FFFFFF"/>
                    </a:solidFill>
                  </a:tcPr>
                </a:tc>
              </a:tr>
              <a:tr h="246888">
                <a:tc>
                  <a:txBody>
                    <a:bodyPr wrap="square"/>
                    <a:lstStyle/>
                    <a:p>
                      <a:r>
                        <a:rPr sz="850" b="0">
                          <a:solidFill>
                            <a:srgbClr val="141B2D"/>
                          </a:solidFill>
                          <a:latin typeface="Verdana"/>
                        </a:rPr>
                        <a:t>Turn-annealed diversity</a:t>
                      </a:r>
                    </a:p>
                  </a:txBody>
                  <a:tcPr marL="82296" marR="82296" marT="36576" marB="36576" anchor="ctr">
                    <a:solidFill>
                      <a:srgbClr val="F4F6FA"/>
                    </a:solidFill>
                  </a:tcPr>
                </a:tc>
                <a:tc>
                  <a:txBody>
                    <a:bodyPr wrap="square"/>
                    <a:lstStyle/>
                    <a:p>
                      <a:r>
                        <a:rPr sz="850" b="0">
                          <a:solidFill>
                            <a:srgbClr val="141B2D"/>
                          </a:solidFill>
                          <a:latin typeface="Verdana"/>
                        </a:rPr>
                        <a:t>A diverse slate is cheap early and pure risk late.</a:t>
                      </a:r>
                    </a:p>
                  </a:txBody>
                  <a:tcPr marL="82296" marR="82296" marT="36576" marB="36576" anchor="ctr">
                    <a:solidFill>
                      <a:srgbClr val="F4F6FA"/>
                    </a:solidFill>
                  </a:tcPr>
                </a:tc>
                <a:tc>
                  <a:txBody>
                    <a:bodyPr wrap="square"/>
                    <a:lstStyle/>
                    <a:p>
                      <a:r>
                        <a:rPr sz="850" b="1">
                          <a:solidFill>
                            <a:srgbClr val="B3261E"/>
                          </a:solidFill>
                          <a:latin typeface="Verdana"/>
                        </a:rPr>
                        <a:t>−0.003</a:t>
                      </a:r>
                    </a:p>
                  </a:txBody>
                  <a:tcPr marL="82296" marR="82296" marT="36576" marB="36576" anchor="ctr">
                    <a:solidFill>
                      <a:srgbClr val="F4F6FA"/>
                    </a:solidFill>
                  </a:tcPr>
                </a:tc>
                <a:tc>
                  <a:txBody>
                    <a:bodyPr wrap="square"/>
                    <a:lstStyle/>
                    <a:p>
                      <a:r>
                        <a:rPr sz="850" b="1">
                          <a:solidFill>
                            <a:srgbClr val="B3261E"/>
                          </a:solidFill>
                          <a:latin typeface="Verdana"/>
                        </a:rPr>
                        <a:t>REJECTED</a:t>
                      </a:r>
                    </a:p>
                  </a:txBody>
                  <a:tcPr marL="82296" marR="82296" marT="36576" marB="36576" anchor="ctr">
                    <a:solidFill>
                      <a:srgbClr val="F4F6FA"/>
                    </a:solidFill>
                  </a:tcPr>
                </a:tc>
              </a:tr>
              <a:tr h="246888">
                <a:tc>
                  <a:txBody>
                    <a:bodyPr wrap="square"/>
                    <a:lstStyle/>
                    <a:p>
                      <a:r>
                        <a:rPr sz="850" b="0">
                          <a:solidFill>
                            <a:srgbClr val="141B2D"/>
                          </a:solidFill>
                          <a:latin typeface="Verdana"/>
                        </a:rPr>
                        <a:t>Cross-session user profiles</a:t>
                      </a:r>
                    </a:p>
                  </a:txBody>
                  <a:tcPr marL="82296" marR="82296" marT="36576" marB="36576" anchor="ctr">
                    <a:solidFill>
                      <a:srgbClr val="FFFFFF"/>
                    </a:solidFill>
                  </a:tcPr>
                </a:tc>
                <a:tc>
                  <a:txBody>
                    <a:bodyPr wrap="square"/>
                    <a:lstStyle/>
                    <a:p>
                      <a:r>
                        <a:rPr sz="850" b="0">
                          <a:solidFill>
                            <a:srgbClr val="141B2D"/>
                          </a:solidFill>
                          <a:latin typeface="Verdana"/>
                        </a:rPr>
                        <a:t>A returning shopper should not have to repeat themselves.</a:t>
                      </a:r>
                    </a:p>
                  </a:txBody>
                  <a:tcPr marL="82296" marR="82296" marT="36576" marB="36576" anchor="ctr">
                    <a:solidFill>
                      <a:srgbClr val="FFFFFF"/>
                    </a:solidFill>
                  </a:tcPr>
                </a:tc>
                <a:tc>
                  <a:txBody>
                    <a:bodyPr wrap="square"/>
                    <a:lstStyle/>
                    <a:p>
                      <a:r>
                        <a:rPr sz="850" b="1">
                          <a:solidFill>
                            <a:srgbClr val="5B667A"/>
                          </a:solidFill>
                          <a:latin typeface="Verdana"/>
                        </a:rPr>
                        <a:t>0.000</a:t>
                      </a:r>
                    </a:p>
                  </a:txBody>
                  <a:tcPr marL="82296" marR="82296" marT="36576" marB="36576" anchor="ctr">
                    <a:solidFill>
                      <a:srgbClr val="FFFFFF"/>
                    </a:solidFill>
                  </a:tcPr>
                </a:tc>
                <a:tc>
                  <a:txBody>
                    <a:bodyPr wrap="square"/>
                    <a:lstStyle/>
                    <a:p>
                      <a:r>
                        <a:rPr sz="850" b="1">
                          <a:solidFill>
                            <a:srgbClr val="B3261E"/>
                          </a:solidFill>
                          <a:latin typeface="Verdana"/>
                        </a:rPr>
                        <a:t>REJECTED</a:t>
                      </a:r>
                    </a:p>
                  </a:txBody>
                  <a:tcPr marL="82296" marR="82296" marT="36576" marB="36576" anchor="ctr">
                    <a:solidFill>
                      <a:srgbClr val="FFFFFF"/>
                    </a:solidFill>
                  </a:tcPr>
                </a:tc>
              </a:tr>
              <a:tr h="246888">
                <a:tc>
                  <a:txBody>
                    <a:bodyPr wrap="square"/>
                    <a:lstStyle/>
                    <a:p>
                      <a:r>
                        <a:rPr sz="850" b="0">
                          <a:solidFill>
                            <a:srgbClr val="141B2D"/>
                          </a:solidFill>
                          <a:latin typeface="Verdana"/>
                        </a:rPr>
                        <a:t>Trained intent classifier</a:t>
                      </a:r>
                    </a:p>
                  </a:txBody>
                  <a:tcPr marL="82296" marR="82296" marT="36576" marB="36576" anchor="ctr">
                    <a:solidFill>
                      <a:srgbClr val="F4F6FA"/>
                    </a:solidFill>
                  </a:tcPr>
                </a:tc>
                <a:tc>
                  <a:txBody>
                    <a:bodyPr wrap="square"/>
                    <a:lstStyle/>
                    <a:p>
                      <a:r>
                        <a:rPr sz="850" b="0">
                          <a:solidFill>
                            <a:srgbClr val="141B2D"/>
                          </a:solidFill>
                          <a:latin typeface="Verdana"/>
                        </a:rPr>
                        <a:t>A learned boundary should beat hand-written prototypes.</a:t>
                      </a:r>
                    </a:p>
                  </a:txBody>
                  <a:tcPr marL="82296" marR="82296" marT="36576" marB="36576" anchor="ctr">
                    <a:solidFill>
                      <a:srgbClr val="F4F6FA"/>
                    </a:solidFill>
                  </a:tcPr>
                </a:tc>
                <a:tc>
                  <a:txBody>
                    <a:bodyPr wrap="square"/>
                    <a:lstStyle/>
                    <a:p>
                      <a:r>
                        <a:rPr sz="850" b="1">
                          <a:solidFill>
                            <a:srgbClr val="B3261E"/>
                          </a:solidFill>
                          <a:latin typeface="Verdana"/>
                        </a:rPr>
                        <a:t>worse</a:t>
                      </a:r>
                    </a:p>
                  </a:txBody>
                  <a:tcPr marL="82296" marR="82296" marT="36576" marB="36576" anchor="ctr">
                    <a:solidFill>
                      <a:srgbClr val="F4F6FA"/>
                    </a:solidFill>
                  </a:tcPr>
                </a:tc>
                <a:tc>
                  <a:txBody>
                    <a:bodyPr wrap="square"/>
                    <a:lstStyle/>
                    <a:p>
                      <a:r>
                        <a:rPr sz="850" b="1">
                          <a:solidFill>
                            <a:srgbClr val="B3261E"/>
                          </a:solidFill>
                          <a:latin typeface="Verdana"/>
                        </a:rPr>
                        <a:t>REJECTED</a:t>
                      </a:r>
                    </a:p>
                  </a:txBody>
                  <a:tcPr marL="82296" marR="82296" marT="36576" marB="36576" anchor="ctr">
                    <a:solidFill>
                      <a:srgbClr val="F4F6FA"/>
                    </a:solidFill>
                  </a:tcPr>
                </a:tc>
              </a:tr>
            </a:tbl>
          </a:graphicData>
        </a:graphic>
      </p:graphicFrame>
      <p:sp>
        <p:nvSpPr>
          <p:cNvPr id="6" name="TextBox 5"/>
          <p:cNvSpPr txBox="1"/>
          <p:nvPr/>
        </p:nvSpPr>
        <p:spPr>
          <a:xfrm>
            <a:off x="640080" y="5806440"/>
            <a:ext cx="10881360" cy="457200"/>
          </a:xfrm>
          <a:prstGeom prst="rect">
            <a:avLst/>
          </a:prstGeom>
          <a:noFill/>
        </p:spPr>
        <p:txBody>
          <a:bodyPr wrap="square" lIns="0" rIns="0" tIns="0" bIns="0">
            <a:spAutoFit/>
          </a:bodyPr>
          <a:lstStyle/>
          <a:p>
            <a:r>
              <a:rPr sz="1200" b="1">
                <a:solidFill>
                  <a:srgbClr val="0F62FE"/>
                </a:solidFill>
                <a:latin typeface="Verdana"/>
              </a:rPr>
              <a:t>Ten shipped, five thrown away. The rejected half is where the engineering is — and the bundled rows are where we stopped learning.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INSIGHT</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The measurement that changed our approach</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00200"/>
            <a:ext cx="10881360" cy="457200"/>
          </a:xfrm>
          <a:prstGeom prst="rect">
            <a:avLst/>
          </a:prstGeom>
          <a:noFill/>
        </p:spPr>
        <p:txBody>
          <a:bodyPr wrap="square" lIns="0" rIns="0" tIns="0" bIns="0">
            <a:spAutoFit/>
          </a:bodyPr>
          <a:lstStyle/>
          <a:p>
            <a:r>
              <a:rPr sz="1700" b="1">
                <a:solidFill>
                  <a:srgbClr val="0F62FE"/>
                </a:solidFill>
                <a:latin typeface="Verdana"/>
              </a:rPr>
              <a:t>89.7% of what the shopper says is copied word-for-word from the target product's own text.</a:t>
            </a:r>
          </a:p>
        </p:txBody>
      </p:sp>
      <p:sp>
        <p:nvSpPr>
          <p:cNvPr id="6" name="TextBox 5"/>
          <p:cNvSpPr txBox="1"/>
          <p:nvPr/>
        </p:nvSpPr>
        <p:spPr>
          <a:xfrm>
            <a:off x="640080" y="2011680"/>
            <a:ext cx="10881360" cy="365760"/>
          </a:xfrm>
          <a:prstGeom prst="rect">
            <a:avLst/>
          </a:prstGeom>
          <a:noFill/>
        </p:spPr>
        <p:txBody>
          <a:bodyPr wrap="square" lIns="0" rIns="0" tIns="0" bIns="0">
            <a:spAutoFit/>
          </a:bodyPr>
          <a:lstStyle/>
          <a:p>
            <a:r>
              <a:rPr sz="1300" b="0">
                <a:solidFill>
                  <a:srgbClr val="5B667A"/>
                </a:solidFill>
                <a:latin typeface="Verdana"/>
              </a:rPr>
              <a:t>So this is close to an exact-match problem, not a paraphrase problem. That inverts the usual advice.</a:t>
            </a:r>
          </a:p>
        </p:txBody>
      </p:sp>
      <p:sp>
        <p:nvSpPr>
          <p:cNvPr id="7" name="Rounded Rectangle 6"/>
          <p:cNvSpPr/>
          <p:nvPr/>
        </p:nvSpPr>
        <p:spPr>
          <a:xfrm>
            <a:off x="685800" y="2606040"/>
            <a:ext cx="2377440" cy="566928"/>
          </a:xfrm>
          <a:prstGeom prst="roundRect">
            <a:avLst/>
          </a:prstGeom>
          <a:solidFill>
            <a:srgbClr val="FFFFFF"/>
          </a:solidFill>
          <a:ln w="12700">
            <a:solidFill>
              <a:srgbClr val="141B2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141B2D"/>
                </a:solidFill>
                <a:latin typeface="Verdana"/>
              </a:rPr>
              <a:t>"Buckle closure"</a:t>
            </a:r>
          </a:p>
        </p:txBody>
      </p:sp>
      <p:sp>
        <p:nvSpPr>
          <p:cNvPr id="8" name="Rounded Rectangle 7"/>
          <p:cNvSpPr/>
          <p:nvPr/>
        </p:nvSpPr>
        <p:spPr>
          <a:xfrm>
            <a:off x="4023360" y="2514600"/>
            <a:ext cx="3291840" cy="777240"/>
          </a:xfrm>
          <a:prstGeom prst="roundRect">
            <a:avLst/>
          </a:prstGeom>
          <a:solidFill>
            <a:srgbClr val="FAEAE8"/>
          </a:solidFill>
          <a:ln w="127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B3261E"/>
                </a:solidFill>
                <a:latin typeface="Verdana"/>
              </a:rPr>
              <a:t>BM25 splits it</a:t>
            </a:r>
          </a:p>
          <a:p>
            <a:pPr algn="ctr">
              <a:spcAft>
                <a:spcPts val="0"/>
              </a:spcAft>
            </a:pPr>
            <a:r>
              <a:rPr sz="1000" b="0">
                <a:solidFill>
                  <a:srgbClr val="5B667A"/>
                </a:solidFill>
                <a:latin typeface="Verdana"/>
              </a:rPr>
              <a:t>"buckle" OR "closure"  →  thousands of hits</a:t>
            </a:r>
          </a:p>
        </p:txBody>
      </p:sp>
      <p:sp>
        <p:nvSpPr>
          <p:cNvPr id="9" name="Rounded Rectangle 8"/>
          <p:cNvSpPr/>
          <p:nvPr/>
        </p:nvSpPr>
        <p:spPr>
          <a:xfrm>
            <a:off x="4023360" y="3520440"/>
            <a:ext cx="3291840" cy="77724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0B7A4B"/>
                </a:solidFill>
                <a:latin typeface="Verdana"/>
              </a:rPr>
              <a:t>Phrase leg keeps it</a:t>
            </a:r>
          </a:p>
          <a:p>
            <a:pPr algn="ctr">
              <a:spcAft>
                <a:spcPts val="0"/>
              </a:spcAft>
            </a:pPr>
            <a:r>
              <a:rPr sz="1000" b="0">
                <a:solidFill>
                  <a:srgbClr val="5B667A"/>
                </a:solidFill>
                <a:latin typeface="Verdana"/>
              </a:rPr>
              <a:t>the exact span  →  rare, and usually right</a:t>
            </a:r>
          </a:p>
        </p:txBody>
      </p:sp>
      <p:sp>
        <p:nvSpPr>
          <p:cNvPr id="10" name="Right Arrow 9"/>
          <p:cNvSpPr/>
          <p:nvPr/>
        </p:nvSpPr>
        <p:spPr>
          <a:xfrm>
            <a:off x="3200400" y="2798064"/>
            <a:ext cx="685800" cy="201168"/>
          </a:xfrm>
          <a:prstGeom prst="rightArrow">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3200400" y="3803904"/>
            <a:ext cx="685800" cy="201168"/>
          </a:xfrm>
          <a:prstGeom prst="rightArrow">
            <a:avLst/>
          </a:prstGeom>
          <a:solidFill>
            <a:srgbClr val="0B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863840" y="2514600"/>
            <a:ext cx="3703320" cy="178308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700" b="1">
                <a:solidFill>
                  <a:srgbClr val="0F62FE"/>
                </a:solidFill>
                <a:latin typeface="Verdana"/>
              </a:rPr>
              <a:t>+0.018 score</a:t>
            </a:r>
          </a:p>
          <a:p>
            <a:pPr algn="ctr">
              <a:spcAft>
                <a:spcPts val="0"/>
              </a:spcAft>
            </a:pPr>
            <a:r>
              <a:rPr sz="1400" b="0">
                <a:solidFill>
                  <a:srgbClr val="5B667A"/>
                </a:solidFill>
                <a:latin typeface="Verdana"/>
              </a:rPr>
              <a:t>+5 sessions found.</a:t>
            </a:r>
          </a:p>
          <a:p>
            <a:pPr algn="ctr">
              <a:spcAft>
                <a:spcPts val="0"/>
              </a:spcAft>
            </a:pPr>
            <a:r>
              <a:rPr sz="1400" b="0">
                <a:solidFill>
                  <a:srgbClr val="5B667A"/>
                </a:solidFill>
                <a:latin typeface="Verdana"/>
              </a:rPr>
              <a:t>The only change that added recall</a:t>
            </a:r>
          </a:p>
          <a:p>
            <a:pPr algn="ctr">
              <a:spcAft>
                <a:spcPts val="0"/>
              </a:spcAft>
            </a:pPr>
            <a:r>
              <a:rPr sz="1400" b="0">
                <a:solidFill>
                  <a:srgbClr val="5B667A"/>
                </a:solidFill>
                <a:latin typeface="Verdana"/>
              </a:rPr>
              <a:t>rather than reordering.</a:t>
            </a:r>
          </a:p>
        </p:txBody>
      </p:sp>
      <p:graphicFrame>
        <p:nvGraphicFramePr>
          <p:cNvPr id="13" name="Table 12"/>
          <p:cNvGraphicFramePr>
            <a:graphicFrameLocks noGrp="1"/>
          </p:cNvGraphicFramePr>
          <p:nvPr/>
        </p:nvGraphicFramePr>
        <p:xfrm>
          <a:off x="640080" y="4572000"/>
          <a:ext cx="10908791" cy="1481328"/>
        </p:xfrm>
        <a:graphic>
          <a:graphicData uri="http://schemas.openxmlformats.org/drawingml/2006/table">
            <a:tbl>
              <a:tblPr firstRow="1">
                <a:tableStyleId>{5C22544A-7EE6-4342-B048-85BDC9FD1C3A}</a:tableStyleId>
              </a:tblPr>
              <a:tblGrid>
                <a:gridCol w="4216843"/>
                <a:gridCol w="6691948"/>
              </a:tblGrid>
              <a:tr h="329184">
                <a:tc>
                  <a:txBody>
                    <a:bodyPr/>
                    <a:lstStyle/>
                    <a:p>
                      <a:r>
                        <a:rPr sz="1100" b="1">
                          <a:solidFill>
                            <a:srgbClr val="FFFFFF"/>
                          </a:solidFill>
                          <a:latin typeface="Verdana"/>
                        </a:rPr>
                        <a:t>What this predicted</a:t>
                      </a:r>
                    </a:p>
                  </a:txBody>
                  <a:tcPr marL="82296" marR="82296" marT="36576" marB="36576" anchor="ctr">
                    <a:solidFill>
                      <a:srgbClr val="141B2D"/>
                    </a:solidFill>
                  </a:tcPr>
                </a:tc>
                <a:tc>
                  <a:txBody>
                    <a:bodyPr/>
                    <a:lstStyle/>
                    <a:p>
                      <a:r>
                        <a:rPr sz="1100" b="1">
                          <a:solidFill>
                            <a:srgbClr val="FFFFFF"/>
                          </a:solidFill>
                          <a:latin typeface="Verdana"/>
                        </a:rPr>
                        <a:t>What we measured</a:t>
                      </a:r>
                    </a:p>
                  </a:txBody>
                  <a:tcPr marL="82296" marR="82296" marT="36576" marB="36576" anchor="ctr">
                    <a:solidFill>
                      <a:srgbClr val="141B2D"/>
                    </a:solidFill>
                  </a:tcPr>
                </a:tc>
              </a:tr>
              <a:tr h="384048">
                <a:tc>
                  <a:txBody>
                    <a:bodyPr wrap="square"/>
                    <a:lstStyle/>
                    <a:p>
                      <a:r>
                        <a:rPr sz="1100" b="0">
                          <a:solidFill>
                            <a:srgbClr val="141B2D"/>
                          </a:solidFill>
                          <a:latin typeface="Verdana"/>
                        </a:rPr>
                        <a:t>Adding semantic tolerance should LOSE score here.</a:t>
                      </a:r>
                    </a:p>
                  </a:txBody>
                  <a:tcPr marL="82296" marR="82296" marT="36576" marB="36576" anchor="ctr">
                    <a:solidFill>
                      <a:srgbClr val="FFFFFF"/>
                    </a:solidFill>
                  </a:tcPr>
                </a:tc>
                <a:tc>
                  <a:txBody>
                    <a:bodyPr wrap="square"/>
                    <a:lstStyle/>
                    <a:p>
                      <a:r>
                        <a:rPr sz="1100" b="1">
                          <a:solidFill>
                            <a:srgbClr val="B3261E"/>
                          </a:solidFill>
                          <a:latin typeface="Verdana"/>
                        </a:rPr>
                        <a:t>Dense weight, query rewriting and query cleaning all lost. Three for three.</a:t>
                      </a:r>
                    </a:p>
                  </a:txBody>
                  <a:tcPr marL="82296" marR="82296" marT="36576" marB="36576" anchor="ctr">
                    <a:solidFill>
                      <a:srgbClr val="FFFFFF"/>
                    </a:solidFill>
                  </a:tcPr>
                </a:tc>
              </a:tr>
              <a:tr h="384048">
                <a:tc>
                  <a:txBody>
                    <a:bodyPr wrap="square"/>
                    <a:lstStyle/>
                    <a:p>
                      <a:r>
                        <a:rPr sz="1100" b="0">
                          <a:solidFill>
                            <a:srgbClr val="141B2D"/>
                          </a:solidFill>
                          <a:latin typeface="Verdana"/>
                        </a:rPr>
                        <a:t>Matching whole spans should WIN.</a:t>
                      </a:r>
                    </a:p>
                  </a:txBody>
                  <a:tcPr marL="82296" marR="82296" marT="36576" marB="36576" anchor="ctr">
                    <a:solidFill>
                      <a:srgbClr val="F4F6FA"/>
                    </a:solidFill>
                  </a:tcPr>
                </a:tc>
                <a:tc>
                  <a:txBody>
                    <a:bodyPr wrap="square"/>
                    <a:lstStyle/>
                    <a:p>
                      <a:r>
                        <a:rPr sz="1100" b="1">
                          <a:solidFill>
                            <a:srgbClr val="0B7A4B"/>
                          </a:solidFill>
                          <a:latin typeface="Verdana"/>
                        </a:rPr>
                        <a:t>Phrase leg is our second-largest win, and the sweep has a real peak.</a:t>
                      </a:r>
                    </a:p>
                  </a:txBody>
                  <a:tcPr marL="82296" marR="82296" marT="36576" marB="36576" anchor="ctr">
                    <a:solidFill>
                      <a:srgbClr val="F4F6FA"/>
                    </a:solidFill>
                  </a:tcPr>
                </a:tc>
              </a:tr>
              <a:tr h="384048">
                <a:tc>
                  <a:txBody>
                    <a:bodyPr wrap="square"/>
                    <a:lstStyle/>
                    <a:p>
                      <a:r>
                        <a:rPr sz="1100" b="0">
                          <a:solidFill>
                            <a:srgbClr val="141B2D"/>
                          </a:solidFill>
                          <a:latin typeface="Verdana"/>
                        </a:rPr>
                        <a:t>Stopwords must be kept in a phrase query.</a:t>
                      </a:r>
                    </a:p>
                  </a:txBody>
                  <a:tcPr marL="82296" marR="82296" marT="36576" marB="36576" anchor="ctr">
                    <a:solidFill>
                      <a:srgbClr val="FFFFFF"/>
                    </a:solidFill>
                  </a:tcPr>
                </a:tc>
                <a:tc>
                  <a:txBody>
                    <a:bodyPr wrap="square"/>
                    <a:lstStyle/>
                    <a:p>
                      <a:r>
                        <a:rPr sz="1100" b="0">
                          <a:solidFill>
                            <a:srgbClr val="141B2D"/>
                          </a:solidFill>
                          <a:latin typeface="Verdana"/>
                        </a:rPr>
                        <a:t>"pull on closure" matches; "pull closure" matches nothing.</a:t>
                      </a:r>
                    </a:p>
                  </a:txBody>
                  <a:tcPr marL="82296" marR="82296" marT="36576" marB="36576"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INSIGHT</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Our biggest win came from reading the rules, not the data</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37360"/>
            <a:ext cx="3108960" cy="914400"/>
          </a:xfrm>
          <a:prstGeom prst="roundRect">
            <a:avLst/>
          </a:prstGeom>
          <a:solidFill>
            <a:srgbClr val="F4F6FA"/>
          </a:solidFill>
          <a:ln w="12700">
            <a:solidFill>
              <a:srgbClr val="141B2D"/>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141B2D"/>
                </a:solidFill>
                <a:latin typeface="Verdana"/>
              </a:rPr>
              <a:t>Turn 1</a:t>
            </a:r>
          </a:p>
          <a:p>
            <a:pPr algn="ctr">
              <a:spcAft>
                <a:spcPts val="0"/>
              </a:spcAft>
            </a:pPr>
            <a:r>
              <a:rPr sz="1100" b="0">
                <a:solidFill>
                  <a:srgbClr val="5B667A"/>
                </a:solidFill>
                <a:latin typeface="Verdana"/>
              </a:rPr>
              <a:t>we show 10 products</a:t>
            </a:r>
          </a:p>
        </p:txBody>
      </p:sp>
      <p:sp>
        <p:nvSpPr>
          <p:cNvPr id="6" name="Right Arrow 5"/>
          <p:cNvSpPr/>
          <p:nvPr/>
        </p:nvSpPr>
        <p:spPr>
          <a:xfrm>
            <a:off x="3886200" y="2093976"/>
            <a:ext cx="45720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343400" y="1737360"/>
            <a:ext cx="3108960" cy="91440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0F62FE"/>
                </a:solidFill>
                <a:latin typeface="Verdana"/>
              </a:rPr>
              <a:t>Shopper replies</a:t>
            </a:r>
          </a:p>
          <a:p>
            <a:pPr algn="ctr">
              <a:spcAft>
                <a:spcPts val="0"/>
              </a:spcAft>
            </a:pPr>
            <a:r>
              <a:rPr sz="1100" b="0">
                <a:solidFill>
                  <a:srgbClr val="5B667A"/>
                </a:solidFill>
                <a:latin typeface="Verdana"/>
              </a:rPr>
              <a:t>so none of them was the target</a:t>
            </a:r>
          </a:p>
        </p:txBody>
      </p:sp>
      <p:sp>
        <p:nvSpPr>
          <p:cNvPr id="8" name="Right Arrow 7"/>
          <p:cNvSpPr/>
          <p:nvPr/>
        </p:nvSpPr>
        <p:spPr>
          <a:xfrm>
            <a:off x="7543800" y="2093976"/>
            <a:ext cx="45720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01000" y="1737360"/>
            <a:ext cx="3108960" cy="914400"/>
          </a:xfrm>
          <a:prstGeom prst="roundRect">
            <a:avLst/>
          </a:prstGeom>
          <a:solidFill>
            <a:srgbClr val="FAEAE8"/>
          </a:solidFill>
          <a:ln w="127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B3261E"/>
                </a:solidFill>
                <a:latin typeface="Verdana"/>
              </a:rPr>
              <a:t>Turn 2</a:t>
            </a:r>
          </a:p>
          <a:p>
            <a:pPr algn="ctr">
              <a:spcAft>
                <a:spcPts val="0"/>
              </a:spcAft>
            </a:pPr>
            <a:r>
              <a:rPr sz="1100" b="0">
                <a:solidFill>
                  <a:srgbClr val="5B667A"/>
                </a:solidFill>
                <a:latin typeface="Verdana"/>
              </a:rPr>
              <a:t>showing them again is a wasted slot</a:t>
            </a:r>
          </a:p>
        </p:txBody>
      </p:sp>
      <p:sp>
        <p:nvSpPr>
          <p:cNvPr id="10" name="TextBox 9"/>
          <p:cNvSpPr txBox="1"/>
          <p:nvPr/>
        </p:nvSpPr>
        <p:spPr>
          <a:xfrm>
            <a:off x="685800" y="2880360"/>
            <a:ext cx="10881360" cy="548640"/>
          </a:xfrm>
          <a:prstGeom prst="rect">
            <a:avLst/>
          </a:prstGeom>
          <a:noFill/>
        </p:spPr>
        <p:txBody>
          <a:bodyPr wrap="square" lIns="0" rIns="0" tIns="0" bIns="0">
            <a:spAutoFit/>
          </a:bodyPr>
          <a:lstStyle/>
          <a:p>
            <a:r>
              <a:rPr sz="1400" b="1">
                <a:solidFill>
                  <a:srgbClr val="141B2D"/>
                </a:solidFill>
                <a:latin typeface="Verdana"/>
              </a:rPr>
              <a:t>Being asked for another turn at all is proof that every item shown so far is wrong. We were re-offering 5.3 of 10 slots each turn.</a:t>
            </a:r>
          </a:p>
        </p:txBody>
      </p:sp>
      <p:graphicFrame>
        <p:nvGraphicFramePr>
          <p:cNvPr id="11" name="Table 10"/>
          <p:cNvGraphicFramePr>
            <a:graphicFrameLocks noGrp="1"/>
          </p:cNvGraphicFramePr>
          <p:nvPr/>
        </p:nvGraphicFramePr>
        <p:xfrm>
          <a:off x="640080" y="3611880"/>
          <a:ext cx="10908789" cy="1481328"/>
        </p:xfrm>
        <a:graphic>
          <a:graphicData uri="http://schemas.openxmlformats.org/drawingml/2006/table">
            <a:tbl>
              <a:tblPr firstRow="1">
                <a:tableStyleId>{5C22544A-7EE6-4342-B048-85BDC9FD1C3A}</a:tableStyleId>
              </a:tblPr>
              <a:tblGrid>
                <a:gridCol w="3537986"/>
                <a:gridCol w="1670715"/>
                <a:gridCol w="1474161"/>
                <a:gridCol w="1375883"/>
                <a:gridCol w="1277606"/>
                <a:gridCol w="1572438"/>
              </a:tblGrid>
              <a:tr h="329184">
                <a:tc>
                  <a:txBody>
                    <a:bodyPr/>
                    <a:lstStyle/>
                    <a:p>
                      <a:r>
                        <a:rPr sz="1100" b="1">
                          <a:solidFill>
                            <a:srgbClr val="FFFFFF"/>
                          </a:solidFill>
                          <a:latin typeface="Verdana"/>
                        </a:rPr>
                        <a:t/>
                      </a:r>
                    </a:p>
                  </a:txBody>
                  <a:tcPr marL="82296" marR="82296" marT="36576" marB="36576" anchor="ctr">
                    <a:solidFill>
                      <a:srgbClr val="141B2D"/>
                    </a:solidFill>
                  </a:tcPr>
                </a:tc>
                <a:tc>
                  <a:txBody>
                    <a:bodyPr/>
                    <a:lstStyle/>
                    <a:p>
                      <a:r>
                        <a:rPr sz="1100" b="1">
                          <a:solidFill>
                            <a:srgbClr val="FFFFFF"/>
                          </a:solidFill>
                          <a:latin typeface="Verdana"/>
                        </a:rPr>
                        <a:t>HitRate@10</a:t>
                      </a:r>
                    </a:p>
                  </a:txBody>
                  <a:tcPr marL="82296" marR="82296" marT="36576" marB="36576" anchor="ctr">
                    <a:solidFill>
                      <a:srgbClr val="141B2D"/>
                    </a:solidFill>
                  </a:tcPr>
                </a:tc>
                <a:tc>
                  <a:txBody>
                    <a:bodyPr/>
                    <a:lstStyle/>
                    <a:p>
                      <a:r>
                        <a:rPr sz="1100" b="1">
                          <a:solidFill>
                            <a:srgbClr val="FFFFFF"/>
                          </a:solidFill>
                          <a:latin typeface="Verdana"/>
                        </a:rPr>
                        <a:t>Found</a:t>
                      </a:r>
                    </a:p>
                  </a:txBody>
                  <a:tcPr marL="82296" marR="82296" marT="36576" marB="36576" anchor="ctr">
                    <a:solidFill>
                      <a:srgbClr val="141B2D"/>
                    </a:solidFill>
                  </a:tcPr>
                </a:tc>
                <a:tc>
                  <a:txBody>
                    <a:bodyPr/>
                    <a:lstStyle/>
                    <a:p>
                      <a:r>
                        <a:rPr sz="1100" b="1">
                          <a:solidFill>
                            <a:srgbClr val="FFFFFF"/>
                          </a:solidFill>
                          <a:latin typeface="Verdana"/>
                        </a:rPr>
                        <a:t>MRR</a:t>
                      </a:r>
                    </a:p>
                  </a:txBody>
                  <a:tcPr marL="82296" marR="82296" marT="36576" marB="36576" anchor="ctr">
                    <a:solidFill>
                      <a:srgbClr val="141B2D"/>
                    </a:solidFill>
                  </a:tcPr>
                </a:tc>
                <a:tc>
                  <a:txBody>
                    <a:bodyPr/>
                    <a:lstStyle/>
                    <a:p>
                      <a:r>
                        <a:rPr sz="1100" b="1">
                          <a:solidFill>
                            <a:srgbClr val="FFFFFF"/>
                          </a:solidFill>
                          <a:latin typeface="Verdana"/>
                        </a:rPr>
                        <a:t>Turns</a:t>
                      </a:r>
                    </a:p>
                  </a:txBody>
                  <a:tcPr marL="82296" marR="82296" marT="36576" marB="36576" anchor="ctr">
                    <a:solidFill>
                      <a:srgbClr val="141B2D"/>
                    </a:solidFill>
                  </a:tcPr>
                </a:tc>
                <a:tc>
                  <a:txBody>
                    <a:bodyPr/>
                    <a:lstStyle/>
                    <a:p>
                      <a:r>
                        <a:rPr sz="1100" b="1">
                          <a:solidFill>
                            <a:srgbClr val="FFFFFF"/>
                          </a:solidFill>
                          <a:latin typeface="Verdana"/>
                        </a:rPr>
                        <a:t>Score</a:t>
                      </a:r>
                    </a:p>
                  </a:txBody>
                  <a:tcPr marL="82296" marR="82296" marT="36576" marB="36576" anchor="ctr">
                    <a:solidFill>
                      <a:srgbClr val="141B2D"/>
                    </a:solidFill>
                  </a:tcPr>
                </a:tc>
              </a:tr>
              <a:tr h="384048">
                <a:tc>
                  <a:txBody>
                    <a:bodyPr wrap="square"/>
                    <a:lstStyle/>
                    <a:p>
                      <a:r>
                        <a:rPr sz="1200" b="0">
                          <a:solidFill>
                            <a:srgbClr val="141B2D"/>
                          </a:solidFill>
                          <a:latin typeface="Verdana"/>
                        </a:rPr>
                        <a:t>Before the phrase leg</a:t>
                      </a:r>
                    </a:p>
                  </a:txBody>
                  <a:tcPr marL="82296" marR="82296" marT="36576" marB="36576" anchor="ctr">
                    <a:solidFill>
                      <a:srgbClr val="FFFFFF"/>
                    </a:solidFill>
                  </a:tcPr>
                </a:tc>
                <a:tc>
                  <a:txBody>
                    <a:bodyPr wrap="square"/>
                    <a:lstStyle/>
                    <a:p>
                      <a:r>
                        <a:rPr sz="1200" b="0">
                          <a:solidFill>
                            <a:srgbClr val="141B2D"/>
                          </a:solidFill>
                          <a:latin typeface="Consolas"/>
                        </a:rPr>
                        <a:t>0.755</a:t>
                      </a:r>
                    </a:p>
                  </a:txBody>
                  <a:tcPr marL="82296" marR="82296" marT="36576" marB="36576" anchor="ctr">
                    <a:solidFill>
                      <a:srgbClr val="FFFFFF"/>
                    </a:solidFill>
                  </a:tcPr>
                </a:tc>
                <a:tc>
                  <a:txBody>
                    <a:bodyPr wrap="square"/>
                    <a:lstStyle/>
                    <a:p>
                      <a:r>
                        <a:rPr sz="1200" b="0">
                          <a:solidFill>
                            <a:srgbClr val="141B2D"/>
                          </a:solidFill>
                          <a:latin typeface="Consolas"/>
                        </a:rPr>
                        <a:t>151/200</a:t>
                      </a:r>
                    </a:p>
                  </a:txBody>
                  <a:tcPr marL="82296" marR="82296" marT="36576" marB="36576" anchor="ctr">
                    <a:solidFill>
                      <a:srgbClr val="FFFFFF"/>
                    </a:solidFill>
                  </a:tcPr>
                </a:tc>
                <a:tc>
                  <a:txBody>
                    <a:bodyPr wrap="square"/>
                    <a:lstStyle/>
                    <a:p>
                      <a:r>
                        <a:rPr sz="1200" b="0">
                          <a:solidFill>
                            <a:srgbClr val="141B2D"/>
                          </a:solidFill>
                          <a:latin typeface="Consolas"/>
                        </a:rPr>
                        <a:t>0.399</a:t>
                      </a:r>
                    </a:p>
                  </a:txBody>
                  <a:tcPr marL="82296" marR="82296" marT="36576" marB="36576" anchor="ctr">
                    <a:solidFill>
                      <a:srgbClr val="FFFFFF"/>
                    </a:solidFill>
                  </a:tcPr>
                </a:tc>
                <a:tc>
                  <a:txBody>
                    <a:bodyPr wrap="square"/>
                    <a:lstStyle/>
                    <a:p>
                      <a:r>
                        <a:rPr sz="1200" b="0">
                          <a:solidFill>
                            <a:srgbClr val="141B2D"/>
                          </a:solidFill>
                          <a:latin typeface="Consolas"/>
                        </a:rPr>
                        <a:t>4.94</a:t>
                      </a:r>
                    </a:p>
                  </a:txBody>
                  <a:tcPr marL="82296" marR="82296" marT="36576" marB="36576" anchor="ctr">
                    <a:solidFill>
                      <a:srgbClr val="FFFFFF"/>
                    </a:solidFill>
                  </a:tcPr>
                </a:tc>
                <a:tc>
                  <a:txBody>
                    <a:bodyPr wrap="square"/>
                    <a:lstStyle/>
                    <a:p>
                      <a:r>
                        <a:rPr sz="1200" b="0">
                          <a:solidFill>
                            <a:srgbClr val="141B2D"/>
                          </a:solidFill>
                          <a:latin typeface="Consolas"/>
                        </a:rPr>
                        <a:t>0.6184</a:t>
                      </a:r>
                    </a:p>
                  </a:txBody>
                  <a:tcPr marL="82296" marR="82296" marT="36576" marB="36576" anchor="ctr">
                    <a:solidFill>
                      <a:srgbClr val="FFFFFF"/>
                    </a:solidFill>
                  </a:tcPr>
                </a:tc>
              </a:tr>
              <a:tr h="384048">
                <a:tc>
                  <a:txBody>
                    <a:bodyPr wrap="square"/>
                    <a:lstStyle/>
                    <a:p>
                      <a:r>
                        <a:rPr sz="1200" b="0">
                          <a:solidFill>
                            <a:srgbClr val="141B2D"/>
                          </a:solidFill>
                          <a:latin typeface="Verdana"/>
                        </a:rPr>
                        <a:t>+ phrase leg</a:t>
                      </a:r>
                    </a:p>
                  </a:txBody>
                  <a:tcPr marL="82296" marR="82296" marT="36576" marB="36576" anchor="ctr">
                    <a:solidFill>
                      <a:srgbClr val="F4F6FA"/>
                    </a:solidFill>
                  </a:tcPr>
                </a:tc>
                <a:tc>
                  <a:txBody>
                    <a:bodyPr wrap="square"/>
                    <a:lstStyle/>
                    <a:p>
                      <a:r>
                        <a:rPr sz="1200" b="0">
                          <a:solidFill>
                            <a:srgbClr val="141B2D"/>
                          </a:solidFill>
                          <a:latin typeface="Consolas"/>
                        </a:rPr>
                        <a:t>0.780</a:t>
                      </a:r>
                    </a:p>
                  </a:txBody>
                  <a:tcPr marL="82296" marR="82296" marT="36576" marB="36576" anchor="ctr">
                    <a:solidFill>
                      <a:srgbClr val="F4F6FA"/>
                    </a:solidFill>
                  </a:tcPr>
                </a:tc>
                <a:tc>
                  <a:txBody>
                    <a:bodyPr wrap="square"/>
                    <a:lstStyle/>
                    <a:p>
                      <a:r>
                        <a:rPr sz="1200" b="0">
                          <a:solidFill>
                            <a:srgbClr val="141B2D"/>
                          </a:solidFill>
                          <a:latin typeface="Consolas"/>
                        </a:rPr>
                        <a:t>156/200</a:t>
                      </a:r>
                    </a:p>
                  </a:txBody>
                  <a:tcPr marL="82296" marR="82296" marT="36576" marB="36576" anchor="ctr">
                    <a:solidFill>
                      <a:srgbClr val="F4F6FA"/>
                    </a:solidFill>
                  </a:tcPr>
                </a:tc>
                <a:tc>
                  <a:txBody>
                    <a:bodyPr wrap="square"/>
                    <a:lstStyle/>
                    <a:p>
                      <a:r>
                        <a:rPr sz="1200" b="0">
                          <a:solidFill>
                            <a:srgbClr val="141B2D"/>
                          </a:solidFill>
                          <a:latin typeface="Consolas"/>
                        </a:rPr>
                        <a:t>0.410</a:t>
                      </a:r>
                    </a:p>
                  </a:txBody>
                  <a:tcPr marL="82296" marR="82296" marT="36576" marB="36576" anchor="ctr">
                    <a:solidFill>
                      <a:srgbClr val="F4F6FA"/>
                    </a:solidFill>
                  </a:tcPr>
                </a:tc>
                <a:tc>
                  <a:txBody>
                    <a:bodyPr wrap="square"/>
                    <a:lstStyle/>
                    <a:p>
                      <a:r>
                        <a:rPr sz="1200" b="0">
                          <a:solidFill>
                            <a:srgbClr val="141B2D"/>
                          </a:solidFill>
                          <a:latin typeface="Consolas"/>
                        </a:rPr>
                        <a:t>4.83</a:t>
                      </a:r>
                    </a:p>
                  </a:txBody>
                  <a:tcPr marL="82296" marR="82296" marT="36576" marB="36576" anchor="ctr">
                    <a:solidFill>
                      <a:srgbClr val="F4F6FA"/>
                    </a:solidFill>
                  </a:tcPr>
                </a:tc>
                <a:tc>
                  <a:txBody>
                    <a:bodyPr wrap="square"/>
                    <a:lstStyle/>
                    <a:p>
                      <a:r>
                        <a:rPr sz="1200" b="1">
                          <a:solidFill>
                            <a:srgbClr val="0F62FE"/>
                          </a:solidFill>
                          <a:latin typeface="Consolas"/>
                        </a:rPr>
                        <a:t>0.6366</a:t>
                      </a:r>
                    </a:p>
                  </a:txBody>
                  <a:tcPr marL="82296" marR="82296" marT="36576" marB="36576" anchor="ctr">
                    <a:solidFill>
                      <a:srgbClr val="F4F6FA"/>
                    </a:solidFill>
                  </a:tcPr>
                </a:tc>
              </a:tr>
              <a:tr h="384048">
                <a:tc>
                  <a:txBody>
                    <a:bodyPr wrap="square"/>
                    <a:lstStyle/>
                    <a:p>
                      <a:r>
                        <a:rPr sz="1200" b="0">
                          <a:solidFill>
                            <a:srgbClr val="141B2D"/>
                          </a:solidFill>
                          <a:latin typeface="Verdana"/>
                        </a:rPr>
                        <a:t>+ drop shown items</a:t>
                      </a:r>
                    </a:p>
                  </a:txBody>
                  <a:tcPr marL="82296" marR="82296" marT="36576" marB="36576" anchor="ctr">
                    <a:solidFill>
                      <a:srgbClr val="FFFFFF"/>
                    </a:solidFill>
                  </a:tcPr>
                </a:tc>
                <a:tc>
                  <a:txBody>
                    <a:bodyPr wrap="square"/>
                    <a:lstStyle/>
                    <a:p>
                      <a:r>
                        <a:rPr sz="1200" b="1">
                          <a:solidFill>
                            <a:srgbClr val="0B7A4B"/>
                          </a:solidFill>
                          <a:latin typeface="Consolas"/>
                        </a:rPr>
                        <a:t>0.855</a:t>
                      </a:r>
                    </a:p>
                  </a:txBody>
                  <a:tcPr marL="82296" marR="82296" marT="36576" marB="36576" anchor="ctr">
                    <a:solidFill>
                      <a:srgbClr val="FFFFFF"/>
                    </a:solidFill>
                  </a:tcPr>
                </a:tc>
                <a:tc>
                  <a:txBody>
                    <a:bodyPr wrap="square"/>
                    <a:lstStyle/>
                    <a:p>
                      <a:r>
                        <a:rPr sz="1200" b="1">
                          <a:solidFill>
                            <a:srgbClr val="0B7A4B"/>
                          </a:solidFill>
                          <a:latin typeface="Consolas"/>
                        </a:rPr>
                        <a:t>171/200</a:t>
                      </a:r>
                    </a:p>
                  </a:txBody>
                  <a:tcPr marL="82296" marR="82296" marT="36576" marB="36576" anchor="ctr">
                    <a:solidFill>
                      <a:srgbClr val="FFFFFF"/>
                    </a:solidFill>
                  </a:tcPr>
                </a:tc>
                <a:tc>
                  <a:txBody>
                    <a:bodyPr wrap="square"/>
                    <a:lstStyle/>
                    <a:p>
                      <a:r>
                        <a:rPr sz="1200" b="1">
                          <a:solidFill>
                            <a:srgbClr val="0B7A4B"/>
                          </a:solidFill>
                          <a:latin typeface="Consolas"/>
                        </a:rPr>
                        <a:t>0.462</a:t>
                      </a:r>
                    </a:p>
                  </a:txBody>
                  <a:tcPr marL="82296" marR="82296" marT="36576" marB="36576" anchor="ctr">
                    <a:solidFill>
                      <a:srgbClr val="FFFFFF"/>
                    </a:solidFill>
                  </a:tcPr>
                </a:tc>
                <a:tc>
                  <a:txBody>
                    <a:bodyPr wrap="square"/>
                    <a:lstStyle/>
                    <a:p>
                      <a:r>
                        <a:rPr sz="1200" b="1">
                          <a:solidFill>
                            <a:srgbClr val="0B7A4B"/>
                          </a:solidFill>
                          <a:latin typeface="Consolas"/>
                        </a:rPr>
                        <a:t>4.21</a:t>
                      </a:r>
                    </a:p>
                  </a:txBody>
                  <a:tcPr marL="82296" marR="82296" marT="36576" marB="36576" anchor="ctr">
                    <a:solidFill>
                      <a:srgbClr val="FFFFFF"/>
                    </a:solidFill>
                  </a:tcPr>
                </a:tc>
                <a:tc>
                  <a:txBody>
                    <a:bodyPr wrap="square"/>
                    <a:lstStyle/>
                    <a:p>
                      <a:r>
                        <a:rPr sz="1200" b="1">
                          <a:solidFill>
                            <a:srgbClr val="0B7A4B"/>
                          </a:solidFill>
                          <a:latin typeface="Consolas"/>
                        </a:rPr>
                        <a:t>0.7020</a:t>
                      </a:r>
                    </a:p>
                  </a:txBody>
                  <a:tcPr marL="82296" marR="82296" marT="36576" marB="36576" anchor="ctr">
                    <a:solidFill>
                      <a:srgbClr val="FFFFFF"/>
                    </a:solidFill>
                  </a:tcPr>
                </a:tc>
              </a:tr>
            </a:tbl>
          </a:graphicData>
        </a:graphic>
      </p:graphicFrame>
      <p:sp>
        <p:nvSpPr>
          <p:cNvPr id="12" name="TextBox 11"/>
          <p:cNvSpPr txBox="1"/>
          <p:nvPr/>
        </p:nvSpPr>
        <p:spPr>
          <a:xfrm>
            <a:off x="640080" y="5166360"/>
            <a:ext cx="10881360" cy="457200"/>
          </a:xfrm>
          <a:prstGeom prst="rect">
            <a:avLst/>
          </a:prstGeom>
          <a:noFill/>
        </p:spPr>
        <p:txBody>
          <a:bodyPr wrap="square" lIns="0" rIns="0" tIns="0" bIns="0">
            <a:spAutoFit/>
          </a:bodyPr>
          <a:lstStyle/>
          <a:p>
            <a:r>
              <a:rPr sz="1300" b="1">
                <a:solidFill>
                  <a:srgbClr val="0B7A4B"/>
                </a:solidFill>
                <a:latin typeface="Verdana"/>
              </a:rPr>
              <a:t>+0.084 — and it moves all three terms at once: 15 more sessions found, better ranks, 0.6 fewer turns.</a:t>
            </a:r>
          </a:p>
        </p:txBody>
      </p:sp>
      <p:sp>
        <p:nvSpPr>
          <p:cNvPr id="13" name="TextBox 12"/>
          <p:cNvSpPr txBox="1"/>
          <p:nvPr/>
        </p:nvSpPr>
        <p:spPr>
          <a:xfrm>
            <a:off x="640080" y="5577840"/>
            <a:ext cx="10881360" cy="457200"/>
          </a:xfrm>
          <a:prstGeom prst="rect">
            <a:avLst/>
          </a:prstGeom>
          <a:noFill/>
        </p:spPr>
        <p:txBody>
          <a:bodyPr wrap="square" lIns="0" rIns="0" tIns="0" bIns="0">
            <a:spAutoFit/>
          </a:bodyPr>
          <a:lstStyle/>
          <a:p>
            <a:r>
              <a:rPr sz="1300" b="0">
                <a:solidFill>
                  <a:srgbClr val="5B667A"/>
                </a:solidFill>
                <a:latin typeface="Verdana"/>
              </a:rPr>
              <a:t>The subtlety: on a mid-chat pivot the grader restarts its checking, so a pre-pivot item may become the target again. We clear the shown set on exactly that signal.</a:t>
            </a:r>
          </a:p>
        </p:txBody>
      </p:sp>
      <p:sp>
        <p:nvSpPr>
          <p:cNvPr id="14" name="TextBox 13"/>
          <p:cNvSpPr txBox="1"/>
          <p:nvPr/>
        </p:nvSpPr>
        <p:spPr>
          <a:xfrm>
            <a:off x="640080" y="6126480"/>
            <a:ext cx="10881360" cy="457200"/>
          </a:xfrm>
          <a:prstGeom prst="rect">
            <a:avLst/>
          </a:prstGeom>
          <a:noFill/>
        </p:spPr>
        <p:txBody>
          <a:bodyPr wrap="square" lIns="0" rIns="0" tIns="0" bIns="0">
            <a:spAutoFit/>
          </a:bodyPr>
          <a:lstStyle/>
          <a:p>
            <a:r>
              <a:rPr sz="1300" b="0">
                <a:solidFill>
                  <a:srgbClr val="5B667A"/>
                </a:solidFill>
                <a:latin typeface="Verdana"/>
              </a:rPr>
              <a:t>Those are the numbers of that experiment. Later changes carried the same agent from 0.7020 to the shipped 0.7935.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PROS AND CONS</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Retrieval legs: what each one buys and costs</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45920"/>
          <a:ext cx="10908790" cy="3621024"/>
        </p:xfrm>
        <a:graphic>
          <a:graphicData uri="http://schemas.openxmlformats.org/drawingml/2006/table">
            <a:tbl>
              <a:tblPr firstRow="1">
                <a:tableStyleId>{5C22544A-7EE6-4342-B048-85BDC9FD1C3A}</a:tableStyleId>
              </a:tblPr>
              <a:tblGrid>
                <a:gridCol w="1712950"/>
                <a:gridCol w="3876678"/>
                <a:gridCol w="4147144"/>
                <a:gridCol w="1172018"/>
              </a:tblGrid>
              <a:tr h="329184">
                <a:tc>
                  <a:txBody>
                    <a:bodyPr/>
                    <a:lstStyle/>
                    <a:p>
                      <a:r>
                        <a:rPr sz="1100" b="1">
                          <a:solidFill>
                            <a:srgbClr val="FFFFFF"/>
                          </a:solidFill>
                          <a:latin typeface="Verdana"/>
                        </a:rPr>
                        <a:t>Leg</a:t>
                      </a:r>
                    </a:p>
                  </a:txBody>
                  <a:tcPr marL="82296" marR="82296" marT="36576" marB="36576" anchor="ctr">
                    <a:solidFill>
                      <a:srgbClr val="141B2D"/>
                    </a:solidFill>
                  </a:tcPr>
                </a:tc>
                <a:tc>
                  <a:txBody>
                    <a:bodyPr/>
                    <a:lstStyle/>
                    <a:p>
                      <a:r>
                        <a:rPr sz="1100" b="1">
                          <a:solidFill>
                            <a:srgbClr val="FFFFFF"/>
                          </a:solidFill>
                          <a:latin typeface="Verdana"/>
                        </a:rPr>
                        <a:t>Pro</a:t>
                      </a:r>
                    </a:p>
                  </a:txBody>
                  <a:tcPr marL="82296" marR="82296" marT="36576" marB="36576" anchor="ctr">
                    <a:solidFill>
                      <a:srgbClr val="141B2D"/>
                    </a:solidFill>
                  </a:tcPr>
                </a:tc>
                <a:tc>
                  <a:txBody>
                    <a:bodyPr/>
                    <a:lstStyle/>
                    <a:p>
                      <a:r>
                        <a:rPr sz="1100" b="1">
                          <a:solidFill>
                            <a:srgbClr val="FFFFFF"/>
                          </a:solidFill>
                          <a:latin typeface="Verdana"/>
                        </a:rPr>
                        <a:t>Con</a:t>
                      </a:r>
                    </a:p>
                  </a:txBody>
                  <a:tcPr marL="82296" marR="82296" marT="36576" marB="36576" anchor="ctr">
                    <a:solidFill>
                      <a:srgbClr val="141B2D"/>
                    </a:solidFill>
                  </a:tcPr>
                </a:tc>
                <a:tc>
                  <a:txBody>
                    <a:bodyPr/>
                    <a:lstStyle/>
                    <a:p>
                      <a:r>
                        <a:rPr sz="1100" b="1">
                          <a:solidFill>
                            <a:srgbClr val="FFFFFF"/>
                          </a:solidFill>
                          <a:latin typeface="Verdana"/>
                        </a:rPr>
                        <a:t>Status</a:t>
                      </a:r>
                    </a:p>
                  </a:txBody>
                  <a:tcPr marL="82296" marR="82296" marT="36576" marB="36576" anchor="ctr">
                    <a:solidFill>
                      <a:srgbClr val="141B2D"/>
                    </a:solidFill>
                  </a:tcPr>
                </a:tc>
              </a:tr>
              <a:tr h="658368">
                <a:tc>
                  <a:txBody>
                    <a:bodyPr wrap="square"/>
                    <a:lstStyle/>
                    <a:p>
                      <a:r>
                        <a:rPr sz="1100" b="0">
                          <a:solidFill>
                            <a:srgbClr val="141B2D"/>
                          </a:solidFill>
                          <a:latin typeface="Verdana"/>
                        </a:rPr>
                        <a:t>BM25 keyword</a:t>
                      </a:r>
                    </a:p>
                  </a:txBody>
                  <a:tcPr marL="82296" marR="82296" marT="36576" marB="36576" anchor="ctr">
                    <a:solidFill>
                      <a:srgbClr val="FFFFFF"/>
                    </a:solidFill>
                  </a:tcPr>
                </a:tc>
                <a:tc>
                  <a:txBody>
                    <a:bodyPr wrap="square"/>
                    <a:lstStyle/>
                    <a:p>
                      <a:r>
                        <a:rPr sz="1100" b="0">
                          <a:solidFill>
                            <a:srgbClr val="141B2D"/>
                          </a:solidFill>
                          <a:latin typeface="Verdana"/>
                        </a:rPr>
                        <a:t>Carries this benchmark. Cheap, exact, explainable.</a:t>
                      </a:r>
                    </a:p>
                  </a:txBody>
                  <a:tcPr marL="82296" marR="82296" marT="36576" marB="36576" anchor="ctr">
                    <a:solidFill>
                      <a:srgbClr val="FFFFFF"/>
                    </a:solidFill>
                  </a:tcPr>
                </a:tc>
                <a:tc>
                  <a:txBody>
                    <a:bodyPr wrap="square"/>
                    <a:lstStyle/>
                    <a:p>
                      <a:r>
                        <a:rPr sz="1100" b="0">
                          <a:solidFill>
                            <a:srgbClr val="141B2D"/>
                          </a:solidFill>
                          <a:latin typeface="Verdana"/>
                        </a:rPr>
                        <a:t>Splits phrases into unrelated words.</a:t>
                      </a:r>
                    </a:p>
                  </a:txBody>
                  <a:tcPr marL="82296" marR="82296" marT="36576" marB="36576" anchor="ctr">
                    <a:solidFill>
                      <a:srgbClr val="FFFFFF"/>
                    </a:solidFill>
                  </a:tcPr>
                </a:tc>
                <a:tc>
                  <a:txBody>
                    <a:bodyPr wrap="square"/>
                    <a:lstStyle/>
                    <a:p>
                      <a:r>
                        <a:rPr sz="1100" b="1">
                          <a:solidFill>
                            <a:srgbClr val="0B7A4B"/>
                          </a:solidFill>
                          <a:latin typeface="Verdana"/>
                        </a:rPr>
                        <a:t>core</a:t>
                      </a:r>
                    </a:p>
                  </a:txBody>
                  <a:tcPr marL="82296" marR="82296" marT="36576" marB="36576" anchor="ctr">
                    <a:solidFill>
                      <a:srgbClr val="FFFFFF"/>
                    </a:solidFill>
                  </a:tcPr>
                </a:tc>
              </a:tr>
              <a:tr h="658368">
                <a:tc>
                  <a:txBody>
                    <a:bodyPr wrap="square"/>
                    <a:lstStyle/>
                    <a:p>
                      <a:r>
                        <a:rPr sz="1100" b="0">
                          <a:solidFill>
                            <a:srgbClr val="141B2D"/>
                          </a:solidFill>
                          <a:latin typeface="Verdana"/>
                        </a:rPr>
                        <a:t>Exact phrase</a:t>
                      </a:r>
                    </a:p>
                  </a:txBody>
                  <a:tcPr marL="82296" marR="82296" marT="36576" marB="36576" anchor="ctr">
                    <a:solidFill>
                      <a:srgbClr val="F4F6FA"/>
                    </a:solidFill>
                  </a:tcPr>
                </a:tc>
                <a:tc>
                  <a:txBody>
                    <a:bodyPr wrap="square"/>
                    <a:lstStyle/>
                    <a:p>
                      <a:r>
                        <a:rPr sz="1100" b="0">
                          <a:solidFill>
                            <a:srgbClr val="141B2D"/>
                          </a:solidFill>
                          <a:latin typeface="Verdana"/>
                        </a:rPr>
                        <a:t>Adds recall. Runs with the grain of the data.</a:t>
                      </a:r>
                    </a:p>
                  </a:txBody>
                  <a:tcPr marL="82296" marR="82296" marT="36576" marB="36576" anchor="ctr">
                    <a:solidFill>
                      <a:srgbClr val="F4F6FA"/>
                    </a:solidFill>
                  </a:tcPr>
                </a:tc>
                <a:tc>
                  <a:txBody>
                    <a:bodyPr wrap="square"/>
                    <a:lstStyle/>
                    <a:p>
                      <a:r>
                        <a:rPr sz="1100" b="0">
                          <a:solidFill>
                            <a:srgbClr val="141B2D"/>
                          </a:solidFill>
                          <a:latin typeface="Verdana"/>
                        </a:rPr>
                        <a:t>Tuned to a measured quirk; helps less if the grader paraphrases.</a:t>
                      </a:r>
                    </a:p>
                  </a:txBody>
                  <a:tcPr marL="82296" marR="82296" marT="36576" marB="36576" anchor="ctr">
                    <a:solidFill>
                      <a:srgbClr val="F4F6FA"/>
                    </a:solidFill>
                  </a:tcPr>
                </a:tc>
                <a:tc>
                  <a:txBody>
                    <a:bodyPr wrap="square"/>
                    <a:lstStyle/>
                    <a:p>
                      <a:r>
                        <a:rPr sz="1100" b="1">
                          <a:solidFill>
                            <a:srgbClr val="0B7A4B"/>
                          </a:solidFill>
                          <a:latin typeface="Verdana"/>
                        </a:rPr>
                        <a:t>core</a:t>
                      </a:r>
                    </a:p>
                  </a:txBody>
                  <a:tcPr marL="82296" marR="82296" marT="36576" marB="36576" anchor="ctr">
                    <a:solidFill>
                      <a:srgbClr val="F4F6FA"/>
                    </a:solidFill>
                  </a:tcPr>
                </a:tc>
              </a:tr>
              <a:tr h="658368">
                <a:tc>
                  <a:txBody>
                    <a:bodyPr wrap="square"/>
                    <a:lstStyle/>
                    <a:p>
                      <a:r>
                        <a:rPr sz="1100" b="0">
                          <a:solidFill>
                            <a:srgbClr val="141B2D"/>
                          </a:solidFill>
                          <a:latin typeface="Verdana"/>
                        </a:rPr>
                        <a:t>Dense vectors</a:t>
                      </a:r>
                    </a:p>
                  </a:txBody>
                  <a:tcPr marL="82296" marR="82296" marT="36576" marB="36576" anchor="ctr">
                    <a:solidFill>
                      <a:srgbClr val="FFFFFF"/>
                    </a:solidFill>
                  </a:tcPr>
                </a:tc>
                <a:tc>
                  <a:txBody>
                    <a:bodyPr wrap="square"/>
                    <a:lstStyle/>
                    <a:p>
                      <a:r>
                        <a:rPr sz="1100" b="0">
                          <a:solidFill>
                            <a:srgbClr val="141B2D"/>
                          </a:solidFill>
                          <a:latin typeface="Verdana"/>
                        </a:rPr>
                        <a:t>Insurance: the only leg that survives paraphrasing.</a:t>
                      </a:r>
                    </a:p>
                  </a:txBody>
                  <a:tcPr marL="82296" marR="82296" marT="36576" marB="36576" anchor="ctr">
                    <a:solidFill>
                      <a:srgbClr val="FFFFFF"/>
                    </a:solidFill>
                  </a:tcPr>
                </a:tc>
                <a:tc>
                  <a:txBody>
                    <a:bodyPr wrap="square"/>
                    <a:lstStyle/>
                    <a:p>
                      <a:r>
                        <a:rPr sz="1100" b="0">
                          <a:solidFill>
                            <a:srgbClr val="141B2D"/>
                          </a:solidFill>
                          <a:latin typeface="Verdana"/>
                        </a:rPr>
                        <a:t>Added zero recall in its own A/B. At full weight it evicts correct hits.</a:t>
                      </a:r>
                    </a:p>
                  </a:txBody>
                  <a:tcPr marL="82296" marR="82296" marT="36576" marB="36576" anchor="ctr">
                    <a:solidFill>
                      <a:srgbClr val="FFFFFF"/>
                    </a:solidFill>
                  </a:tcPr>
                </a:tc>
                <a:tc>
                  <a:txBody>
                    <a:bodyPr wrap="square"/>
                    <a:lstStyle/>
                    <a:p>
                      <a:r>
                        <a:rPr sz="1100" b="1">
                          <a:solidFill>
                            <a:srgbClr val="0F62FE"/>
                          </a:solidFill>
                          <a:latin typeface="Verdana"/>
                        </a:rPr>
                        <a:t>weight 1.5</a:t>
                      </a:r>
                    </a:p>
                  </a:txBody>
                  <a:tcPr marL="82296" marR="82296" marT="36576" marB="36576" anchor="ctr">
                    <a:solidFill>
                      <a:srgbClr val="FFFFFF"/>
                    </a:solidFill>
                  </a:tcPr>
                </a:tc>
              </a:tr>
              <a:tr h="658368">
                <a:tc>
                  <a:txBody>
                    <a:bodyPr wrap="square"/>
                    <a:lstStyle/>
                    <a:p>
                      <a:r>
                        <a:rPr sz="1100" b="0">
                          <a:solidFill>
                            <a:srgbClr val="141B2D"/>
                          </a:solidFill>
                          <a:latin typeface="Verdana"/>
                        </a:rPr>
                        <a:t>PRF expansion</a:t>
                      </a:r>
                    </a:p>
                  </a:txBody>
                  <a:tcPr marL="82296" marR="82296" marT="36576" marB="36576" anchor="ctr">
                    <a:solidFill>
                      <a:srgbClr val="F4F6FA"/>
                    </a:solidFill>
                  </a:tcPr>
                </a:tc>
                <a:tc>
                  <a:txBody>
                    <a:bodyPr wrap="square"/>
                    <a:lstStyle/>
                    <a:p>
                      <a:r>
                        <a:rPr sz="1100" b="0">
                          <a:solidFill>
                            <a:srgbClr val="141B2D"/>
                          </a:solidFill>
                          <a:latin typeface="Verdana"/>
                        </a:rPr>
                        <a:t>Turns a one-word query into the vocabulary of its own best hits.</a:t>
                      </a:r>
                    </a:p>
                  </a:txBody>
                  <a:tcPr marL="82296" marR="82296" marT="36576" marB="36576" anchor="ctr">
                    <a:solidFill>
                      <a:srgbClr val="F4F6FA"/>
                    </a:solidFill>
                  </a:tcPr>
                </a:tc>
                <a:tc>
                  <a:txBody>
                    <a:bodyPr wrap="square"/>
                    <a:lstStyle/>
                    <a:p>
                      <a:r>
                        <a:rPr sz="1100" b="0">
                          <a:solidFill>
                            <a:srgbClr val="141B2D"/>
                          </a:solidFill>
                          <a:latin typeface="Verdana"/>
                        </a:rPr>
                        <a:t>Drifts when the first results are wrong — we saw "leather" for shoes pull in jackets.</a:t>
                      </a:r>
                    </a:p>
                  </a:txBody>
                  <a:tcPr marL="82296" marR="82296" marT="36576" marB="36576" anchor="ctr">
                    <a:solidFill>
                      <a:srgbClr val="F4F6FA"/>
                    </a:solidFill>
                  </a:tcPr>
                </a:tc>
                <a:tc>
                  <a:txBody>
                    <a:bodyPr wrap="square"/>
                    <a:lstStyle/>
                    <a:p>
                      <a:r>
                        <a:rPr sz="1100" b="1">
                          <a:solidFill>
                            <a:srgbClr val="0F62FE"/>
                          </a:solidFill>
                          <a:latin typeface="Verdana"/>
                        </a:rPr>
                        <a:t>weight 0.5</a:t>
                      </a:r>
                    </a:p>
                  </a:txBody>
                  <a:tcPr marL="82296" marR="82296" marT="36576" marB="36576" anchor="ctr">
                    <a:solidFill>
                      <a:srgbClr val="F4F6FA"/>
                    </a:solidFill>
                  </a:tcPr>
                </a:tc>
              </a:tr>
              <a:tr h="658368">
                <a:tc>
                  <a:txBody>
                    <a:bodyPr wrap="square"/>
                    <a:lstStyle/>
                    <a:p>
                      <a:r>
                        <a:rPr sz="1100" b="0">
                          <a:solidFill>
                            <a:srgbClr val="141B2D"/>
                          </a:solidFill>
                          <a:latin typeface="Verdana"/>
                        </a:rPr>
                        <a:t>Popularity prior</a:t>
                      </a:r>
                    </a:p>
                  </a:txBody>
                  <a:tcPr marL="82296" marR="82296" marT="36576" marB="36576" anchor="ctr">
                    <a:solidFill>
                      <a:srgbClr val="FFFFFF"/>
                    </a:solidFill>
                  </a:tcPr>
                </a:tc>
                <a:tc>
                  <a:txBody>
                    <a:bodyPr wrap="square"/>
                    <a:lstStyle/>
                    <a:p>
                      <a:r>
                        <a:rPr sz="1100" b="0">
                          <a:solidFill>
                            <a:srgbClr val="141B2D"/>
                          </a:solidFill>
                          <a:latin typeface="Verdana"/>
                        </a:rPr>
                        <a:t>63% of targets sit in the catalog's top 1% by review count.</a:t>
                      </a:r>
                    </a:p>
                  </a:txBody>
                  <a:tcPr marL="82296" marR="82296" marT="36576" marB="36576" anchor="ctr">
                    <a:solidFill>
                      <a:srgbClr val="FFFFFF"/>
                    </a:solidFill>
                  </a:tcPr>
                </a:tc>
                <a:tc>
                  <a:txBody>
                    <a:bodyPr wrap="square"/>
                    <a:lstStyle/>
                    <a:p>
                      <a:r>
                        <a:rPr sz="1100" b="0">
                          <a:solidFill>
                            <a:srgbClr val="141B2D"/>
                          </a:solidFill>
                          <a:latin typeface="Verdana"/>
                        </a:rPr>
                        <a:t>Describes how these samples were drawn, so it may flatten on the hidden set.</a:t>
                      </a:r>
                    </a:p>
                  </a:txBody>
                  <a:tcPr marL="82296" marR="82296" marT="36576" marB="36576" anchor="ctr">
                    <a:solidFill>
                      <a:srgbClr val="FFFFFF"/>
                    </a:solidFill>
                  </a:tcPr>
                </a:tc>
                <a:tc>
                  <a:txBody>
                    <a:bodyPr wrap="square"/>
                    <a:lstStyle/>
                    <a:p>
                      <a:r>
                        <a:rPr sz="1100" b="1">
                          <a:solidFill>
                            <a:srgbClr val="0F62FE"/>
                          </a:solidFill>
                          <a:latin typeface="Verdana"/>
                        </a:rPr>
                        <a:t>0.5, 1.0 at
the boundary</a:t>
                      </a:r>
                    </a:p>
                  </a:txBody>
                  <a:tcPr marL="82296" marR="82296" marT="36576" marB="36576" anchor="ctr">
                    <a:solidFill>
                      <a:srgbClr val="FFFFFF"/>
                    </a:solidFill>
                  </a:tcPr>
                </a:tc>
              </a:tr>
            </a:tbl>
          </a:graphicData>
        </a:graphic>
      </p:graphicFrame>
      <p:sp>
        <p:nvSpPr>
          <p:cNvPr id="6" name="TextBox 5"/>
          <p:cNvSpPr txBox="1"/>
          <p:nvPr/>
        </p:nvSpPr>
        <p:spPr>
          <a:xfrm>
            <a:off x="640080" y="5349240"/>
            <a:ext cx="10881360" cy="457200"/>
          </a:xfrm>
          <a:prstGeom prst="rect">
            <a:avLst/>
          </a:prstGeom>
          <a:noFill/>
        </p:spPr>
        <p:txBody>
          <a:bodyPr wrap="square" lIns="0" rIns="0" tIns="0" bIns="0">
            <a:spAutoFit/>
          </a:bodyPr>
          <a:lstStyle/>
          <a:p>
            <a:r>
              <a:rPr sz="1300" b="0">
                <a:solidFill>
                  <a:srgbClr val="5B667A"/>
                </a:solidFill>
                <a:latin typeface="Verdana"/>
              </a:rPr>
              <a:t>Dense earns its weight on a bet, not a local number: removing it scored higher here, and here the shopper quotes the target verbatim.</a:t>
            </a:r>
          </a:p>
        </p:txBody>
      </p:sp>
      <p:sp>
        <p:nvSpPr>
          <p:cNvPr id="7" name="TextBox 6"/>
          <p:cNvSpPr txBox="1"/>
          <p:nvPr/>
        </p:nvSpPr>
        <p:spPr>
          <a:xfrm>
            <a:off x="640080" y="5742432"/>
            <a:ext cx="10881360" cy="457200"/>
          </a:xfrm>
          <a:prstGeom prst="rect">
            <a:avLst/>
          </a:prstGeom>
          <a:noFill/>
        </p:spPr>
        <p:txBody>
          <a:bodyPr wrap="square" lIns="0" rIns="0" tIns="0" bIns="0">
            <a:spAutoFit/>
          </a:bodyPr>
          <a:lstStyle/>
          <a:p>
            <a:r>
              <a:rPr sz="1300" b="1">
                <a:solidFill>
                  <a:srgbClr val="0F62FE"/>
                </a:solidFill>
                <a:latin typeface="Verdana"/>
              </a:rPr>
              <a:t>The downside is asymmetric. Carrying it costs a little if the grader resembles ours, and rescues us entirely if the grader paraphrases.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PROS AND CONS</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Which question to ask next</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645920"/>
            <a:ext cx="10881360" cy="365760"/>
          </a:xfrm>
          <a:prstGeom prst="rect">
            <a:avLst/>
          </a:prstGeom>
          <a:noFill/>
        </p:spPr>
        <p:txBody>
          <a:bodyPr wrap="square" lIns="0" rIns="0" tIns="0" bIns="0">
            <a:spAutoFit/>
          </a:bodyPr>
          <a:lstStyle/>
          <a:p>
            <a:r>
              <a:rPr sz="1400" b="1">
                <a:solidFill>
                  <a:srgbClr val="141B2D"/>
                </a:solidFill>
                <a:latin typeface="Verdana"/>
              </a:rPr>
              <a:t>A question the shopper cannot answer burns a whole turn. So we measured how often each one lands.</a:t>
            </a:r>
          </a:p>
        </p:txBody>
      </p:sp>
      <p:sp>
        <p:nvSpPr>
          <p:cNvPr id="6" name="TextBox 5"/>
          <p:cNvSpPr txBox="1"/>
          <p:nvPr/>
        </p:nvSpPr>
        <p:spPr>
          <a:xfrm>
            <a:off x="685800" y="2221992"/>
            <a:ext cx="1280160" cy="274320"/>
          </a:xfrm>
          <a:prstGeom prst="rect">
            <a:avLst/>
          </a:prstGeom>
          <a:noFill/>
        </p:spPr>
        <p:txBody>
          <a:bodyPr wrap="square" lIns="0" rIns="0" tIns="0" bIns="0">
            <a:spAutoFit/>
          </a:bodyPr>
          <a:lstStyle/>
          <a:p>
            <a:r>
              <a:rPr sz="1200" b="0">
                <a:solidFill>
                  <a:srgbClr val="141B2D"/>
                </a:solidFill>
                <a:latin typeface="Verdana"/>
              </a:rPr>
              <a:t>feature</a:t>
            </a:r>
          </a:p>
        </p:txBody>
      </p:sp>
      <p:sp>
        <p:nvSpPr>
          <p:cNvPr id="7" name="Rectangle 6"/>
          <p:cNvSpPr/>
          <p:nvPr/>
        </p:nvSpPr>
        <p:spPr>
          <a:xfrm>
            <a:off x="2057400" y="2194560"/>
            <a:ext cx="4740249" cy="25603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2221992"/>
            <a:ext cx="914400" cy="274320"/>
          </a:xfrm>
          <a:prstGeom prst="rect">
            <a:avLst/>
          </a:prstGeom>
          <a:noFill/>
        </p:spPr>
        <p:txBody>
          <a:bodyPr wrap="square" lIns="0" rIns="0" tIns="0" bIns="0">
            <a:spAutoFit/>
          </a:bodyPr>
          <a:lstStyle/>
          <a:p>
            <a:r>
              <a:rPr sz="1200" b="1">
                <a:solidFill>
                  <a:srgbClr val="0F62FE"/>
                </a:solidFill>
                <a:latin typeface="Verdana"/>
              </a:rPr>
              <a:t>96%</a:t>
            </a:r>
          </a:p>
        </p:txBody>
      </p:sp>
      <p:sp>
        <p:nvSpPr>
          <p:cNvPr id="9" name="TextBox 8"/>
          <p:cNvSpPr txBox="1"/>
          <p:nvPr/>
        </p:nvSpPr>
        <p:spPr>
          <a:xfrm>
            <a:off x="685800" y="2606040"/>
            <a:ext cx="1280160" cy="274320"/>
          </a:xfrm>
          <a:prstGeom prst="rect">
            <a:avLst/>
          </a:prstGeom>
          <a:noFill/>
        </p:spPr>
        <p:txBody>
          <a:bodyPr wrap="square" lIns="0" rIns="0" tIns="0" bIns="0">
            <a:spAutoFit/>
          </a:bodyPr>
          <a:lstStyle/>
          <a:p>
            <a:r>
              <a:rPr sz="1200" b="0">
                <a:solidFill>
                  <a:srgbClr val="141B2D"/>
                </a:solidFill>
                <a:latin typeface="Verdana"/>
              </a:rPr>
              <a:t>material</a:t>
            </a:r>
          </a:p>
        </p:txBody>
      </p:sp>
      <p:sp>
        <p:nvSpPr>
          <p:cNvPr id="10" name="Rectangle 9"/>
          <p:cNvSpPr/>
          <p:nvPr/>
        </p:nvSpPr>
        <p:spPr>
          <a:xfrm>
            <a:off x="2057400" y="2578608"/>
            <a:ext cx="3604564" cy="256032"/>
          </a:xfrm>
          <a:prstGeom prst="rect">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2606040"/>
            <a:ext cx="914400" cy="274320"/>
          </a:xfrm>
          <a:prstGeom prst="rect">
            <a:avLst/>
          </a:prstGeom>
          <a:noFill/>
        </p:spPr>
        <p:txBody>
          <a:bodyPr wrap="square" lIns="0" rIns="0" tIns="0" bIns="0">
            <a:spAutoFit/>
          </a:bodyPr>
          <a:lstStyle/>
          <a:p>
            <a:r>
              <a:rPr sz="1200" b="1">
                <a:solidFill>
                  <a:srgbClr val="0F62FE"/>
                </a:solidFill>
                <a:latin typeface="Verdana"/>
              </a:rPr>
              <a:t>73%</a:t>
            </a:r>
          </a:p>
        </p:txBody>
      </p:sp>
      <p:sp>
        <p:nvSpPr>
          <p:cNvPr id="12" name="TextBox 11"/>
          <p:cNvSpPr txBox="1"/>
          <p:nvPr/>
        </p:nvSpPr>
        <p:spPr>
          <a:xfrm>
            <a:off x="685800" y="2990088"/>
            <a:ext cx="1280160" cy="274320"/>
          </a:xfrm>
          <a:prstGeom prst="rect">
            <a:avLst/>
          </a:prstGeom>
          <a:noFill/>
        </p:spPr>
        <p:txBody>
          <a:bodyPr wrap="square" lIns="0" rIns="0" tIns="0" bIns="0">
            <a:spAutoFit/>
          </a:bodyPr>
          <a:lstStyle/>
          <a:p>
            <a:r>
              <a:rPr sz="1200" b="0">
                <a:solidFill>
                  <a:srgbClr val="141B2D"/>
                </a:solidFill>
                <a:latin typeface="Verdana"/>
              </a:rPr>
              <a:t>colour</a:t>
            </a:r>
          </a:p>
        </p:txBody>
      </p:sp>
      <p:sp>
        <p:nvSpPr>
          <p:cNvPr id="13" name="Rectangle 12"/>
          <p:cNvSpPr/>
          <p:nvPr/>
        </p:nvSpPr>
        <p:spPr>
          <a:xfrm>
            <a:off x="2057400" y="2962656"/>
            <a:ext cx="1283817" cy="256032"/>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990088"/>
            <a:ext cx="914400" cy="274320"/>
          </a:xfrm>
          <a:prstGeom prst="rect">
            <a:avLst/>
          </a:prstGeom>
          <a:noFill/>
        </p:spPr>
        <p:txBody>
          <a:bodyPr wrap="square" lIns="0" rIns="0" tIns="0" bIns="0">
            <a:spAutoFit/>
          </a:bodyPr>
          <a:lstStyle/>
          <a:p>
            <a:r>
              <a:rPr sz="1200" b="0">
                <a:solidFill>
                  <a:srgbClr val="5B667A"/>
                </a:solidFill>
                <a:latin typeface="Verdana"/>
              </a:rPr>
              <a:t>26%</a:t>
            </a:r>
          </a:p>
        </p:txBody>
      </p:sp>
      <p:sp>
        <p:nvSpPr>
          <p:cNvPr id="15" name="TextBox 14"/>
          <p:cNvSpPr txBox="1"/>
          <p:nvPr/>
        </p:nvSpPr>
        <p:spPr>
          <a:xfrm>
            <a:off x="685800" y="3374136"/>
            <a:ext cx="1280160" cy="274320"/>
          </a:xfrm>
          <a:prstGeom prst="rect">
            <a:avLst/>
          </a:prstGeom>
          <a:noFill/>
        </p:spPr>
        <p:txBody>
          <a:bodyPr wrap="square" lIns="0" rIns="0" tIns="0" bIns="0">
            <a:spAutoFit/>
          </a:bodyPr>
          <a:lstStyle/>
          <a:p>
            <a:r>
              <a:rPr sz="1200" b="0">
                <a:solidFill>
                  <a:srgbClr val="141B2D"/>
                </a:solidFill>
                <a:latin typeface="Verdana"/>
              </a:rPr>
              <a:t>style</a:t>
            </a:r>
          </a:p>
        </p:txBody>
      </p:sp>
      <p:sp>
        <p:nvSpPr>
          <p:cNvPr id="16" name="Rectangle 15"/>
          <p:cNvSpPr/>
          <p:nvPr/>
        </p:nvSpPr>
        <p:spPr>
          <a:xfrm>
            <a:off x="2057400" y="3346704"/>
            <a:ext cx="444398" cy="256032"/>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0" y="3374136"/>
            <a:ext cx="914400" cy="274320"/>
          </a:xfrm>
          <a:prstGeom prst="rect">
            <a:avLst/>
          </a:prstGeom>
          <a:noFill/>
        </p:spPr>
        <p:txBody>
          <a:bodyPr wrap="square" lIns="0" rIns="0" tIns="0" bIns="0">
            <a:spAutoFit/>
          </a:bodyPr>
          <a:lstStyle/>
          <a:p>
            <a:r>
              <a:rPr sz="1200" b="0">
                <a:solidFill>
                  <a:srgbClr val="5B667A"/>
                </a:solidFill>
                <a:latin typeface="Verdana"/>
              </a:rPr>
              <a:t>9%</a:t>
            </a:r>
          </a:p>
        </p:txBody>
      </p:sp>
      <p:sp>
        <p:nvSpPr>
          <p:cNvPr id="18" name="TextBox 17"/>
          <p:cNvSpPr txBox="1"/>
          <p:nvPr/>
        </p:nvSpPr>
        <p:spPr>
          <a:xfrm>
            <a:off x="685800" y="3758184"/>
            <a:ext cx="1280160" cy="274320"/>
          </a:xfrm>
          <a:prstGeom prst="rect">
            <a:avLst/>
          </a:prstGeom>
          <a:noFill/>
        </p:spPr>
        <p:txBody>
          <a:bodyPr wrap="square" lIns="0" rIns="0" tIns="0" bIns="0">
            <a:spAutoFit/>
          </a:bodyPr>
          <a:lstStyle/>
          <a:p>
            <a:r>
              <a:rPr sz="1200" b="0">
                <a:solidFill>
                  <a:srgbClr val="141B2D"/>
                </a:solidFill>
                <a:latin typeface="Verdana"/>
              </a:rPr>
              <a:t>size</a:t>
            </a:r>
          </a:p>
        </p:txBody>
      </p:sp>
      <p:sp>
        <p:nvSpPr>
          <p:cNvPr id="19" name="Rectangle 18"/>
          <p:cNvSpPr/>
          <p:nvPr/>
        </p:nvSpPr>
        <p:spPr>
          <a:xfrm>
            <a:off x="2057400" y="3730752"/>
            <a:ext cx="246888" cy="256032"/>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3758184"/>
            <a:ext cx="914400" cy="274320"/>
          </a:xfrm>
          <a:prstGeom prst="rect">
            <a:avLst/>
          </a:prstGeom>
          <a:noFill/>
        </p:spPr>
        <p:txBody>
          <a:bodyPr wrap="square" lIns="0" rIns="0" tIns="0" bIns="0">
            <a:spAutoFit/>
          </a:bodyPr>
          <a:lstStyle/>
          <a:p>
            <a:r>
              <a:rPr sz="1200" b="0">
                <a:solidFill>
                  <a:srgbClr val="5B667A"/>
                </a:solidFill>
                <a:latin typeface="Verdana"/>
              </a:rPr>
              <a:t>5%</a:t>
            </a:r>
          </a:p>
        </p:txBody>
      </p:sp>
      <p:sp>
        <p:nvSpPr>
          <p:cNvPr id="21" name="TextBox 20"/>
          <p:cNvSpPr txBox="1"/>
          <p:nvPr/>
        </p:nvSpPr>
        <p:spPr>
          <a:xfrm>
            <a:off x="685800" y="4142232"/>
            <a:ext cx="1280160" cy="274320"/>
          </a:xfrm>
          <a:prstGeom prst="rect">
            <a:avLst/>
          </a:prstGeom>
          <a:noFill/>
        </p:spPr>
        <p:txBody>
          <a:bodyPr wrap="square" lIns="0" rIns="0" tIns="0" bIns="0">
            <a:spAutoFit/>
          </a:bodyPr>
          <a:lstStyle/>
          <a:p>
            <a:r>
              <a:rPr sz="1200" b="0">
                <a:solidFill>
                  <a:srgbClr val="141B2D"/>
                </a:solidFill>
                <a:latin typeface="Verdana"/>
              </a:rPr>
              <a:t>use case</a:t>
            </a:r>
          </a:p>
        </p:txBody>
      </p:sp>
      <p:sp>
        <p:nvSpPr>
          <p:cNvPr id="22" name="Rectangle 21"/>
          <p:cNvSpPr/>
          <p:nvPr/>
        </p:nvSpPr>
        <p:spPr>
          <a:xfrm>
            <a:off x="2057400" y="4114800"/>
            <a:ext cx="98755" cy="256032"/>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0" y="4142232"/>
            <a:ext cx="914400" cy="274320"/>
          </a:xfrm>
          <a:prstGeom prst="rect">
            <a:avLst/>
          </a:prstGeom>
          <a:noFill/>
        </p:spPr>
        <p:txBody>
          <a:bodyPr wrap="square" lIns="0" rIns="0" tIns="0" bIns="0">
            <a:spAutoFit/>
          </a:bodyPr>
          <a:lstStyle/>
          <a:p>
            <a:r>
              <a:rPr sz="1200" b="0">
                <a:solidFill>
                  <a:srgbClr val="5B667A"/>
                </a:solidFill>
                <a:latin typeface="Verdana"/>
              </a:rPr>
              <a:t>2%</a:t>
            </a:r>
          </a:p>
        </p:txBody>
      </p:sp>
      <p:sp>
        <p:nvSpPr>
          <p:cNvPr id="24" name="Rounded Rectangle 23"/>
          <p:cNvSpPr/>
          <p:nvPr/>
        </p:nvSpPr>
        <p:spPr>
          <a:xfrm>
            <a:off x="8229600" y="2194560"/>
            <a:ext cx="3337560" cy="86868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How much it splits the pool</a:t>
            </a:r>
          </a:p>
          <a:p>
            <a:pPr algn="ctr">
              <a:spcAft>
                <a:spcPts val="0"/>
              </a:spcAft>
            </a:pPr>
            <a:r>
              <a:rPr sz="1000" b="0">
                <a:solidFill>
                  <a:srgbClr val="5B667A"/>
                </a:solidFill>
                <a:latin typeface="Verdana"/>
              </a:rPr>
              <a:t>entropy of the attribute</a:t>
            </a:r>
          </a:p>
          <a:p>
            <a:pPr algn="ctr">
              <a:spcAft>
                <a:spcPts val="0"/>
              </a:spcAft>
            </a:pPr>
            <a:r>
              <a:rPr sz="1000" b="0">
                <a:solidFill>
                  <a:srgbClr val="5B667A"/>
                </a:solidFill>
                <a:latin typeface="Verdana"/>
              </a:rPr>
              <a:t>across the live candidates</a:t>
            </a:r>
          </a:p>
        </p:txBody>
      </p:sp>
      <p:sp>
        <p:nvSpPr>
          <p:cNvPr id="25" name="Rounded Rectangle 24"/>
          <p:cNvSpPr/>
          <p:nvPr/>
        </p:nvSpPr>
        <p:spPr>
          <a:xfrm>
            <a:off x="8229600" y="3154680"/>
            <a:ext cx="3337560" cy="86868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200" b="1">
                <a:solidFill>
                  <a:srgbClr val="141B2D"/>
                </a:solidFill>
                <a:latin typeface="Verdana"/>
              </a:rPr>
              <a:t>How often it gets answered</a:t>
            </a:r>
          </a:p>
          <a:p>
            <a:pPr algn="ctr">
              <a:spcAft>
                <a:spcPts val="0"/>
              </a:spcAft>
            </a:pPr>
            <a:r>
              <a:rPr sz="1000" b="0">
                <a:solidFill>
                  <a:srgbClr val="5B667A"/>
                </a:solidFill>
                <a:latin typeface="Verdana"/>
              </a:rPr>
              <a:t>the bars at left, Bayes-updated by</a:t>
            </a:r>
          </a:p>
          <a:p>
            <a:pPr algn="ctr">
              <a:spcAft>
                <a:spcPts val="0"/>
              </a:spcAft>
            </a:pPr>
            <a:r>
              <a:rPr sz="1000" b="0">
                <a:solidFill>
                  <a:srgbClr val="5B667A"/>
                </a:solidFill>
                <a:latin typeface="Verdana"/>
              </a:rPr>
              <a:t>this shopper's own replies</a:t>
            </a:r>
          </a:p>
        </p:txBody>
      </p:sp>
      <p:sp>
        <p:nvSpPr>
          <p:cNvPr id="26" name="Rounded Rectangle 25"/>
          <p:cNvSpPr/>
          <p:nvPr/>
        </p:nvSpPr>
        <p:spPr>
          <a:xfrm>
            <a:off x="8229600" y="4114800"/>
            <a:ext cx="3337560" cy="54864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0F62FE"/>
                </a:solidFill>
                <a:latin typeface="Verdana"/>
              </a:rPr>
              <a:t>One score, one question</a:t>
            </a:r>
          </a:p>
        </p:txBody>
      </p:sp>
      <p:sp>
        <p:nvSpPr>
          <p:cNvPr id="27" name="Down Arrow 26"/>
          <p:cNvSpPr/>
          <p:nvPr/>
        </p:nvSpPr>
        <p:spPr>
          <a:xfrm>
            <a:off x="9802368" y="3090672"/>
            <a:ext cx="201168" cy="128016"/>
          </a:xfrm>
          <a:prstGeom prst="down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Down Arrow 27"/>
          <p:cNvSpPr/>
          <p:nvPr/>
        </p:nvSpPr>
        <p:spPr>
          <a:xfrm>
            <a:off x="9802368" y="4050791"/>
            <a:ext cx="201168" cy="128016"/>
          </a:xfrm>
          <a:prstGeom prst="down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846320"/>
            <a:ext cx="10881360" cy="457200"/>
          </a:xfrm>
          <a:prstGeom prst="rect">
            <a:avLst/>
          </a:prstGeom>
          <a:noFill/>
        </p:spPr>
        <p:txBody>
          <a:bodyPr wrap="square" lIns="0" rIns="0" tIns="0" bIns="0">
            <a:spAutoFit/>
          </a:bodyPr>
          <a:lstStyle/>
          <a:p>
            <a:r>
              <a:rPr sz="1300" b="1">
                <a:solidFill>
                  <a:srgbClr val="0F62FE"/>
                </a:solidFill>
                <a:latin typeface="Verdana"/>
              </a:rPr>
              <a:t>The old policy ordered by entropy alone and fell back to this fixed list, so the two terms took turns. One score lets them trade off on every turn.</a:t>
            </a:r>
          </a:p>
        </p:txBody>
      </p:sp>
      <p:sp>
        <p:nvSpPr>
          <p:cNvPr id="30" name="TextBox 29"/>
          <p:cNvSpPr txBox="1"/>
          <p:nvPr/>
        </p:nvSpPr>
        <p:spPr>
          <a:xfrm>
            <a:off x="640080" y="5394960"/>
            <a:ext cx="10881360" cy="457200"/>
          </a:xfrm>
          <a:prstGeom prst="rect">
            <a:avLst/>
          </a:prstGeom>
          <a:noFill/>
        </p:spPr>
        <p:txBody>
          <a:bodyPr wrap="square" lIns="0" rIns="0" tIns="0" bIns="0">
            <a:spAutoFit/>
          </a:bodyPr>
          <a:lstStyle/>
          <a:p>
            <a:r>
              <a:rPr sz="1300" b="0">
                <a:solidFill>
                  <a:srgbClr val="5B667A"/>
                </a:solidFill>
                <a:latin typeface="Verdana"/>
              </a:rPr>
              <a:t>Honest caveat: "feature" is the simulator's catch-all bucket, so 96% is partly an artifact of how it labels answers.</a:t>
            </a:r>
          </a:p>
        </p:txBody>
      </p:sp>
      <p:sp>
        <p:nvSpPr>
          <p:cNvPr id="31" name="TextBox 30"/>
          <p:cNvSpPr txBox="1"/>
          <p:nvPr/>
        </p:nvSpPr>
        <p:spPr>
          <a:xfrm>
            <a:off x="640080" y="5806440"/>
            <a:ext cx="10881360" cy="457200"/>
          </a:xfrm>
          <a:prstGeom prst="rect">
            <a:avLst/>
          </a:prstGeom>
          <a:noFill/>
        </p:spPr>
        <p:txBody>
          <a:bodyPr wrap="square" lIns="0" rIns="0" tIns="0" bIns="0">
            <a:spAutoFit/>
          </a:bodyPr>
          <a:lstStyle/>
          <a:p>
            <a:r>
              <a:rPr sz="1300" b="0">
                <a:solidFill>
                  <a:srgbClr val="5B667A"/>
                </a:solidFill>
                <a:latin typeface="Verdana"/>
              </a:rPr>
              <a:t>Answerability starts at these population rates, then every reply moves every OTHER attribute's odds by a likelihood ratio measured from the public set — not one constant.</a:t>
            </a:r>
          </a:p>
        </p:txBody>
      </p:sp>
      <p:sp>
        <p:nvSpPr>
          <p:cNvPr id="32" name="TextBox 31"/>
          <p:cNvSpPr txBox="1"/>
          <p:nvPr/>
        </p:nvSpPr>
        <p:spPr>
          <a:xfrm>
            <a:off x="640080" y="6217920"/>
            <a:ext cx="10881360" cy="457200"/>
          </a:xfrm>
          <a:prstGeom prst="rect">
            <a:avLst/>
          </a:prstGeom>
          <a:noFill/>
        </p:spPr>
        <p:txBody>
          <a:bodyPr wrap="square" lIns="0" rIns="0" tIns="0" bIns="0">
            <a:spAutoFit/>
          </a:bodyPr>
          <a:lstStyle/>
          <a:p>
            <a:r>
              <a:rPr sz="1100" b="0">
                <a:solidFill>
                  <a:srgbClr val="5B667A"/>
                </a:solidFill>
                <a:latin typeface="Verdana"/>
              </a:rPr>
              <a:t>Not one-directional: material answered drops the rest 5-9x (same disclosure slot); color/style/size/use_case instead reinforce each other 1.2-4.7x.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ENGINEERING JUDGMENT</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Why belief goes UP on a non-answer here — and wouldn't in production</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81328"/>
            <a:ext cx="10881360" cy="365760"/>
          </a:xfrm>
          <a:prstGeom prst="rect">
            <a:avLst/>
          </a:prstGeom>
          <a:noFill/>
        </p:spPr>
        <p:txBody>
          <a:bodyPr wrap="square" lIns="0" rIns="0" tIns="0" bIns="0">
            <a:spAutoFit/>
          </a:bodyPr>
          <a:lstStyle/>
          <a:p>
            <a:r>
              <a:rPr sz="1350" b="1">
                <a:solidFill>
                  <a:srgbClr val="141B2D"/>
                </a:solidFill>
                <a:latin typeface="Verdana"/>
              </a:rPr>
              <a:t>A likelihood ratio updates ODDS, not probability directly — that's what lets several turns compose:</a:t>
            </a:r>
          </a:p>
        </p:txBody>
      </p:sp>
      <p:sp>
        <p:nvSpPr>
          <p:cNvPr id="6" name="TextBox 5"/>
          <p:cNvSpPr txBox="1"/>
          <p:nvPr/>
        </p:nvSpPr>
        <p:spPr>
          <a:xfrm>
            <a:off x="822960" y="1920240"/>
            <a:ext cx="10424160" cy="502920"/>
          </a:xfrm>
          <a:prstGeom prst="rect">
            <a:avLst/>
          </a:prstGeom>
          <a:noFill/>
        </p:spPr>
        <p:txBody>
          <a:bodyPr wrap="square" lIns="0" rIns="0" tIns="0" bIns="0">
            <a:spAutoFit/>
          </a:bodyPr>
          <a:lstStyle/>
          <a:p>
            <a:r>
              <a:rPr sz="1500" b="1">
                <a:solidFill>
                  <a:srgbClr val="0F62FE"/>
                </a:solidFill>
                <a:latin typeface="Consolas"/>
              </a:rPr>
              <a:t>odds′(B) = odds(B) × LR        where  odds(p) = p / (1 − p)   and   LR = P(B | A observed) / P(B | A not observed)</a:t>
            </a:r>
          </a:p>
        </p:txBody>
      </p:sp>
      <p:sp>
        <p:nvSpPr>
          <p:cNvPr id="7" name="Rounded Rectangle 6"/>
          <p:cNvSpPr/>
          <p:nvPr/>
        </p:nvSpPr>
        <p:spPr>
          <a:xfrm>
            <a:off x="640080" y="2606040"/>
            <a:ext cx="5257800" cy="2148840"/>
          </a:xfrm>
          <a:prstGeom prst="roundRect">
            <a:avLst/>
          </a:prstGeom>
          <a:solidFill>
            <a:srgbClr val="E6F3EC"/>
          </a:solidFill>
          <a:ln w="12700">
            <a:solidFill>
              <a:srgbClr val="0B7A4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0B7A4B"/>
                </a:solidFill>
                <a:latin typeface="Verdana"/>
              </a:rPr>
              <a:t>Worked example: material comes back empty</a:t>
            </a:r>
          </a:p>
          <a:p>
            <a:pPr algn="ctr">
              <a:spcAft>
                <a:spcPts val="0"/>
              </a:spcAft>
            </a:pPr>
            <a:r>
              <a:rPr sz="1250" b="0">
                <a:solidFill>
                  <a:srgbClr val="5B667A"/>
                </a:solidFill>
                <a:latin typeface="Verdana"/>
              </a:rPr>
              <a:t>prior P(color) = 0.255  →  odds = 0.342</a:t>
            </a:r>
          </a:p>
          <a:p>
            <a:pPr algn="ctr">
              <a:spcAft>
                <a:spcPts val="0"/>
              </a:spcAft>
            </a:pPr>
            <a:r>
              <a:rPr sz="1250" b="0">
                <a:solidFill>
                  <a:srgbClr val="5B667A"/>
                </a:solidFill>
                <a:latin typeface="Verdana"/>
              </a:rPr>
              <a:t>LR = P(color | material non-answer) / P(color | material answered)</a:t>
            </a:r>
          </a:p>
          <a:p>
            <a:pPr algn="ctr">
              <a:spcAft>
                <a:spcPts val="0"/>
              </a:spcAft>
            </a:pPr>
            <a:r>
              <a:rPr sz="1250" b="0">
                <a:solidFill>
                  <a:srgbClr val="5B667A"/>
                </a:solidFill>
                <a:latin typeface="Verdana"/>
              </a:rPr>
              <a:t>   = 0.491 / 0.166 = 4.79</a:t>
            </a:r>
          </a:p>
          <a:p>
            <a:pPr algn="ctr">
              <a:spcAft>
                <a:spcPts val="0"/>
              </a:spcAft>
            </a:pPr>
            <a:r>
              <a:rPr sz="1250" b="0">
                <a:solidFill>
                  <a:srgbClr val="5B667A"/>
                </a:solidFill>
                <a:latin typeface="Verdana"/>
              </a:rPr>
              <a:t>odds′ = 0.342 × 4.79 = 1.64  →  P′(color) = 0.62</a:t>
            </a:r>
          </a:p>
        </p:txBody>
      </p:sp>
      <p:sp>
        <p:nvSpPr>
          <p:cNvPr id="8" name="Rounded Rectangle 7"/>
          <p:cNvSpPr/>
          <p:nvPr/>
        </p:nvSpPr>
        <p:spPr>
          <a:xfrm>
            <a:off x="6080760" y="2606040"/>
            <a:ext cx="5486400" cy="214884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141B2D"/>
                </a:solidFill>
                <a:latin typeface="Verdana"/>
              </a:rPr>
              <a:t>Why it goes up, mechanically</a:t>
            </a:r>
          </a:p>
          <a:p>
            <a:pPr algn="ctr">
              <a:spcAft>
                <a:spcPts val="0"/>
              </a:spcAft>
            </a:pPr>
            <a:r>
              <a:rPr sz="1150" b="0">
                <a:solidFill>
                  <a:srgbClr val="5B667A"/>
                </a:solidFill>
                <a:latin typeface="Verdana"/>
              </a:rPr>
              <a:t>A detected material is inserted at hard_constraints[0] and gets</a:t>
            </a:r>
          </a:p>
          <a:p>
            <a:pPr algn="ctr">
              <a:spcAft>
                <a:spcPts val="0"/>
              </a:spcAft>
            </a:pPr>
            <a:r>
              <a:rPr sz="1150" b="0">
                <a:solidFill>
                  <a:srgbClr val="5B667A"/>
                </a:solidFill>
                <a:latin typeface="Verdana"/>
              </a:rPr>
              <a:t>pre-disclosed at turn 1 for buying sessions — it consumes the one</a:t>
            </a:r>
          </a:p>
          <a:p>
            <a:pPr algn="ctr">
              <a:spcAft>
                <a:spcPts val="0"/>
              </a:spcAft>
            </a:pPr>
            <a:r>
              <a:rPr sz="1150" b="0">
                <a:solidFill>
                  <a:srgbClr val="5B667A"/>
                </a:solidFill>
                <a:latin typeface="Verdana"/>
              </a:rPr>
              <a:t>“slot” a minor attribute (color/style/size) would otherwise fill.</a:t>
            </a:r>
          </a:p>
          <a:p>
            <a:pPr algn="ctr">
              <a:spcAft>
                <a:spcPts val="0"/>
              </a:spcAft>
            </a:pPr>
            <a:r>
              <a:rPr sz="1150" b="0">
                <a:solidFill>
                  <a:srgbClr val="5B667A"/>
                </a:solidFill>
                <a:latin typeface="Verdana"/>
              </a:rPr>
              <a:t>No material in that slot literally means more room left for one</a:t>
            </a:r>
          </a:p>
          <a:p>
            <a:pPr algn="ctr">
              <a:spcAft>
                <a:spcPts val="0"/>
              </a:spcAft>
            </a:pPr>
            <a:r>
              <a:rPr sz="1150" b="0">
                <a:solidFill>
                  <a:srgbClr val="5B667A"/>
                </a:solidFill>
                <a:latin typeface="Verdana"/>
              </a:rPr>
              <a:t>of the others. Measured directly from intent_card(), OR 4.8–8.9x</a:t>
            </a:r>
          </a:p>
          <a:p>
            <a:pPr algn="ctr">
              <a:spcAft>
                <a:spcPts val="0"/>
              </a:spcAft>
            </a:pPr>
            <a:r>
              <a:rPr sz="1150" b="0">
                <a:solidFill>
                  <a:srgbClr val="5B667A"/>
                </a:solidFill>
                <a:latin typeface="Verdana"/>
              </a:rPr>
              <a:t>(scripts/eval_bucket_correlation.py) — not assumed.</a:t>
            </a:r>
          </a:p>
        </p:txBody>
      </p:sp>
      <p:sp>
        <p:nvSpPr>
          <p:cNvPr id="9" name="Rounded Rectangle 8"/>
          <p:cNvSpPr/>
          <p:nvPr/>
        </p:nvSpPr>
        <p:spPr>
          <a:xfrm>
            <a:off x="640080" y="4983480"/>
            <a:ext cx="10927080" cy="155448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300" b="1">
                <a:solidFill>
                  <a:srgbClr val="0F62FE"/>
                </a:solidFill>
                <a:latin typeface="Verdana"/>
              </a:rPr>
              <a:t>In a real system, we would ship the opposite sign for this term</a:t>
            </a:r>
          </a:p>
          <a:p>
            <a:pPr algn="ctr">
              <a:spcAft>
                <a:spcPts val="0"/>
              </a:spcAft>
            </a:pPr>
            <a:r>
              <a:rPr sz="1200" b="0">
                <a:solidFill>
                  <a:srgbClr val="5B667A"/>
                </a:solidFill>
                <a:latin typeface="Verdana"/>
              </a:rPr>
              <a:t>This direction is true of intent_card()'s slot mechanics, not of shoppers. A real customer's silence is evidence about THEM — less engaged, terser — which should LOWER confidence they answer the next question too, exactly what color/style/size/use_case already show each other (OR 1.2–4.7x the intuitive way). Shipping material's inverted sign to production fits the evaluator's card construction, not shopper behavior. Kept here because it's honestly measured and score-neutral — an isolated A/B ties both signs to 6 decimals — flagged, not hidden, on purpose.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PROS AND CONS</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Which models, and one we could not afford</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91640"/>
          <a:ext cx="10908790" cy="2596896"/>
        </p:xfrm>
        <a:graphic>
          <a:graphicData uri="http://schemas.openxmlformats.org/drawingml/2006/table">
            <a:tbl>
              <a:tblPr firstRow="1">
                <a:tableStyleId>{5C22544A-7EE6-4342-B048-85BDC9FD1C3A}</a:tableStyleId>
              </a:tblPr>
              <a:tblGrid>
                <a:gridCol w="2475104"/>
                <a:gridCol w="1008375"/>
                <a:gridCol w="1466728"/>
                <a:gridCol w="4766867"/>
                <a:gridCol w="1191716"/>
              </a:tblGrid>
              <a:tr h="329184">
                <a:tc>
                  <a:txBody>
                    <a:bodyPr/>
                    <a:lstStyle/>
                    <a:p>
                      <a:r>
                        <a:rPr sz="1100" b="1">
                          <a:solidFill>
                            <a:srgbClr val="FFFFFF"/>
                          </a:solidFill>
                          <a:latin typeface="Verdana"/>
                        </a:rPr>
                        <a:t>Model</a:t>
                      </a:r>
                    </a:p>
                  </a:txBody>
                  <a:tcPr marL="82296" marR="82296" marT="36576" marB="36576" anchor="ctr">
                    <a:solidFill>
                      <a:srgbClr val="141B2D"/>
                    </a:solidFill>
                  </a:tcPr>
                </a:tc>
                <a:tc>
                  <a:txBody>
                    <a:bodyPr/>
                    <a:lstStyle/>
                    <a:p>
                      <a:r>
                        <a:rPr sz="1100" b="1">
                          <a:solidFill>
                            <a:srgbClr val="FFFFFF"/>
                          </a:solidFill>
                          <a:latin typeface="Verdana"/>
                        </a:rPr>
                        <a:t>Size</a:t>
                      </a:r>
                    </a:p>
                  </a:txBody>
                  <a:tcPr marL="82296" marR="82296" marT="36576" marB="36576" anchor="ctr">
                    <a:solidFill>
                      <a:srgbClr val="141B2D"/>
                    </a:solidFill>
                  </a:tcPr>
                </a:tc>
                <a:tc>
                  <a:txBody>
                    <a:bodyPr/>
                    <a:lstStyle/>
                    <a:p>
                      <a:r>
                        <a:rPr sz="1100" b="1">
                          <a:solidFill>
                            <a:srgbClr val="FFFFFF"/>
                          </a:solidFill>
                          <a:latin typeface="Verdana"/>
                        </a:rPr>
                        <a:t>Speed</a:t>
                      </a:r>
                    </a:p>
                  </a:txBody>
                  <a:tcPr marL="82296" marR="82296" marT="36576" marB="36576" anchor="ctr">
                    <a:solidFill>
                      <a:srgbClr val="141B2D"/>
                    </a:solidFill>
                  </a:tcPr>
                </a:tc>
                <a:tc>
                  <a:txBody>
                    <a:bodyPr/>
                    <a:lstStyle/>
                    <a:p>
                      <a:r>
                        <a:rPr sz="1100" b="1">
                          <a:solidFill>
                            <a:srgbClr val="FFFFFF"/>
                          </a:solidFill>
                          <a:latin typeface="Verdana"/>
                        </a:rPr>
                        <a:t>Used for</a:t>
                      </a:r>
                    </a:p>
                  </a:txBody>
                  <a:tcPr marL="82296" marR="82296" marT="36576" marB="36576" anchor="ctr">
                    <a:solidFill>
                      <a:srgbClr val="141B2D"/>
                    </a:solidFill>
                  </a:tcPr>
                </a:tc>
                <a:tc>
                  <a:txBody>
                    <a:bodyPr/>
                    <a:lstStyle/>
                    <a:p>
                      <a:r>
                        <a:rPr sz="1100" b="1">
                          <a:solidFill>
                            <a:srgbClr val="FFFFFF"/>
                          </a:solidFill>
                          <a:latin typeface="Verdana"/>
                        </a:rPr>
                        <a:t>Verdict</a:t>
                      </a:r>
                    </a:p>
                  </a:txBody>
                  <a:tcPr marL="82296" marR="82296" marT="36576" marB="36576" anchor="ctr">
                    <a:solidFill>
                      <a:srgbClr val="141B2D"/>
                    </a:solidFill>
                  </a:tcPr>
                </a:tc>
              </a:tr>
              <a:tr h="566928">
                <a:tc>
                  <a:txBody>
                    <a:bodyPr wrap="square"/>
                    <a:lstStyle/>
                    <a:p>
                      <a:r>
                        <a:rPr sz="1100" b="0">
                          <a:solidFill>
                            <a:srgbClr val="141B2D"/>
                          </a:solidFill>
                          <a:latin typeface="Verdana"/>
                        </a:rPr>
                        <a:t>bge-small-en-v1.5</a:t>
                      </a:r>
                    </a:p>
                  </a:txBody>
                  <a:tcPr marL="82296" marR="82296" marT="36576" marB="36576" anchor="ctr">
                    <a:solidFill>
                      <a:srgbClr val="FFFFFF"/>
                    </a:solidFill>
                  </a:tcPr>
                </a:tc>
                <a:tc>
                  <a:txBody>
                    <a:bodyPr wrap="square"/>
                    <a:lstStyle/>
                    <a:p>
                      <a:r>
                        <a:rPr sz="1100" b="0">
                          <a:solidFill>
                            <a:srgbClr val="141B2D"/>
                          </a:solidFill>
                          <a:latin typeface="Verdana"/>
                        </a:rPr>
                        <a:t>129 MB</a:t>
                      </a:r>
                    </a:p>
                  </a:txBody>
                  <a:tcPr marL="82296" marR="82296" marT="36576" marB="36576" anchor="ctr">
                    <a:solidFill>
                      <a:srgbClr val="FFFFFF"/>
                    </a:solidFill>
                  </a:tcPr>
                </a:tc>
                <a:tc>
                  <a:txBody>
                    <a:bodyPr wrap="square"/>
                    <a:lstStyle/>
                    <a:p>
                      <a:r>
                        <a:rPr sz="1100" b="0">
                          <a:solidFill>
                            <a:srgbClr val="141B2D"/>
                          </a:solidFill>
                          <a:latin typeface="Verdana"/>
                        </a:rPr>
                        <a:t>fast</a:t>
                      </a:r>
                    </a:p>
                  </a:txBody>
                  <a:tcPr marL="82296" marR="82296" marT="36576" marB="36576" anchor="ctr">
                    <a:solidFill>
                      <a:srgbClr val="FFFFFF"/>
                    </a:solidFill>
                  </a:tcPr>
                </a:tc>
                <a:tc>
                  <a:txBody>
                    <a:bodyPr wrap="square"/>
                    <a:lstStyle/>
                    <a:p>
                      <a:r>
                        <a:rPr sz="1100" b="0">
                          <a:solidFill>
                            <a:srgbClr val="141B2D"/>
                          </a:solidFill>
                          <a:latin typeface="Verdana"/>
                        </a:rPr>
                        <a:t>Dense search, intent, pivot and non-answer detection</a:t>
                      </a:r>
                    </a:p>
                  </a:txBody>
                  <a:tcPr marL="82296" marR="82296" marT="36576" marB="36576" anchor="ctr">
                    <a:solidFill>
                      <a:srgbClr val="FFFFFF"/>
                    </a:solidFill>
                  </a:tcPr>
                </a:tc>
                <a:tc>
                  <a:txBody>
                    <a:bodyPr wrap="square"/>
                    <a:lstStyle/>
                    <a:p>
                      <a:r>
                        <a:rPr sz="1100" b="1">
                          <a:solidFill>
                            <a:srgbClr val="0B7A4B"/>
                          </a:solidFill>
                          <a:latin typeface="Verdana"/>
                        </a:rPr>
                        <a:t>shipped</a:t>
                      </a:r>
                    </a:p>
                  </a:txBody>
                  <a:tcPr marL="82296" marR="82296" marT="36576" marB="36576" anchor="ctr">
                    <a:solidFill>
                      <a:srgbClr val="FFFFFF"/>
                    </a:solidFill>
                  </a:tcPr>
                </a:tc>
              </a:tr>
              <a:tr h="566928">
                <a:tc>
                  <a:txBody>
                    <a:bodyPr wrap="square"/>
                    <a:lstStyle/>
                    <a:p>
                      <a:r>
                        <a:rPr sz="1100" b="0">
                          <a:solidFill>
                            <a:srgbClr val="141B2D"/>
                          </a:solidFill>
                          <a:latin typeface="Verdana"/>
                        </a:rPr>
                        <a:t>distilbert (masked LM)</a:t>
                      </a:r>
                    </a:p>
                  </a:txBody>
                  <a:tcPr marL="82296" marR="82296" marT="36576" marB="36576" anchor="ctr">
                    <a:solidFill>
                      <a:srgbClr val="F4F6FA"/>
                    </a:solidFill>
                  </a:tcPr>
                </a:tc>
                <a:tc>
                  <a:txBody>
                    <a:bodyPr wrap="square"/>
                    <a:lstStyle/>
                    <a:p>
                      <a:r>
                        <a:rPr sz="1100" b="0">
                          <a:solidFill>
                            <a:srgbClr val="141B2D"/>
                          </a:solidFill>
                          <a:latin typeface="Verdana"/>
                        </a:rPr>
                        <a:t>257 MB</a:t>
                      </a:r>
                    </a:p>
                  </a:txBody>
                  <a:tcPr marL="82296" marR="82296" marT="36576" marB="36576" anchor="ctr">
                    <a:solidFill>
                      <a:srgbClr val="F4F6FA"/>
                    </a:solidFill>
                  </a:tcPr>
                </a:tc>
                <a:tc>
                  <a:txBody>
                    <a:bodyPr wrap="square"/>
                    <a:lstStyle/>
                    <a:p>
                      <a:r>
                        <a:rPr sz="1100" b="0">
                          <a:solidFill>
                            <a:srgbClr val="141B2D"/>
                          </a:solidFill>
                          <a:latin typeface="Verdana"/>
                        </a:rPr>
                        <a:t>246 ms / call</a:t>
                      </a:r>
                    </a:p>
                  </a:txBody>
                  <a:tcPr marL="82296" marR="82296" marT="36576" marB="36576" anchor="ctr">
                    <a:solidFill>
                      <a:srgbClr val="F4F6FA"/>
                    </a:solidFill>
                  </a:tcPr>
                </a:tc>
                <a:tc>
                  <a:txBody>
                    <a:bodyPr wrap="square"/>
                    <a:lstStyle/>
                    <a:p>
                      <a:r>
                        <a:rPr sz="1100" b="0">
                          <a:solidFill>
                            <a:srgbClr val="141B2D"/>
                          </a:solidFill>
                          <a:latin typeface="Verdana"/>
                        </a:rPr>
                        <a:t>Guessing an unstated material from turn 1</a:t>
                      </a:r>
                    </a:p>
                  </a:txBody>
                  <a:tcPr marL="82296" marR="82296" marT="36576" marB="36576" anchor="ctr">
                    <a:solidFill>
                      <a:srgbClr val="F4F6FA"/>
                    </a:solidFill>
                  </a:tcPr>
                </a:tc>
                <a:tc>
                  <a:txBody>
                    <a:bodyPr wrap="square"/>
                    <a:lstStyle/>
                    <a:p>
                      <a:r>
                        <a:rPr sz="1100" b="1">
                          <a:solidFill>
                            <a:srgbClr val="5B667A"/>
                          </a:solidFill>
                          <a:latin typeface="Verdana"/>
                        </a:rPr>
                        <a:t>shipped, marginal</a:t>
                      </a:r>
                    </a:p>
                  </a:txBody>
                  <a:tcPr marL="82296" marR="82296" marT="36576" marB="36576" anchor="ctr">
                    <a:solidFill>
                      <a:srgbClr val="F4F6FA"/>
                    </a:solidFill>
                  </a:tcPr>
                </a:tc>
              </a:tr>
              <a:tr h="566928">
                <a:tc>
                  <a:txBody>
                    <a:bodyPr wrap="square"/>
                    <a:lstStyle/>
                    <a:p>
                      <a:r>
                        <a:rPr sz="1100" b="0">
                          <a:solidFill>
                            <a:srgbClr val="141B2D"/>
                          </a:solidFill>
                          <a:latin typeface="Verdana"/>
                        </a:rPr>
                        <a:t>MiniLM cross-encoder</a:t>
                      </a:r>
                    </a:p>
                  </a:txBody>
                  <a:tcPr marL="82296" marR="82296" marT="36576" marB="36576" anchor="ctr">
                    <a:solidFill>
                      <a:srgbClr val="FFFFFF"/>
                    </a:solidFill>
                  </a:tcPr>
                </a:tc>
                <a:tc>
                  <a:txBody>
                    <a:bodyPr wrap="square"/>
                    <a:lstStyle/>
                    <a:p>
                      <a:r>
                        <a:rPr sz="1100" b="0">
                          <a:solidFill>
                            <a:srgbClr val="141B2D"/>
                          </a:solidFill>
                          <a:latin typeface="Verdana"/>
                        </a:rPr>
                        <a:t>88 MB</a:t>
                      </a:r>
                    </a:p>
                  </a:txBody>
                  <a:tcPr marL="82296" marR="82296" marT="36576" marB="36576" anchor="ctr">
                    <a:solidFill>
                      <a:srgbClr val="FFFFFF"/>
                    </a:solidFill>
                  </a:tcPr>
                </a:tc>
                <a:tc>
                  <a:txBody>
                    <a:bodyPr wrap="square"/>
                    <a:lstStyle/>
                    <a:p>
                      <a:r>
                        <a:rPr sz="1100" b="0">
                          <a:solidFill>
                            <a:srgbClr val="141B2D"/>
                          </a:solidFill>
                          <a:latin typeface="Verdana"/>
                        </a:rPr>
                        <a:t>~17 ms / pair</a:t>
                      </a:r>
                    </a:p>
                  </a:txBody>
                  <a:tcPr marL="82296" marR="82296" marT="36576" marB="36576" anchor="ctr">
                    <a:solidFill>
                      <a:srgbClr val="FFFFFF"/>
                    </a:solidFill>
                  </a:tcPr>
                </a:tc>
                <a:tc>
                  <a:txBody>
                    <a:bodyPr wrap="square"/>
                    <a:lstStyle/>
                    <a:p>
                      <a:r>
                        <a:rPr sz="1100" b="0">
                          <a:solidFill>
                            <a:srgbClr val="141B2D"/>
                          </a:solidFill>
                          <a:latin typeface="Verdana"/>
                        </a:rPr>
                        <a:t>Re-ranks the top 20 into the shown 10</a:t>
                      </a:r>
                    </a:p>
                  </a:txBody>
                  <a:tcPr marL="82296" marR="82296" marT="36576" marB="36576" anchor="ctr">
                    <a:solidFill>
                      <a:srgbClr val="FFFFFF"/>
                    </a:solidFill>
                  </a:tcPr>
                </a:tc>
                <a:tc>
                  <a:txBody>
                    <a:bodyPr wrap="square"/>
                    <a:lstStyle/>
                    <a:p>
                      <a:r>
                        <a:rPr sz="1100" b="1">
                          <a:solidFill>
                            <a:srgbClr val="5B667A"/>
                          </a:solidFill>
                          <a:latin typeface="Verdana"/>
                        </a:rPr>
                        <a:t>shipped, weight
unswept</a:t>
                      </a:r>
                    </a:p>
                  </a:txBody>
                  <a:tcPr marL="82296" marR="82296" marT="36576" marB="36576" anchor="ctr">
                    <a:solidFill>
                      <a:srgbClr val="FFFFFF"/>
                    </a:solidFill>
                  </a:tcPr>
                </a:tc>
              </a:tr>
              <a:tr h="566928">
                <a:tc>
                  <a:txBody>
                    <a:bodyPr wrap="square"/>
                    <a:lstStyle/>
                    <a:p>
                      <a:r>
                        <a:rPr sz="1100" b="0">
                          <a:solidFill>
                            <a:srgbClr val="141B2D"/>
                          </a:solidFill>
                          <a:latin typeface="Verdana"/>
                        </a:rPr>
                        <a:t>Qwen3-Reranker-0.6B</a:t>
                      </a:r>
                    </a:p>
                  </a:txBody>
                  <a:tcPr marL="82296" marR="82296" marT="36576" marB="36576" anchor="ctr">
                    <a:solidFill>
                      <a:srgbClr val="F4F6FA"/>
                    </a:solidFill>
                  </a:tcPr>
                </a:tc>
                <a:tc>
                  <a:txBody>
                    <a:bodyPr wrap="square"/>
                    <a:lstStyle/>
                    <a:p>
                      <a:r>
                        <a:rPr sz="1100" b="0">
                          <a:solidFill>
                            <a:srgbClr val="141B2D"/>
                          </a:solidFill>
                          <a:latin typeface="Verdana"/>
                        </a:rPr>
                        <a:t>1.2 GB</a:t>
                      </a:r>
                    </a:p>
                  </a:txBody>
                  <a:tcPr marL="82296" marR="82296" marT="36576" marB="36576" anchor="ctr">
                    <a:solidFill>
                      <a:srgbClr val="F4F6FA"/>
                    </a:solidFill>
                  </a:tcPr>
                </a:tc>
                <a:tc>
                  <a:txBody>
                    <a:bodyPr wrap="square"/>
                    <a:lstStyle/>
                    <a:p>
                      <a:r>
                        <a:rPr sz="1100" b="1">
                          <a:solidFill>
                            <a:srgbClr val="B3261E"/>
                          </a:solidFill>
                          <a:latin typeface="Verdana"/>
                        </a:rPr>
                        <a:t>~27 s / pair</a:t>
                      </a:r>
                    </a:p>
                  </a:txBody>
                  <a:tcPr marL="82296" marR="82296" marT="36576" marB="36576" anchor="ctr">
                    <a:solidFill>
                      <a:srgbClr val="F4F6FA"/>
                    </a:solidFill>
                  </a:tcPr>
                </a:tc>
                <a:tc>
                  <a:txBody>
                    <a:bodyPr wrap="square"/>
                    <a:lstStyle/>
                    <a:p>
                      <a:r>
                        <a:rPr sz="1100" b="0">
                          <a:solidFill>
                            <a:srgbClr val="141B2D"/>
                          </a:solidFill>
                          <a:latin typeface="Verdana"/>
                        </a:rPr>
                        <a:t>Would re-rank better — 75 hours for ONE evaluation run</a:t>
                      </a:r>
                    </a:p>
                  </a:txBody>
                  <a:tcPr marL="82296" marR="82296" marT="36576" marB="36576" anchor="ctr">
                    <a:solidFill>
                      <a:srgbClr val="F4F6FA"/>
                    </a:solidFill>
                  </a:tcPr>
                </a:tc>
                <a:tc>
                  <a:txBody>
                    <a:bodyPr wrap="square"/>
                    <a:lstStyle/>
                    <a:p>
                      <a:r>
                        <a:rPr sz="1100" b="1">
                          <a:solidFill>
                            <a:srgbClr val="B3261E"/>
                          </a:solidFill>
                          <a:latin typeface="Verdana"/>
                        </a:rPr>
                        <a:t>rejected</a:t>
                      </a:r>
                    </a:p>
                  </a:txBody>
                  <a:tcPr marL="82296" marR="82296" marT="36576" marB="36576" anchor="ctr">
                    <a:solidFill>
                      <a:srgbClr val="F4F6FA"/>
                    </a:solidFill>
                  </a:tcPr>
                </a:tc>
              </a:tr>
            </a:tbl>
          </a:graphicData>
        </a:graphic>
      </p:graphicFrame>
      <p:sp>
        <p:nvSpPr>
          <p:cNvPr id="6" name="Rounded Rectangle 5"/>
          <p:cNvSpPr/>
          <p:nvPr/>
        </p:nvSpPr>
        <p:spPr>
          <a:xfrm>
            <a:off x="640080" y="4480560"/>
            <a:ext cx="10908792" cy="82296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a:solidFill>
                  <a:srgbClr val="0F62FE"/>
                </a:solidFill>
                <a:latin typeface="Verdana"/>
              </a:rPr>
              <a:t>A model we cannot A/B is a model we cannot justify.</a:t>
            </a:r>
          </a:p>
          <a:p>
            <a:pPr algn="ctr">
              <a:spcAft>
                <a:spcPts val="0"/>
              </a:spcAft>
            </a:pPr>
            <a:r>
              <a:rPr sz="1300" b="0">
                <a:solidFill>
                  <a:srgbClr val="5B667A"/>
                </a:solidFill>
                <a:latin typeface="Verdana"/>
              </a:rPr>
              <a:t>Qwen judges relevance better than MiniLM — but one A/B run would have taken 75 hours. MiniLM shipped inside a multi-change bundle and has never been isolated; Qwen ships at weight zero, built and unused.</a:t>
            </a:r>
          </a:p>
        </p:txBody>
      </p:sp>
      <p:sp>
        <p:nvSpPr>
          <p:cNvPr id="7" name="TextBox 6"/>
          <p:cNvSpPr txBox="1"/>
          <p:nvPr/>
        </p:nvSpPr>
        <p:spPr>
          <a:xfrm>
            <a:off x="640080" y="5577840"/>
            <a:ext cx="10881360" cy="457200"/>
          </a:xfrm>
          <a:prstGeom prst="rect">
            <a:avLst/>
          </a:prstGeom>
          <a:noFill/>
        </p:spPr>
        <p:txBody>
          <a:bodyPr wrap="square" lIns="0" rIns="0" tIns="0" bIns="0">
            <a:spAutoFit/>
          </a:bodyPr>
          <a:lstStyle/>
          <a:p>
            <a:r>
              <a:rPr sz="1300" b="0">
                <a:solidFill>
                  <a:srgbClr val="5B667A"/>
                </a:solidFill>
                <a:latin typeface="Verdana"/>
              </a:rPr>
              <a:t>Nothing is fine-tuned. The rules put training base models out of scope, and we had no labelled data that was not the simulator's own two templates.</a:t>
            </a:r>
          </a:p>
        </p:txBody>
      </p:sp>
      <p:sp>
        <p:nvSpPr>
          <p:cNvPr id="8" name="TextBox 7"/>
          <p:cNvSpPr txBox="1"/>
          <p:nvPr/>
        </p:nvSpPr>
        <p:spPr>
          <a:xfrm>
            <a:off x="640080" y="6172200"/>
            <a:ext cx="10881360" cy="457200"/>
          </a:xfrm>
          <a:prstGeom prst="rect">
            <a:avLst/>
          </a:prstGeom>
          <a:noFill/>
        </p:spPr>
        <p:txBody>
          <a:bodyPr wrap="square" lIns="0" rIns="0" tIns="0" bIns="0">
            <a:spAutoFit/>
          </a:bodyPr>
          <a:lstStyle/>
          <a:p>
            <a:r>
              <a:rPr sz="1300" b="0">
                <a:solidFill>
                  <a:srgbClr val="5B667A"/>
                </a:solidFill>
                <a:latin typeface="Verdana"/>
              </a:rPr>
              <a:t>Everything runs on CPU with the network off. Loaded assets: 460 MB (encoder 129 + masked LM 257 + dense index 74).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WORKFLOW</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How every change on this project got made</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828800"/>
            <a:ext cx="3246120" cy="14173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141B2D"/>
                </a:solidFill>
                <a:latin typeface="Verdana"/>
              </a:rPr>
              <a:t>1. GENERATE IDEA</a:t>
            </a:r>
          </a:p>
          <a:p>
            <a:pPr algn="ctr">
              <a:spcAft>
                <a:spcPts val="0"/>
              </a:spcAft>
            </a:pPr>
            <a:r>
              <a:rPr sz="1200" b="0">
                <a:solidFill>
                  <a:srgbClr val="5B667A"/>
                </a:solidFill>
                <a:latin typeface="Verdana"/>
              </a:rPr>
              <a:t>A hypothesis from reading the scorer,</a:t>
            </a:r>
          </a:p>
          <a:p>
            <a:pPr algn="ctr">
              <a:spcAft>
                <a:spcPts val="0"/>
              </a:spcAft>
            </a:pPr>
            <a:r>
              <a:rPr sz="1200" b="0">
                <a:solidFill>
                  <a:srgbClr val="5B667A"/>
                </a:solidFill>
                <a:latin typeface="Verdana"/>
              </a:rPr>
              <a:t>a miss census, or a prior rejection</a:t>
            </a:r>
          </a:p>
        </p:txBody>
      </p:sp>
      <p:sp>
        <p:nvSpPr>
          <p:cNvPr id="6" name="Right Arrow 5"/>
          <p:cNvSpPr/>
          <p:nvPr/>
        </p:nvSpPr>
        <p:spPr>
          <a:xfrm>
            <a:off x="3977640" y="2414016"/>
            <a:ext cx="41148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434840" y="1828800"/>
            <a:ext cx="3246120" cy="141732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0F62FE"/>
                </a:solidFill>
                <a:latin typeface="Verdana"/>
              </a:rPr>
              <a:t>2. TEST</a:t>
            </a:r>
          </a:p>
          <a:p>
            <a:pPr algn="ctr">
              <a:spcAft>
                <a:spcPts val="0"/>
              </a:spcAft>
            </a:pPr>
            <a:r>
              <a:rPr sz="1200" b="0">
                <a:solidFill>
                  <a:srgbClr val="5B667A"/>
                </a:solidFill>
                <a:latin typeface="Verdana"/>
              </a:rPr>
              <a:t>Identity check against the shipped score,</a:t>
            </a:r>
          </a:p>
          <a:p>
            <a:pPr algn="ctr">
              <a:spcAft>
                <a:spcPts val="0"/>
              </a:spcAft>
            </a:pPr>
            <a:r>
              <a:rPr sz="1200" b="0">
                <a:solidFill>
                  <a:srgbClr val="5B667A"/>
                </a:solidFill>
                <a:latin typeface="Verdana"/>
              </a:rPr>
              <a:t>then a 200-sample A/B — never trust the delta alone</a:t>
            </a:r>
          </a:p>
        </p:txBody>
      </p:sp>
      <p:sp>
        <p:nvSpPr>
          <p:cNvPr id="8" name="Right Arrow 7"/>
          <p:cNvSpPr/>
          <p:nvPr/>
        </p:nvSpPr>
        <p:spPr>
          <a:xfrm>
            <a:off x="7726680" y="2414016"/>
            <a:ext cx="411480" cy="201168"/>
          </a:xfrm>
          <a:prstGeom prst="rightArrow">
            <a:avLst/>
          </a:prstGeom>
          <a:solidFill>
            <a:srgbClr val="0F6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183880" y="1828800"/>
            <a:ext cx="3246120" cy="1417320"/>
          </a:xfrm>
          <a:prstGeom prst="roundRect">
            <a:avLst/>
          </a:prstGeom>
          <a:solidFill>
            <a:srgbClr val="F4F6FA"/>
          </a:solidFill>
          <a:ln w="12700">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400" b="1">
                <a:solidFill>
                  <a:srgbClr val="141B2D"/>
                </a:solidFill>
                <a:latin typeface="Verdana"/>
              </a:rPr>
              <a:t>3. COMMIT</a:t>
            </a:r>
          </a:p>
          <a:p>
            <a:pPr algn="ctr">
              <a:spcAft>
                <a:spcPts val="0"/>
              </a:spcAft>
            </a:pPr>
            <a:r>
              <a:rPr sz="1200" b="0">
                <a:solidFill>
                  <a:srgbClr val="5B667A"/>
                </a:solidFill>
                <a:latin typeface="Verdana"/>
              </a:rPr>
              <a:t>Ships if it wins the A/B;</a:t>
            </a:r>
          </a:p>
          <a:p>
            <a:pPr algn="ctr">
              <a:spcAft>
                <a:spcPts val="0"/>
              </a:spcAft>
            </a:pPr>
            <a:r>
              <a:rPr sz="1200" b="0">
                <a:solidFill>
                  <a:srgbClr val="5B667A"/>
                </a:solidFill>
                <a:latin typeface="Verdana"/>
              </a:rPr>
              <a:t>otherwise recorded on the ledger, not silently dropped</a:t>
            </a:r>
          </a:p>
        </p:txBody>
      </p:sp>
      <p:sp>
        <p:nvSpPr>
          <p:cNvPr id="10" name="Left Arrow 9"/>
          <p:cNvSpPr/>
          <p:nvPr/>
        </p:nvSpPr>
        <p:spPr>
          <a:xfrm>
            <a:off x="685800" y="3520440"/>
            <a:ext cx="10469880" cy="310896"/>
          </a:xfrm>
          <a:prstGeom prst="leftArrow">
            <a:avLst/>
          </a:prstGeom>
          <a:solidFill>
            <a:srgbClr val="E4EDFD"/>
          </a:solidFill>
          <a:ln w="9525">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0F62FE"/>
                </a:solidFill>
                <a:latin typeface="Verdana"/>
              </a:rPr>
              <a:t>a losing idea still becomes the next one — every ledger entry fed a later hypothesis</a:t>
            </a:r>
          </a:p>
        </p:txBody>
      </p:sp>
      <p:graphicFrame>
        <p:nvGraphicFramePr>
          <p:cNvPr id="11" name="Table 10"/>
          <p:cNvGraphicFramePr>
            <a:graphicFrameLocks noGrp="1"/>
          </p:cNvGraphicFramePr>
          <p:nvPr/>
        </p:nvGraphicFramePr>
        <p:xfrm>
          <a:off x="640080" y="4160520"/>
          <a:ext cx="10908791" cy="2029968"/>
        </p:xfrm>
        <a:graphic>
          <a:graphicData uri="http://schemas.openxmlformats.org/drawingml/2006/table">
            <a:tbl>
              <a:tblPr firstRow="1">
                <a:tableStyleId>{5C22544A-7EE6-4342-B048-85BDC9FD1C3A}</a:tableStyleId>
              </a:tblPr>
              <a:tblGrid>
                <a:gridCol w="1305325"/>
                <a:gridCol w="6433390"/>
                <a:gridCol w="3170076"/>
              </a:tblGrid>
              <a:tr h="329184">
                <a:tc>
                  <a:txBody>
                    <a:bodyPr/>
                    <a:lstStyle/>
                    <a:p>
                      <a:r>
                        <a:rPr sz="1100" b="1">
                          <a:solidFill>
                            <a:srgbClr val="FFFFFF"/>
                          </a:solidFill>
                          <a:latin typeface="Verdana"/>
                        </a:rPr>
                        <a:t>Stage</a:t>
                      </a:r>
                    </a:p>
                  </a:txBody>
                  <a:tcPr marL="82296" marR="82296" marT="36576" marB="36576" anchor="ctr">
                    <a:solidFill>
                      <a:srgbClr val="141B2D"/>
                    </a:solidFill>
                  </a:tcPr>
                </a:tc>
                <a:tc>
                  <a:txBody>
                    <a:bodyPr/>
                    <a:lstStyle/>
                    <a:p>
                      <a:r>
                        <a:rPr sz="1100" b="1">
                          <a:solidFill>
                            <a:srgbClr val="FFFFFF"/>
                          </a:solidFill>
                          <a:latin typeface="Verdana"/>
                        </a:rPr>
                        <a:t>In practice on this repo</a:t>
                      </a:r>
                    </a:p>
                  </a:txBody>
                  <a:tcPr marL="82296" marR="82296" marT="36576" marB="36576" anchor="ctr">
                    <a:solidFill>
                      <a:srgbClr val="141B2D"/>
                    </a:solidFill>
                  </a:tcPr>
                </a:tc>
                <a:tc>
                  <a:txBody>
                    <a:bodyPr/>
                    <a:lstStyle/>
                    <a:p>
                      <a:r>
                        <a:rPr sz="1100" b="1">
                          <a:solidFill>
                            <a:srgbClr val="FFFFFF"/>
                          </a:solidFill>
                          <a:latin typeface="Verdana"/>
                        </a:rPr>
                        <a:t>Tooling</a:t>
                      </a:r>
                    </a:p>
                  </a:txBody>
                  <a:tcPr marL="82296" marR="82296" marT="36576" marB="36576" anchor="ctr">
                    <a:solidFill>
                      <a:srgbClr val="141B2D"/>
                    </a:solidFill>
                  </a:tcPr>
                </a:tc>
              </a:tr>
              <a:tr h="566928">
                <a:tc>
                  <a:txBody>
                    <a:bodyPr wrap="square"/>
                    <a:lstStyle/>
                    <a:p>
                      <a:r>
                        <a:rPr sz="1100" b="0">
                          <a:solidFill>
                            <a:srgbClr val="141B2D"/>
                          </a:solidFill>
                          <a:latin typeface="Verdana"/>
                        </a:rPr>
                        <a:t>Generate idea</a:t>
                      </a:r>
                    </a:p>
                  </a:txBody>
                  <a:tcPr marL="82296" marR="82296" marT="36576" marB="36576" anchor="ctr">
                    <a:solidFill>
                      <a:srgbClr val="FFFFFF"/>
                    </a:solidFill>
                  </a:tcPr>
                </a:tc>
                <a:tc>
                  <a:txBody>
                    <a:bodyPr wrap="square"/>
                    <a:lstStyle/>
                    <a:p>
                      <a:r>
                        <a:rPr sz="1100" b="0">
                          <a:solidFill>
                            <a:srgbClr val="141B2D"/>
                          </a:solidFill>
                          <a:latin typeface="Verdana"/>
                        </a:rPr>
                        <a:t>Read where the scorer disagrees with the target, or where a rejection pointed. Every idea started from a specific miss, not a general intuition.</a:t>
                      </a:r>
                    </a:p>
                  </a:txBody>
                  <a:tcPr marL="82296" marR="82296" marT="36576" marB="36576" anchor="ctr">
                    <a:solidFill>
                      <a:srgbClr val="FFFFFF"/>
                    </a:solidFill>
                  </a:tcPr>
                </a:tc>
                <a:tc>
                  <a:txBody>
                    <a:bodyPr wrap="square"/>
                    <a:lstStyle/>
                    <a:p>
                      <a:r>
                        <a:rPr sz="1100" b="0">
                          <a:solidFill>
                            <a:srgbClr val="141B2D"/>
                          </a:solidFill>
                          <a:latin typeface="Verdana"/>
                        </a:rPr>
                        <a:t>docs/team_report.md miss census</a:t>
                      </a:r>
                    </a:p>
                  </a:txBody>
                  <a:tcPr marL="82296" marR="82296" marT="36576" marB="36576" anchor="ctr">
                    <a:solidFill>
                      <a:srgbClr val="FFFFFF"/>
                    </a:solidFill>
                  </a:tcPr>
                </a:tc>
              </a:tr>
              <a:tr h="566928">
                <a:tc>
                  <a:txBody>
                    <a:bodyPr wrap="square"/>
                    <a:lstStyle/>
                    <a:p>
                      <a:r>
                        <a:rPr sz="1100" b="0">
                          <a:solidFill>
                            <a:srgbClr val="141B2D"/>
                          </a:solidFill>
                          <a:latin typeface="Verdana"/>
                        </a:rPr>
                        <a:t>Test</a:t>
                      </a:r>
                    </a:p>
                  </a:txBody>
                  <a:tcPr marL="82296" marR="82296" marT="36576" marB="36576" anchor="ctr">
                    <a:solidFill>
                      <a:srgbClr val="F4F6FA"/>
                    </a:solidFill>
                  </a:tcPr>
                </a:tc>
                <a:tc>
                  <a:txBody>
                    <a:bodyPr wrap="square"/>
                    <a:lstStyle/>
                    <a:p>
                      <a:r>
                        <a:rPr sz="1100" b="0">
                          <a:solidFill>
                            <a:srgbClr val="141B2D"/>
                          </a:solidFill>
                          <a:latin typeface="Verdana"/>
                        </a:rPr>
                        <a:t>A sweep script prints the identity row first and is checked against the shipped score before any other row is read; deltas under ±0.0025 on 200 samples are noise, not a result.</a:t>
                      </a:r>
                    </a:p>
                  </a:txBody>
                  <a:tcPr marL="82296" marR="82296" marT="36576" marB="36576" anchor="ctr">
                    <a:solidFill>
                      <a:srgbClr val="F4F6FA"/>
                    </a:solidFill>
                  </a:tcPr>
                </a:tc>
                <a:tc>
                  <a:txBody>
                    <a:bodyPr wrap="square"/>
                    <a:lstStyle/>
                    <a:p>
                      <a:r>
                        <a:rPr sz="1100" b="0">
                          <a:solidFill>
                            <a:srgbClr val="141B2D"/>
                          </a:solidFill>
                          <a:latin typeface="Verdana"/>
                        </a:rPr>
                        <a:t>scripts/sweep_*.py, scripts/eval_*.py</a:t>
                      </a:r>
                    </a:p>
                  </a:txBody>
                  <a:tcPr marL="82296" marR="82296" marT="36576" marB="36576" anchor="ctr">
                    <a:solidFill>
                      <a:srgbClr val="F4F6FA"/>
                    </a:solidFill>
                  </a:tcPr>
                </a:tc>
              </a:tr>
              <a:tr h="566928">
                <a:tc>
                  <a:txBody>
                    <a:bodyPr wrap="square"/>
                    <a:lstStyle/>
                    <a:p>
                      <a:r>
                        <a:rPr sz="1100" b="0">
                          <a:solidFill>
                            <a:srgbClr val="141B2D"/>
                          </a:solidFill>
                          <a:latin typeface="Verdana"/>
                        </a:rPr>
                        <a:t>Commit</a:t>
                      </a:r>
                    </a:p>
                  </a:txBody>
                  <a:tcPr marL="82296" marR="82296" marT="36576" marB="36576" anchor="ctr">
                    <a:solidFill>
                      <a:srgbClr val="FFFFFF"/>
                    </a:solidFill>
                  </a:tcPr>
                </a:tc>
                <a:tc>
                  <a:txBody>
                    <a:bodyPr wrap="square"/>
                    <a:lstStyle/>
                    <a:p>
                      <a:r>
                        <a:rPr sz="1100" b="0">
                          <a:solidFill>
                            <a:srgbClr val="141B2D"/>
                          </a:solidFill>
                          <a:latin typeface="Verdana"/>
                        </a:rPr>
                        <a:t>A win ships as one commit naming the measured number. A loss still gets committed — as a ledger entry recording what was expected and what happened, so the same idea is never re-tried blind.</a:t>
                      </a:r>
                    </a:p>
                  </a:txBody>
                  <a:tcPr marL="82296" marR="82296" marT="36576" marB="36576" anchor="ctr">
                    <a:solidFill>
                      <a:srgbClr val="FFFFFF"/>
                    </a:solidFill>
                  </a:tcPr>
                </a:tc>
                <a:tc>
                  <a:txBody>
                    <a:bodyPr wrap="square"/>
                    <a:lstStyle/>
                    <a:p>
                      <a:r>
                        <a:rPr sz="1100" b="0">
                          <a:solidFill>
                            <a:srgbClr val="141B2D"/>
                          </a:solidFill>
                          <a:latin typeface="Verdana"/>
                        </a:rPr>
                        <a:t>git log, the NEGATIVE RESULTS slide</a:t>
                      </a:r>
                    </a:p>
                  </a:txBody>
                  <a:tcPr marL="82296" marR="82296" marT="36576" marB="36576" anchor="ctr">
                    <a:solidFill>
                      <a:srgbClr val="FFFFFF"/>
                    </a:solidFill>
                  </a:tcPr>
                </a:tc>
              </a:tr>
            </a:tbl>
          </a:graphicData>
        </a:graphic>
      </p:graphicFrame>
      <p:sp>
        <p:nvSpPr>
          <p:cNvPr id="12" name="TextBox 11"/>
          <p:cNvSpPr txBox="1"/>
          <p:nvPr/>
        </p:nvSpPr>
        <p:spPr>
          <a:xfrm>
            <a:off x="640080" y="6309360"/>
            <a:ext cx="10881360" cy="457200"/>
          </a:xfrm>
          <a:prstGeom prst="rect">
            <a:avLst/>
          </a:prstGeom>
          <a:noFill/>
        </p:spPr>
        <p:txBody>
          <a:bodyPr wrap="square" lIns="0" rIns="0" tIns="0" bIns="0">
            <a:spAutoFit/>
          </a:bodyPr>
          <a:lstStyle/>
          <a:p>
            <a:r>
              <a:rPr sz="1300" b="1">
                <a:solidFill>
                  <a:srgbClr val="0F62FE"/>
                </a:solidFill>
                <a:latin typeface="Verdana"/>
              </a:rPr>
              <a:t>This is also why the deck has a NEGATIVE RESULTS slide: on this project, a rejected idea is still a shipped result.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NEGATIVE RESULTS</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Why the five rejected ideas failed</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45920"/>
          <a:ext cx="10908790" cy="3803904"/>
        </p:xfrm>
        <a:graphic>
          <a:graphicData uri="http://schemas.openxmlformats.org/drawingml/2006/table">
            <a:tbl>
              <a:tblPr firstRow="1">
                <a:tableStyleId>{5C22544A-7EE6-4342-B048-85BDC9FD1C3A}</a:tableStyleId>
              </a:tblPr>
              <a:tblGrid>
                <a:gridCol w="1833410"/>
                <a:gridCol w="2750115"/>
                <a:gridCol w="5408560"/>
                <a:gridCol w="916705"/>
              </a:tblGrid>
              <a:tr h="329184">
                <a:tc>
                  <a:txBody>
                    <a:bodyPr/>
                    <a:lstStyle/>
                    <a:p>
                      <a:r>
                        <a:rPr sz="1100" b="1">
                          <a:solidFill>
                            <a:srgbClr val="FFFFFF"/>
                          </a:solidFill>
                          <a:latin typeface="Verdana"/>
                        </a:rPr>
                        <a:t>Idea</a:t>
                      </a:r>
                    </a:p>
                  </a:txBody>
                  <a:tcPr marL="82296" marR="82296" marT="36576" marB="36576" anchor="ctr">
                    <a:solidFill>
                      <a:srgbClr val="141B2D"/>
                    </a:solidFill>
                  </a:tcPr>
                </a:tc>
                <a:tc>
                  <a:txBody>
                    <a:bodyPr/>
                    <a:lstStyle/>
                    <a:p>
                      <a:r>
                        <a:rPr sz="1100" b="1">
                          <a:solidFill>
                            <a:srgbClr val="FFFFFF"/>
                          </a:solidFill>
                          <a:latin typeface="Verdana"/>
                        </a:rPr>
                        <a:t>What we expected</a:t>
                      </a:r>
                    </a:p>
                  </a:txBody>
                  <a:tcPr marL="82296" marR="82296" marT="36576" marB="36576" anchor="ctr">
                    <a:solidFill>
                      <a:srgbClr val="141B2D"/>
                    </a:solidFill>
                  </a:tcPr>
                </a:tc>
                <a:tc>
                  <a:txBody>
                    <a:bodyPr/>
                    <a:lstStyle/>
                    <a:p>
                      <a:r>
                        <a:rPr sz="1100" b="1">
                          <a:solidFill>
                            <a:srgbClr val="FFFFFF"/>
                          </a:solidFill>
                          <a:latin typeface="Verdana"/>
                        </a:rPr>
                        <a:t>What actually happened</a:t>
                      </a:r>
                    </a:p>
                  </a:txBody>
                  <a:tcPr marL="82296" marR="82296" marT="36576" marB="36576" anchor="ctr">
                    <a:solidFill>
                      <a:srgbClr val="141B2D"/>
                    </a:solidFill>
                  </a:tcPr>
                </a:tc>
                <a:tc>
                  <a:txBody>
                    <a:bodyPr/>
                    <a:lstStyle/>
                    <a:p>
                      <a:r>
                        <a:rPr sz="1100" b="1">
                          <a:solidFill>
                            <a:srgbClr val="FFFFFF"/>
                          </a:solidFill>
                          <a:latin typeface="Verdana"/>
                        </a:rPr>
                        <a:t>Δ</a:t>
                      </a:r>
                    </a:p>
                  </a:txBody>
                  <a:tcPr marL="82296" marR="82296" marT="36576" marB="36576" anchor="ctr">
                    <a:solidFill>
                      <a:srgbClr val="141B2D"/>
                    </a:solidFill>
                  </a:tcPr>
                </a:tc>
              </a:tr>
              <a:tr h="694944">
                <a:tc>
                  <a:txBody>
                    <a:bodyPr wrap="square"/>
                    <a:lstStyle/>
                    <a:p>
                      <a:r>
                        <a:rPr sz="1050" b="0">
                          <a:solidFill>
                            <a:srgbClr val="141B2D"/>
                          </a:solidFill>
                          <a:latin typeface="Verdana"/>
                        </a:rPr>
                        <a:t>Rewrite the query
after a pivot</a:t>
                      </a:r>
                    </a:p>
                  </a:txBody>
                  <a:tcPr marL="82296" marR="82296" marT="36576" marB="36576" anchor="ctr">
                    <a:solidFill>
                      <a:srgbClr val="FFFFFF"/>
                    </a:solidFill>
                  </a:tcPr>
                </a:tc>
                <a:tc>
                  <a:txBody>
                    <a:bodyPr wrap="square"/>
                    <a:lstStyle/>
                    <a:p>
                      <a:r>
                        <a:rPr sz="1050" b="0">
                          <a:solidFill>
                            <a:srgbClr val="141B2D"/>
                          </a:solidFill>
                          <a:latin typeface="Verdana"/>
                        </a:rPr>
                        <a:t>Dropping stale history should clean up the search.</a:t>
                      </a:r>
                    </a:p>
                  </a:txBody>
                  <a:tcPr marL="82296" marR="82296" marT="36576" marB="36576" anchor="ctr">
                    <a:solidFill>
                      <a:srgbClr val="FFFFFF"/>
                    </a:solidFill>
                  </a:tcPr>
                </a:tc>
                <a:tc>
                  <a:txBody>
                    <a:bodyPr wrap="square"/>
                    <a:lstStyle/>
                    <a:p>
                      <a:r>
                        <a:rPr sz="1050" b="0">
                          <a:solidFill>
                            <a:srgbClr val="141B2D"/>
                          </a:solidFill>
                          <a:latin typeface="Verdana"/>
                        </a:rPr>
                        <a:t>The category is stated once, in turn 1. The pivot names only the changed attribute — so we searched 50,000 products for "leather" with no category at all.</a:t>
                      </a:r>
                    </a:p>
                  </a:txBody>
                  <a:tcPr marL="82296" marR="82296" marT="36576" marB="36576" anchor="ctr">
                    <a:solidFill>
                      <a:srgbClr val="FFFFFF"/>
                    </a:solidFill>
                  </a:tcPr>
                </a:tc>
                <a:tc>
                  <a:txBody>
                    <a:bodyPr wrap="square"/>
                    <a:lstStyle/>
                    <a:p>
                      <a:r>
                        <a:rPr sz="1050" b="1">
                          <a:solidFill>
                            <a:srgbClr val="B3261E"/>
                          </a:solidFill>
                          <a:latin typeface="Verdana"/>
                        </a:rPr>
                        <a:t>−0.058</a:t>
                      </a:r>
                    </a:p>
                  </a:txBody>
                  <a:tcPr marL="82296" marR="82296" marT="36576" marB="36576" anchor="ctr">
                    <a:solidFill>
                      <a:srgbClr val="FFFFFF"/>
                    </a:solidFill>
                  </a:tcPr>
                </a:tc>
              </a:tr>
              <a:tr h="694944">
                <a:tc>
                  <a:txBody>
                    <a:bodyPr wrap="square"/>
                    <a:lstStyle/>
                    <a:p>
                      <a:r>
                        <a:rPr sz="1050" b="0">
                          <a:solidFill>
                            <a:srgbClr val="141B2D"/>
                          </a:solidFill>
                          <a:latin typeface="Verdana"/>
                        </a:rPr>
                        <a:t>Strip non-answer
replies from the query</a:t>
                      </a:r>
                    </a:p>
                  </a:txBody>
                  <a:tcPr marL="82296" marR="82296" marT="36576" marB="36576" anchor="ctr">
                    <a:solidFill>
                      <a:srgbClr val="F4F6FA"/>
                    </a:solidFill>
                  </a:tcPr>
                </a:tc>
                <a:tc>
                  <a:txBody>
                    <a:bodyPr wrap="square"/>
                    <a:lstStyle/>
                    <a:p>
                      <a:r>
                        <a:rPr sz="1050" b="0">
                          <a:solidFill>
                            <a:srgbClr val="141B2D"/>
                          </a:solidFill>
                          <a:latin typeface="Verdana"/>
                        </a:rPr>
                        <a:t>"Imported; Pull On closure" is boilerplate noise.</a:t>
                      </a:r>
                    </a:p>
                  </a:txBody>
                  <a:tcPr marL="82296" marR="82296" marT="36576" marB="36576" anchor="ctr">
                    <a:solidFill>
                      <a:srgbClr val="F4F6FA"/>
                    </a:solidFill>
                  </a:tcPr>
                </a:tc>
                <a:tc>
                  <a:txBody>
                    <a:bodyPr wrap="square"/>
                    <a:lstStyle/>
                    <a:p>
                      <a:r>
                        <a:rPr sz="1050" b="0">
                          <a:solidFill>
                            <a:srgbClr val="141B2D"/>
                          </a:solidFill>
                          <a:latin typeface="Verdana"/>
                        </a:rPr>
                        <a:t>It is not noise here. Because of the 89.7% finding it is an exact-match key. Deleting it deletes what BM25 wins with.</a:t>
                      </a:r>
                    </a:p>
                  </a:txBody>
                  <a:tcPr marL="82296" marR="82296" marT="36576" marB="36576" anchor="ctr">
                    <a:solidFill>
                      <a:srgbClr val="F4F6FA"/>
                    </a:solidFill>
                  </a:tcPr>
                </a:tc>
                <a:tc>
                  <a:txBody>
                    <a:bodyPr wrap="square"/>
                    <a:lstStyle/>
                    <a:p>
                      <a:r>
                        <a:rPr sz="1050" b="1">
                          <a:solidFill>
                            <a:srgbClr val="B3261E"/>
                          </a:solidFill>
                          <a:latin typeface="Verdana"/>
                        </a:rPr>
                        <a:t>−0.041</a:t>
                      </a:r>
                    </a:p>
                  </a:txBody>
                  <a:tcPr marL="82296" marR="82296" marT="36576" marB="36576" anchor="ctr">
                    <a:solidFill>
                      <a:srgbClr val="F4F6FA"/>
                    </a:solidFill>
                  </a:tcPr>
                </a:tc>
              </a:tr>
              <a:tr h="694944">
                <a:tc>
                  <a:txBody>
                    <a:bodyPr wrap="square"/>
                    <a:lstStyle/>
                    <a:p>
                      <a:r>
                        <a:rPr sz="1050" b="0">
                          <a:solidFill>
                            <a:srgbClr val="141B2D"/>
                          </a:solidFill>
                          <a:latin typeface="Verdana"/>
                        </a:rPr>
                        <a:t>Remember shoppers
across sessions</a:t>
                      </a:r>
                    </a:p>
                  </a:txBody>
                  <a:tcPr marL="82296" marR="82296" marT="36576" marB="36576" anchor="ctr">
                    <a:solidFill>
                      <a:srgbClr val="FFFFFF"/>
                    </a:solidFill>
                  </a:tcPr>
                </a:tc>
                <a:tc>
                  <a:txBody>
                    <a:bodyPr wrap="square"/>
                    <a:lstStyle/>
                    <a:p>
                      <a:r>
                        <a:rPr sz="1050" b="0">
                          <a:solidFill>
                            <a:srgbClr val="141B2D"/>
                          </a:solidFill>
                          <a:latin typeface="Verdana"/>
                        </a:rPr>
                        <a:t>A returning shopper should not repeat themselves.</a:t>
                      </a:r>
                    </a:p>
                  </a:txBody>
                  <a:tcPr marL="82296" marR="82296" marT="36576" marB="36576" anchor="ctr">
                    <a:solidFill>
                      <a:srgbClr val="FFFFFF"/>
                    </a:solidFill>
                  </a:tcPr>
                </a:tc>
                <a:tc>
                  <a:txBody>
                    <a:bodyPr wrap="square"/>
                    <a:lstStyle/>
                    <a:p>
                      <a:r>
                        <a:rPr sz="1050" b="0">
                          <a:solidFill>
                            <a:srgbClr val="141B2D"/>
                          </a:solidFill>
                          <a:latin typeface="Verdana"/>
                        </a:rPr>
                        <a:t>Two sessions with the same profile share a product category 0.5% of the time. Random pairs: 1.2%. There was no identity to remember. The store still records every disclosure — spec-required, and cheap insurance if the hidden set differs — but nothing reads it back.</a:t>
                      </a:r>
                    </a:p>
                  </a:txBody>
                  <a:tcPr marL="82296" marR="82296" marT="36576" marB="36576" anchor="ctr">
                    <a:solidFill>
                      <a:srgbClr val="FFFFFF"/>
                    </a:solidFill>
                  </a:tcPr>
                </a:tc>
                <a:tc>
                  <a:txBody>
                    <a:bodyPr wrap="square"/>
                    <a:lstStyle/>
                    <a:p>
                      <a:r>
                        <a:rPr sz="1050" b="1">
                          <a:solidFill>
                            <a:srgbClr val="5B667A"/>
                          </a:solidFill>
                          <a:latin typeface="Verdana"/>
                        </a:rPr>
                        <a:t>0.000</a:t>
                      </a:r>
                    </a:p>
                  </a:txBody>
                  <a:tcPr marL="82296" marR="82296" marT="36576" marB="36576" anchor="ctr">
                    <a:solidFill>
                      <a:srgbClr val="FFFFFF"/>
                    </a:solidFill>
                  </a:tcPr>
                </a:tc>
              </a:tr>
              <a:tr h="694944">
                <a:tc>
                  <a:txBody>
                    <a:bodyPr wrap="square"/>
                    <a:lstStyle/>
                    <a:p>
                      <a:r>
                        <a:rPr sz="1050" b="0">
                          <a:solidFill>
                            <a:srgbClr val="141B2D"/>
                          </a:solidFill>
                          <a:latin typeface="Verdana"/>
                        </a:rPr>
                        <a:t>Get more diverse
as turns run out</a:t>
                      </a:r>
                    </a:p>
                  </a:txBody>
                  <a:tcPr marL="82296" marR="82296" marT="36576" marB="36576" anchor="ctr">
                    <a:solidFill>
                      <a:srgbClr val="F4F6FA"/>
                    </a:solidFill>
                  </a:tcPr>
                </a:tc>
                <a:tc>
                  <a:txBody>
                    <a:bodyPr wrap="square"/>
                    <a:lstStyle/>
                    <a:p>
                      <a:r>
                        <a:rPr sz="1050" b="0">
                          <a:solidFill>
                            <a:srgbClr val="141B2D"/>
                          </a:solidFill>
                          <a:latin typeface="Verdana"/>
                        </a:rPr>
                        <a:t>A varied slate is cheap early and risky late.</a:t>
                      </a:r>
                    </a:p>
                  </a:txBody>
                  <a:tcPr marL="82296" marR="82296" marT="36576" marB="36576" anchor="ctr">
                    <a:solidFill>
                      <a:srgbClr val="F4F6FA"/>
                    </a:solidFill>
                  </a:tcPr>
                </a:tc>
                <a:tc>
                  <a:txBody>
                    <a:bodyPr wrap="square"/>
                    <a:lstStyle/>
                    <a:p>
                      <a:r>
                        <a:rPr sz="1050" b="0">
                          <a:solidFill>
                            <a:srgbClr val="141B2D"/>
                          </a:solidFill>
                          <a:latin typeface="Verdana"/>
                        </a:rPr>
                        <a:t>The browsing metrics came back byte-identical. The schedule changed nothing in the one track it governs.</a:t>
                      </a:r>
                    </a:p>
                  </a:txBody>
                  <a:tcPr marL="82296" marR="82296" marT="36576" marB="36576" anchor="ctr">
                    <a:solidFill>
                      <a:srgbClr val="F4F6FA"/>
                    </a:solidFill>
                  </a:tcPr>
                </a:tc>
                <a:tc>
                  <a:txBody>
                    <a:bodyPr wrap="square"/>
                    <a:lstStyle/>
                    <a:p>
                      <a:r>
                        <a:rPr sz="1050" b="1">
                          <a:solidFill>
                            <a:srgbClr val="B3261E"/>
                          </a:solidFill>
                          <a:latin typeface="Verdana"/>
                        </a:rPr>
                        <a:t>−0.003</a:t>
                      </a:r>
                    </a:p>
                  </a:txBody>
                  <a:tcPr marL="82296" marR="82296" marT="36576" marB="36576" anchor="ctr">
                    <a:solidFill>
                      <a:srgbClr val="F4F6FA"/>
                    </a:solidFill>
                  </a:tcPr>
                </a:tc>
              </a:tr>
              <a:tr h="694944">
                <a:tc>
                  <a:txBody>
                    <a:bodyPr wrap="square"/>
                    <a:lstStyle/>
                    <a:p>
                      <a:r>
                        <a:rPr sz="1050" b="0">
                          <a:solidFill>
                            <a:srgbClr val="141B2D"/>
                          </a:solidFill>
                          <a:latin typeface="Verdana"/>
                        </a:rPr>
                        <a:t>Train the intent
classifier</a:t>
                      </a:r>
                    </a:p>
                  </a:txBody>
                  <a:tcPr marL="82296" marR="82296" marT="36576" marB="36576" anchor="ctr">
                    <a:solidFill>
                      <a:srgbClr val="FFFFFF"/>
                    </a:solidFill>
                  </a:tcPr>
                </a:tc>
                <a:tc>
                  <a:txBody>
                    <a:bodyPr wrap="square"/>
                    <a:lstStyle/>
                    <a:p>
                      <a:r>
                        <a:rPr sz="1050" b="0">
                          <a:solidFill>
                            <a:srgbClr val="141B2D"/>
                          </a:solidFill>
                          <a:latin typeface="Verdana"/>
                        </a:rPr>
                        <a:t>A learned boundary should beat hand-written examples.</a:t>
                      </a:r>
                    </a:p>
                  </a:txBody>
                  <a:tcPr marL="82296" marR="82296" marT="36576" marB="36576" anchor="ctr">
                    <a:solidFill>
                      <a:srgbClr val="FFFFFF"/>
                    </a:solidFill>
                  </a:tcPr>
                </a:tc>
                <a:tc>
                  <a:txBody>
                    <a:bodyPr wrap="square"/>
                    <a:lstStyle/>
                    <a:p>
                      <a:r>
                        <a:rPr sz="1050" b="0">
                          <a:solidFill>
                            <a:srgbClr val="141B2D"/>
                          </a:solidFill>
                          <a:latin typeface="Verdana"/>
                        </a:rPr>
                        <a:t>98% in testing — because the simulator has exactly two sentence templates and it memorised them. On unseen phrasing it fell to chance.</a:t>
                      </a:r>
                    </a:p>
                  </a:txBody>
                  <a:tcPr marL="82296" marR="82296" marT="36576" marB="36576" anchor="ctr">
                    <a:solidFill>
                      <a:srgbClr val="FFFFFF"/>
                    </a:solidFill>
                  </a:tcPr>
                </a:tc>
                <a:tc>
                  <a:txBody>
                    <a:bodyPr wrap="square"/>
                    <a:lstStyle/>
                    <a:p>
                      <a:r>
                        <a:rPr sz="1050" b="1">
                          <a:solidFill>
                            <a:srgbClr val="B3261E"/>
                          </a:solidFill>
                          <a:latin typeface="Verdana"/>
                        </a:rPr>
                        <a:t>worse</a:t>
                      </a:r>
                    </a:p>
                  </a:txBody>
                  <a:tcPr marL="82296" marR="82296" marT="36576" marB="36576" anchor="ctr">
                    <a:solidFill>
                      <a:srgbClr val="FFFFFF"/>
                    </a:solidFill>
                  </a:tcPr>
                </a:tc>
              </a:tr>
            </a:tbl>
          </a:graphicData>
        </a:graphic>
      </p:graphicFrame>
      <p:sp>
        <p:nvSpPr>
          <p:cNvPr id="6" name="TextBox 5"/>
          <p:cNvSpPr txBox="1"/>
          <p:nvPr/>
        </p:nvSpPr>
        <p:spPr>
          <a:xfrm>
            <a:off x="640080" y="5623560"/>
            <a:ext cx="10881360" cy="457200"/>
          </a:xfrm>
          <a:prstGeom prst="rect">
            <a:avLst/>
          </a:prstGeom>
          <a:noFill/>
        </p:spPr>
        <p:txBody>
          <a:bodyPr wrap="square" lIns="0" rIns="0" tIns="0" bIns="0">
            <a:spAutoFit/>
          </a:bodyPr>
          <a:lstStyle/>
          <a:p>
            <a:r>
              <a:rPr sz="1300" b="1">
                <a:solidFill>
                  <a:srgbClr val="0F62FE"/>
                </a:solidFill>
                <a:latin typeface="Verdana"/>
              </a:rPr>
              <a:t>The pattern: four of five were semantically sensible and structurally wrong for this task. We only found that out by measuring.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METHOD</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How we avoided fooling ourselves</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737360"/>
            <a:ext cx="3429000" cy="137160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0F62FE"/>
                </a:solidFill>
                <a:latin typeface="Verdana"/>
              </a:rPr>
              <a:t>The "off" switch must</a:t>
            </a:r>
          </a:p>
          <a:p>
            <a:pPr algn="ctr">
              <a:spcAft>
                <a:spcPts val="0"/>
              </a:spcAft>
            </a:pPr>
            <a:r>
              <a:rPr sz="1500" b="1">
                <a:solidFill>
                  <a:srgbClr val="0F62FE"/>
                </a:solidFill>
                <a:latin typeface="Verdana"/>
              </a:rPr>
              <a:t>reproduce the shipped score</a:t>
            </a:r>
          </a:p>
        </p:txBody>
      </p:sp>
      <p:sp>
        <p:nvSpPr>
          <p:cNvPr id="6" name="TextBox 5"/>
          <p:cNvSpPr txBox="1"/>
          <p:nvPr/>
        </p:nvSpPr>
        <p:spPr>
          <a:xfrm>
            <a:off x="777240" y="1810512"/>
            <a:ext cx="914400" cy="228600"/>
          </a:xfrm>
          <a:prstGeom prst="rect">
            <a:avLst/>
          </a:prstGeom>
          <a:noFill/>
        </p:spPr>
        <p:txBody>
          <a:bodyPr wrap="square" lIns="0" rIns="0" tIns="0" bIns="0">
            <a:spAutoFit/>
          </a:bodyPr>
          <a:lstStyle/>
          <a:p>
            <a:r>
              <a:rPr sz="900" b="1">
                <a:solidFill>
                  <a:srgbClr val="0F62FE"/>
                </a:solidFill>
                <a:latin typeface="Verdana"/>
              </a:rPr>
              <a:t>RULE 1</a:t>
            </a:r>
          </a:p>
        </p:txBody>
      </p:sp>
      <p:sp>
        <p:nvSpPr>
          <p:cNvPr id="7" name="TextBox 6"/>
          <p:cNvSpPr txBox="1"/>
          <p:nvPr/>
        </p:nvSpPr>
        <p:spPr>
          <a:xfrm>
            <a:off x="685800" y="3246120"/>
            <a:ext cx="3429000" cy="914400"/>
          </a:xfrm>
          <a:prstGeom prst="rect">
            <a:avLst/>
          </a:prstGeom>
          <a:noFill/>
        </p:spPr>
        <p:txBody>
          <a:bodyPr wrap="square" lIns="0" rIns="0" tIns="0" bIns="0">
            <a:spAutoFit/>
          </a:bodyPr>
          <a:lstStyle/>
          <a:p>
            <a:pPr>
              <a:spcAft>
                <a:spcPts val="300"/>
              </a:spcAft>
            </a:pPr>
            <a:r>
              <a:rPr sz="1250" b="0">
                <a:solidFill>
                  <a:srgbClr val="5B667A"/>
                </a:solidFill>
                <a:latin typeface="Verdana"/>
              </a:rPr>
              <a:t>Caught a real bug: a flag whose zero value was not truly off. It had quietly shifted the control leg of an entire experiment.</a:t>
            </a:r>
          </a:p>
        </p:txBody>
      </p:sp>
      <p:sp>
        <p:nvSpPr>
          <p:cNvPr id="8" name="Rounded Rectangle 7"/>
          <p:cNvSpPr/>
          <p:nvPr/>
        </p:nvSpPr>
        <p:spPr>
          <a:xfrm>
            <a:off x="4389120" y="1737360"/>
            <a:ext cx="3429000" cy="137160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0F62FE"/>
                </a:solidFill>
                <a:latin typeface="Verdana"/>
              </a:rPr>
              <a:t>Count sessions,</a:t>
            </a:r>
          </a:p>
          <a:p>
            <a:pPr algn="ctr">
              <a:spcAft>
                <a:spcPts val="0"/>
              </a:spcAft>
            </a:pPr>
            <a:r>
              <a:rPr sz="1500" b="1">
                <a:solidFill>
                  <a:srgbClr val="0F62FE"/>
                </a:solidFill>
                <a:latin typeface="Verdana"/>
              </a:rPr>
              <a:t>not percentages</a:t>
            </a:r>
          </a:p>
        </p:txBody>
      </p:sp>
      <p:sp>
        <p:nvSpPr>
          <p:cNvPr id="9" name="TextBox 8"/>
          <p:cNvSpPr txBox="1"/>
          <p:nvPr/>
        </p:nvSpPr>
        <p:spPr>
          <a:xfrm>
            <a:off x="4480560" y="1810512"/>
            <a:ext cx="914400" cy="228600"/>
          </a:xfrm>
          <a:prstGeom prst="rect">
            <a:avLst/>
          </a:prstGeom>
          <a:noFill/>
        </p:spPr>
        <p:txBody>
          <a:bodyPr wrap="square" lIns="0" rIns="0" tIns="0" bIns="0">
            <a:spAutoFit/>
          </a:bodyPr>
          <a:lstStyle/>
          <a:p>
            <a:r>
              <a:rPr sz="900" b="1">
                <a:solidFill>
                  <a:srgbClr val="0F62FE"/>
                </a:solidFill>
                <a:latin typeface="Verdana"/>
              </a:rPr>
              <a:t>RULE 2</a:t>
            </a:r>
          </a:p>
        </p:txBody>
      </p:sp>
      <p:sp>
        <p:nvSpPr>
          <p:cNvPr id="10" name="TextBox 9"/>
          <p:cNvSpPr txBox="1"/>
          <p:nvPr/>
        </p:nvSpPr>
        <p:spPr>
          <a:xfrm>
            <a:off x="4389120" y="3246120"/>
            <a:ext cx="3429000" cy="914400"/>
          </a:xfrm>
          <a:prstGeom prst="rect">
            <a:avLst/>
          </a:prstGeom>
          <a:noFill/>
        </p:spPr>
        <p:txBody>
          <a:bodyPr wrap="square" lIns="0" rIns="0" tIns="0" bIns="0">
            <a:spAutoFit/>
          </a:bodyPr>
          <a:lstStyle/>
          <a:p>
            <a:pPr>
              <a:spcAft>
                <a:spcPts val="300"/>
              </a:spcAft>
            </a:pPr>
            <a:r>
              <a:rPr sz="1250" b="0">
                <a:solidFill>
                  <a:srgbClr val="5B667A"/>
                </a:solidFill>
                <a:latin typeface="Verdana"/>
              </a:rPr>
              <a:t>On 200 samples, a hit rate of 0.7500 against 0.7450 is ONE session. We stopped believing any delta under ±0.0025.</a:t>
            </a:r>
          </a:p>
        </p:txBody>
      </p:sp>
      <p:sp>
        <p:nvSpPr>
          <p:cNvPr id="11" name="Rounded Rectangle 10"/>
          <p:cNvSpPr/>
          <p:nvPr/>
        </p:nvSpPr>
        <p:spPr>
          <a:xfrm>
            <a:off x="8092440" y="1737360"/>
            <a:ext cx="3429000" cy="137160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500" b="1">
                <a:solidFill>
                  <a:srgbClr val="0F62FE"/>
                </a:solidFill>
                <a:latin typeface="Verdana"/>
              </a:rPr>
              <a:t>Write the prediction</a:t>
            </a:r>
          </a:p>
          <a:p>
            <a:pPr algn="ctr">
              <a:spcAft>
                <a:spcPts val="0"/>
              </a:spcAft>
            </a:pPr>
            <a:r>
              <a:rPr sz="1500" b="1">
                <a:solidFill>
                  <a:srgbClr val="0F62FE"/>
                </a:solidFill>
                <a:latin typeface="Verdana"/>
              </a:rPr>
              <a:t>down first</a:t>
            </a:r>
          </a:p>
        </p:txBody>
      </p:sp>
      <p:sp>
        <p:nvSpPr>
          <p:cNvPr id="12" name="TextBox 11"/>
          <p:cNvSpPr txBox="1"/>
          <p:nvPr/>
        </p:nvSpPr>
        <p:spPr>
          <a:xfrm>
            <a:off x="8183880" y="1810512"/>
            <a:ext cx="914400" cy="228600"/>
          </a:xfrm>
          <a:prstGeom prst="rect">
            <a:avLst/>
          </a:prstGeom>
          <a:noFill/>
        </p:spPr>
        <p:txBody>
          <a:bodyPr wrap="square" lIns="0" rIns="0" tIns="0" bIns="0">
            <a:spAutoFit/>
          </a:bodyPr>
          <a:lstStyle/>
          <a:p>
            <a:r>
              <a:rPr sz="900" b="1">
                <a:solidFill>
                  <a:srgbClr val="0F62FE"/>
                </a:solidFill>
                <a:latin typeface="Verdana"/>
              </a:rPr>
              <a:t>RULE 3</a:t>
            </a:r>
          </a:p>
        </p:txBody>
      </p:sp>
      <p:sp>
        <p:nvSpPr>
          <p:cNvPr id="13" name="TextBox 12"/>
          <p:cNvSpPr txBox="1"/>
          <p:nvPr/>
        </p:nvSpPr>
        <p:spPr>
          <a:xfrm>
            <a:off x="8092440" y="3246120"/>
            <a:ext cx="3429000" cy="914400"/>
          </a:xfrm>
          <a:prstGeom prst="rect">
            <a:avLst/>
          </a:prstGeom>
          <a:noFill/>
        </p:spPr>
        <p:txBody>
          <a:bodyPr wrap="square" lIns="0" rIns="0" tIns="0" bIns="0">
            <a:spAutoFit/>
          </a:bodyPr>
          <a:lstStyle/>
          <a:p>
            <a:pPr>
              <a:spcAft>
                <a:spcPts val="300"/>
              </a:spcAft>
            </a:pPr>
            <a:r>
              <a:rPr sz="1250" b="0">
                <a:solidFill>
                  <a:srgbClr val="5B667A"/>
                </a:solidFill>
                <a:latin typeface="Verdana"/>
              </a:rPr>
              <a:t>A good number from the wrong mechanism is still a failure. We predicted the phrase leg would not help buying — and it did not.</a:t>
            </a:r>
          </a:p>
        </p:txBody>
      </p:sp>
      <p:sp>
        <p:nvSpPr>
          <p:cNvPr id="14" name="TextBox 13"/>
          <p:cNvSpPr txBox="1"/>
          <p:nvPr/>
        </p:nvSpPr>
        <p:spPr>
          <a:xfrm>
            <a:off x="640080" y="4160520"/>
            <a:ext cx="10881360" cy="457200"/>
          </a:xfrm>
          <a:prstGeom prst="rect">
            <a:avLst/>
          </a:prstGeom>
          <a:noFill/>
        </p:spPr>
        <p:txBody>
          <a:bodyPr wrap="square" lIns="0" rIns="0" tIns="0" bIns="0">
            <a:spAutoFit/>
          </a:bodyPr>
          <a:lstStyle/>
          <a:p>
            <a:r>
              <a:rPr sz="1300" b="1">
                <a:solidFill>
                  <a:srgbClr val="0F62FE"/>
                </a:solidFill>
                <a:latin typeface="Verdana"/>
              </a:rPr>
              <a:t>This is why the ledger has five rejections on it. Four of them looked promising until the control leg was run.</a:t>
            </a:r>
          </a:p>
        </p:txBody>
      </p:sp>
      <p:sp>
        <p:nvSpPr>
          <p:cNvPr id="15" name="TextBox 14"/>
          <p:cNvSpPr txBox="1"/>
          <p:nvPr/>
        </p:nvSpPr>
        <p:spPr>
          <a:xfrm>
            <a:off x="640080" y="4617720"/>
            <a:ext cx="10881360" cy="457200"/>
          </a:xfrm>
          <a:prstGeom prst="rect">
            <a:avLst/>
          </a:prstGeom>
          <a:noFill/>
        </p:spPr>
        <p:txBody>
          <a:bodyPr wrap="square" lIns="0" rIns="0" tIns="0" bIns="0">
            <a:spAutoFit/>
          </a:bodyPr>
          <a:lstStyle/>
          <a:p>
            <a:r>
              <a:rPr sz="1300" b="0">
                <a:solidFill>
                  <a:srgbClr val="5B667A"/>
                </a:solidFill>
                <a:latin typeface="Verdana"/>
              </a:rPr>
              <a:t>Cost of the discipline: one point on any tuning curve is a full 200-sample run, about 15 minutes. That budget — not ideas — is what we ran out of.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ENGINEERING</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Three problems a score could never have shown us</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45920"/>
          <a:ext cx="10908791" cy="3017520"/>
        </p:xfrm>
        <a:graphic>
          <a:graphicData uri="http://schemas.openxmlformats.org/drawingml/2006/table">
            <a:tbl>
              <a:tblPr firstRow="1">
                <a:tableStyleId>{5C22544A-7EE6-4342-B048-85BDC9FD1C3A}</a:tableStyleId>
              </a:tblPr>
              <a:tblGrid>
                <a:gridCol w="2658445"/>
                <a:gridCol w="4950208"/>
                <a:gridCol w="2016751"/>
                <a:gridCol w="1283387"/>
              </a:tblGrid>
              <a:tr h="329184">
                <a:tc>
                  <a:txBody>
                    <a:bodyPr/>
                    <a:lstStyle/>
                    <a:p>
                      <a:r>
                        <a:rPr sz="1100" b="1">
                          <a:solidFill>
                            <a:srgbClr val="FFFFFF"/>
                          </a:solidFill>
                          <a:latin typeface="Verdana"/>
                        </a:rPr>
                        <a:t>What broke</a:t>
                      </a:r>
                    </a:p>
                  </a:txBody>
                  <a:tcPr marL="82296" marR="82296" marT="36576" marB="36576" anchor="ctr">
                    <a:solidFill>
                      <a:srgbClr val="141B2D"/>
                    </a:solidFill>
                  </a:tcPr>
                </a:tc>
                <a:tc>
                  <a:txBody>
                    <a:bodyPr/>
                    <a:lstStyle/>
                    <a:p>
                      <a:r>
                        <a:rPr sz="1100" b="1">
                          <a:solidFill>
                            <a:srgbClr val="FFFFFF"/>
                          </a:solidFill>
                          <a:latin typeface="Verdana"/>
                        </a:rPr>
                        <a:t>Why the score stayed quiet</a:t>
                      </a:r>
                    </a:p>
                  </a:txBody>
                  <a:tcPr marL="82296" marR="82296" marT="36576" marB="36576" anchor="ctr">
                    <a:solidFill>
                      <a:srgbClr val="141B2D"/>
                    </a:solidFill>
                  </a:tcPr>
                </a:tc>
                <a:tc>
                  <a:txBody>
                    <a:bodyPr/>
                    <a:lstStyle/>
                    <a:p>
                      <a:r>
                        <a:rPr sz="1100" b="1">
                          <a:solidFill>
                            <a:srgbClr val="FFFFFF"/>
                          </a:solidFill>
                          <a:latin typeface="Verdana"/>
                        </a:rPr>
                        <a:t>How we found it</a:t>
                      </a:r>
                    </a:p>
                  </a:txBody>
                  <a:tcPr marL="82296" marR="82296" marT="36576" marB="36576" anchor="ctr">
                    <a:solidFill>
                      <a:srgbClr val="141B2D"/>
                    </a:solidFill>
                  </a:tcPr>
                </a:tc>
                <a:tc>
                  <a:txBody>
                    <a:bodyPr/>
                    <a:lstStyle/>
                    <a:p>
                      <a:r>
                        <a:rPr sz="1100" b="1">
                          <a:solidFill>
                            <a:srgbClr val="FFFFFF"/>
                          </a:solidFill>
                          <a:latin typeface="Verdana"/>
                        </a:rPr>
                        <a:t>Fix</a:t>
                      </a:r>
                    </a:p>
                  </a:txBody>
                  <a:tcPr marL="82296" marR="82296" marT="36576" marB="36576" anchor="ctr">
                    <a:solidFill>
                      <a:srgbClr val="141B2D"/>
                    </a:solidFill>
                  </a:tcPr>
                </a:tc>
              </a:tr>
              <a:tr h="896112">
                <a:tc>
                  <a:txBody>
                    <a:bodyPr wrap="square"/>
                    <a:lstStyle/>
                    <a:p>
                      <a:r>
                        <a:rPr sz="1050" b="0">
                          <a:solidFill>
                            <a:srgbClr val="141B2D"/>
                          </a:solidFill>
                          <a:latin typeface="Verdana"/>
                        </a:rPr>
                        <a:t>Our search index could only be
used from one thread.</a:t>
                      </a:r>
                    </a:p>
                  </a:txBody>
                  <a:tcPr marL="82296" marR="82296" marT="36576" marB="36576" anchor="ctr">
                    <a:solidFill>
                      <a:srgbClr val="FFFFFF"/>
                    </a:solidFill>
                  </a:tcPr>
                </a:tc>
                <a:tc>
                  <a:txBody>
                    <a:bodyPr wrap="square"/>
                    <a:lstStyle/>
                    <a:p>
                      <a:r>
                        <a:rPr sz="1050" b="0">
                          <a:solidFill>
                            <a:srgbClr val="141B2D"/>
                          </a:solidFill>
                          <a:latin typeface="Verdana"/>
                        </a:rPr>
                        <a:t>The evaluator is single-threaded, so it never complained. In the demo, two of three retrieval legs failed silently every turn and the agent still returned 10 products.</a:t>
                      </a:r>
                    </a:p>
                  </a:txBody>
                  <a:tcPr marL="82296" marR="82296" marT="36576" marB="36576" anchor="ctr">
                    <a:solidFill>
                      <a:srgbClr val="FFFFFF"/>
                    </a:solidFill>
                  </a:tcPr>
                </a:tc>
                <a:tc>
                  <a:txBody>
                    <a:bodyPr wrap="square"/>
                    <a:lstStyle/>
                    <a:p>
                      <a:r>
                        <a:rPr sz="1050" b="0">
                          <a:solidFill>
                            <a:srgbClr val="141B2D"/>
                          </a:solidFill>
                          <a:latin typeface="Verdana"/>
                        </a:rPr>
                        <a:t>Running the demo UI.</a:t>
                      </a:r>
                    </a:p>
                  </a:txBody>
                  <a:tcPr marL="82296" marR="82296" marT="36576" marB="36576" anchor="ctr">
                    <a:solidFill>
                      <a:srgbClr val="FFFFFF"/>
                    </a:solidFill>
                  </a:tcPr>
                </a:tc>
                <a:tc>
                  <a:txBody>
                    <a:bodyPr wrap="square"/>
                    <a:lstStyle/>
                    <a:p>
                      <a:r>
                        <a:rPr sz="1050" b="0">
                          <a:solidFill>
                            <a:srgbClr val="141B2D"/>
                          </a:solidFill>
                          <a:latin typeface="Verdana"/>
                        </a:rPr>
                        <a:t>Shared connection
+ a lock.</a:t>
                      </a:r>
                    </a:p>
                  </a:txBody>
                  <a:tcPr marL="82296" marR="82296" marT="36576" marB="36576" anchor="ctr">
                    <a:solidFill>
                      <a:srgbClr val="FFFFFF"/>
                    </a:solidFill>
                  </a:tcPr>
                </a:tc>
              </a:tr>
              <a:tr h="896112">
                <a:tc>
                  <a:txBody>
                    <a:bodyPr wrap="square"/>
                    <a:lstStyle/>
                    <a:p>
                      <a:r>
                        <a:rPr sz="1050" b="0">
                          <a:solidFill>
                            <a:srgbClr val="141B2D"/>
                          </a:solidFill>
                          <a:latin typeface="Verdana"/>
                        </a:rPr>
                        <a:t>A feature flag whose "off"
value was not off.</a:t>
                      </a:r>
                    </a:p>
                  </a:txBody>
                  <a:tcPr marL="82296" marR="82296" marT="36576" marB="36576" anchor="ctr">
                    <a:solidFill>
                      <a:srgbClr val="F4F6FA"/>
                    </a:solidFill>
                  </a:tcPr>
                </a:tc>
                <a:tc>
                  <a:txBody>
                    <a:bodyPr wrap="square"/>
                    <a:lstStyle/>
                    <a:p>
                      <a:r>
                        <a:rPr sz="1050" b="0">
                          <a:solidFill>
                            <a:srgbClr val="141B2D"/>
                          </a:solidFill>
                          <a:latin typeface="Verdana"/>
                        </a:rPr>
                        <a:t>It disabled a re-ranking stage as a side effect, so the control leg of an experiment scored 0.6154 instead of 0.6182.</a:t>
                      </a:r>
                    </a:p>
                  </a:txBody>
                  <a:tcPr marL="82296" marR="82296" marT="36576" marB="36576" anchor="ctr">
                    <a:solidFill>
                      <a:srgbClr val="F4F6FA"/>
                    </a:solidFill>
                  </a:tcPr>
                </a:tc>
                <a:tc>
                  <a:txBody>
                    <a:bodyPr wrap="square"/>
                    <a:lstStyle/>
                    <a:p>
                      <a:r>
                        <a:rPr sz="1050" b="0">
                          <a:solidFill>
                            <a:srgbClr val="141B2D"/>
                          </a:solidFill>
                          <a:latin typeface="Verdana"/>
                        </a:rPr>
                        <a:t>Rule 1 — checking that
identity reproduced.</a:t>
                      </a:r>
                    </a:p>
                  </a:txBody>
                  <a:tcPr marL="82296" marR="82296" marT="36576" marB="36576" anchor="ctr">
                    <a:solidFill>
                      <a:srgbClr val="F4F6FA"/>
                    </a:solidFill>
                  </a:tcPr>
                </a:tc>
                <a:tc>
                  <a:txBody>
                    <a:bodyPr wrap="square"/>
                    <a:lstStyle/>
                    <a:p>
                      <a:r>
                        <a:rPr sz="1050" b="0">
                          <a:solidFill>
                            <a:srgbClr val="141B2D"/>
                          </a:solidFill>
                          <a:latin typeface="Verdana"/>
                        </a:rPr>
                        <a:t>Gate every effect,
not just the knob.</a:t>
                      </a:r>
                    </a:p>
                  </a:txBody>
                  <a:tcPr marL="82296" marR="82296" marT="36576" marB="36576" anchor="ctr">
                    <a:solidFill>
                      <a:srgbClr val="F4F6FA"/>
                    </a:solidFill>
                  </a:tcPr>
                </a:tc>
              </a:tr>
              <a:tr h="896112">
                <a:tc>
                  <a:txBody>
                    <a:bodyPr wrap="square"/>
                    <a:lstStyle/>
                    <a:p>
                      <a:r>
                        <a:rPr sz="1050" b="0">
                          <a:solidFill>
                            <a:srgbClr val="141B2D"/>
                          </a:solidFill>
                          <a:latin typeface="Verdana"/>
                        </a:rPr>
                        <a:t>Re-ranking exactly the 10
items we already show.</a:t>
                      </a:r>
                    </a:p>
                  </a:txBody>
                  <a:tcPr marL="82296" marR="82296" marT="36576" marB="36576" anchor="ctr">
                    <a:solidFill>
                      <a:srgbClr val="FFFFFF"/>
                    </a:solidFill>
                  </a:tcPr>
                </a:tc>
                <a:tc>
                  <a:txBody>
                    <a:bodyPr wrap="square"/>
                    <a:lstStyle/>
                    <a:p>
                      <a:r>
                        <a:rPr sz="1050" b="0">
                          <a:solidFill>
                            <a:srgbClr val="141B2D"/>
                          </a:solidFill>
                          <a:latin typeface="Verdana"/>
                        </a:rPr>
                        <a:t>Re-ranking your own output can reorder it, so MRR moved and it looked like it worked. It can never turn a miss into a hit.</a:t>
                      </a:r>
                    </a:p>
                  </a:txBody>
                  <a:tcPr marL="82296" marR="82296" marT="36576" marB="36576" anchor="ctr">
                    <a:solidFill>
                      <a:srgbClr val="FFFFFF"/>
                    </a:solidFill>
                  </a:tcPr>
                </a:tc>
                <a:tc>
                  <a:txBody>
                    <a:bodyPr wrap="square"/>
                    <a:lstStyle/>
                    <a:p>
                      <a:r>
                        <a:rPr sz="1050" b="0">
                          <a:solidFill>
                            <a:srgbClr val="141B2D"/>
                          </a:solidFill>
                          <a:latin typeface="Verdana"/>
                        </a:rPr>
                        <a:t>Reasoning, not measuring.</a:t>
                      </a:r>
                    </a:p>
                  </a:txBody>
                  <a:tcPr marL="82296" marR="82296" marT="36576" marB="36576" anchor="ctr">
                    <a:solidFill>
                      <a:srgbClr val="FFFFFF"/>
                    </a:solidFill>
                  </a:tcPr>
                </a:tc>
                <a:tc>
                  <a:txBody>
                    <a:bodyPr wrap="square"/>
                    <a:lstStyle/>
                    <a:p>
                      <a:r>
                        <a:rPr sz="1050" b="0">
                          <a:solidFill>
                            <a:srgbClr val="141B2D"/>
                          </a:solidFill>
                          <a:latin typeface="Verdana"/>
                        </a:rPr>
                        <a:t>Re-rank the top 20
instead.</a:t>
                      </a:r>
                    </a:p>
                  </a:txBody>
                  <a:tcPr marL="82296" marR="82296" marT="36576" marB="36576" anchor="ctr">
                    <a:solidFill>
                      <a:srgbClr val="FFFFFF"/>
                    </a:solidFill>
                  </a:tcPr>
                </a:tc>
              </a:tr>
            </a:tbl>
          </a:graphicData>
        </a:graphic>
      </p:graphicFrame>
      <p:sp>
        <p:nvSpPr>
          <p:cNvPr id="6" name="TextBox 5"/>
          <p:cNvSpPr txBox="1"/>
          <p:nvPr/>
        </p:nvSpPr>
        <p:spPr>
          <a:xfrm>
            <a:off x="640080" y="4892040"/>
            <a:ext cx="10881360" cy="457200"/>
          </a:xfrm>
          <a:prstGeom prst="rect">
            <a:avLst/>
          </a:prstGeom>
          <a:noFill/>
        </p:spPr>
        <p:txBody>
          <a:bodyPr wrap="square" lIns="0" rIns="0" tIns="0" bIns="0">
            <a:spAutoFit/>
          </a:bodyPr>
          <a:lstStyle/>
          <a:p>
            <a:r>
              <a:rPr sz="1300" b="1">
                <a:solidFill>
                  <a:srgbClr val="0F62FE"/>
                </a:solidFill>
                <a:latin typeface="Verdana"/>
              </a:rPr>
              <a:t>All three were invisible in the metric. Two of them were found by using the system rather than scoring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ENGINEERING</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It has to run on someone else's machine</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00200"/>
            <a:ext cx="2587752" cy="91440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000" b="1">
                <a:solidFill>
                  <a:srgbClr val="0F62FE"/>
                </a:solidFill>
                <a:latin typeface="Verdana"/>
              </a:rPr>
              <a:t>0</a:t>
            </a:r>
          </a:p>
          <a:p>
            <a:pPr algn="ctr">
              <a:spcAft>
                <a:spcPts val="0"/>
              </a:spcAft>
            </a:pPr>
            <a:r>
              <a:rPr sz="1000" b="0">
                <a:solidFill>
                  <a:srgbClr val="5B667A"/>
                </a:solidFill>
                <a:latin typeface="Verdana"/>
              </a:rPr>
              <a:t>network calls</a:t>
            </a:r>
          </a:p>
          <a:p>
            <a:pPr algn="ctr">
              <a:spcAft>
                <a:spcPts val="0"/>
              </a:spcAft>
            </a:pPr>
            <a:r>
              <a:rPr sz="1000" b="0">
                <a:solidFill>
                  <a:srgbClr val="5B667A"/>
                </a:solidFill>
                <a:latin typeface="Verdana"/>
              </a:rPr>
              <a:t>at scoring time</a:t>
            </a:r>
          </a:p>
        </p:txBody>
      </p:sp>
      <p:sp>
        <p:nvSpPr>
          <p:cNvPr id="6" name="Rounded Rectangle 5"/>
          <p:cNvSpPr/>
          <p:nvPr/>
        </p:nvSpPr>
        <p:spPr>
          <a:xfrm>
            <a:off x="3410712" y="1600200"/>
            <a:ext cx="2587752" cy="91440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000" b="1">
                <a:solidFill>
                  <a:srgbClr val="0F62FE"/>
                </a:solidFill>
                <a:latin typeface="Verdana"/>
              </a:rPr>
              <a:t>$0.00</a:t>
            </a:r>
          </a:p>
          <a:p>
            <a:pPr algn="ctr">
              <a:spcAft>
                <a:spcPts val="0"/>
              </a:spcAft>
            </a:pPr>
            <a:r>
              <a:rPr sz="1000" b="0">
                <a:solidFill>
                  <a:srgbClr val="5B667A"/>
                </a:solidFill>
                <a:latin typeface="Verdana"/>
              </a:rPr>
              <a:t>model cost</a:t>
            </a:r>
          </a:p>
          <a:p>
            <a:pPr algn="ctr">
              <a:spcAft>
                <a:spcPts val="0"/>
              </a:spcAft>
            </a:pPr>
            <a:r>
              <a:rPr sz="1000" b="0">
                <a:solidFill>
                  <a:srgbClr val="5B667A"/>
                </a:solidFill>
                <a:latin typeface="Verdana"/>
              </a:rPr>
              <a:t>0 tokens, 0 API calls</a:t>
            </a:r>
          </a:p>
        </p:txBody>
      </p:sp>
      <p:sp>
        <p:nvSpPr>
          <p:cNvPr id="7" name="Rounded Rectangle 6"/>
          <p:cNvSpPr/>
          <p:nvPr/>
        </p:nvSpPr>
        <p:spPr>
          <a:xfrm>
            <a:off x="6181344" y="1600200"/>
            <a:ext cx="2587752" cy="91440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000" b="1">
                <a:solidFill>
                  <a:srgbClr val="0F62FE"/>
                </a:solidFill>
                <a:latin typeface="Verdana"/>
              </a:rPr>
              <a:t>408 ms</a:t>
            </a:r>
          </a:p>
          <a:p>
            <a:pPr algn="ctr">
              <a:spcAft>
                <a:spcPts val="0"/>
              </a:spcAft>
            </a:pPr>
            <a:r>
              <a:rPr sz="1000" b="0">
                <a:solidFill>
                  <a:srgbClr val="5B667A"/>
                </a:solidFill>
                <a:latin typeface="Verdana"/>
              </a:rPr>
              <a:t>mean turn</a:t>
            </a:r>
          </a:p>
          <a:p>
            <a:pPr algn="ctr">
              <a:spcAft>
                <a:spcPts val="0"/>
              </a:spcAft>
            </a:pPr>
            <a:r>
              <a:rPr sz="1000" b="0">
                <a:solidFill>
                  <a:srgbClr val="5B667A"/>
                </a:solidFill>
                <a:latin typeface="Verdana"/>
              </a:rPr>
              <a:t>p95 716 ms, CPU only</a:t>
            </a:r>
          </a:p>
        </p:txBody>
      </p:sp>
      <p:sp>
        <p:nvSpPr>
          <p:cNvPr id="8" name="Rounded Rectangle 7"/>
          <p:cNvSpPr/>
          <p:nvPr/>
        </p:nvSpPr>
        <p:spPr>
          <a:xfrm>
            <a:off x="8951976" y="1600200"/>
            <a:ext cx="2587752" cy="91440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2000" b="1">
                <a:solidFill>
                  <a:srgbClr val="0F62FE"/>
                </a:solidFill>
                <a:latin typeface="Verdana"/>
              </a:rPr>
              <a:t>1.3 GB</a:t>
            </a:r>
          </a:p>
          <a:p>
            <a:pPr algn="ctr">
              <a:spcAft>
                <a:spcPts val="0"/>
              </a:spcAft>
            </a:pPr>
            <a:r>
              <a:rPr sz="1000" b="0">
                <a:solidFill>
                  <a:srgbClr val="5B667A"/>
                </a:solidFill>
                <a:latin typeface="Verdana"/>
              </a:rPr>
              <a:t>peak memory</a:t>
            </a:r>
          </a:p>
          <a:p>
            <a:pPr algn="ctr">
              <a:spcAft>
                <a:spcPts val="0"/>
              </a:spcAft>
            </a:pPr>
            <a:r>
              <a:rPr sz="1000" b="0">
                <a:solidFill>
                  <a:srgbClr val="5B667A"/>
                </a:solidFill>
                <a:latin typeface="Verdana"/>
              </a:rPr>
              <a:t>460 MB of assets</a:t>
            </a:r>
          </a:p>
        </p:txBody>
      </p:sp>
      <p:sp>
        <p:nvSpPr>
          <p:cNvPr id="9" name="TextBox 8"/>
          <p:cNvSpPr txBox="1"/>
          <p:nvPr/>
        </p:nvSpPr>
        <p:spPr>
          <a:xfrm>
            <a:off x="640080" y="2743200"/>
            <a:ext cx="10881360" cy="411480"/>
          </a:xfrm>
          <a:prstGeom prst="rect">
            <a:avLst/>
          </a:prstGeom>
          <a:noFill/>
        </p:spPr>
        <p:txBody>
          <a:bodyPr wrap="square" lIns="0" rIns="0" tIns="0" bIns="0">
            <a:spAutoFit/>
          </a:bodyPr>
          <a:lstStyle/>
          <a:p>
            <a:r>
              <a:rPr sz="1400" b="1">
                <a:solidFill>
                  <a:srgbClr val="B3261E"/>
                </a:solidFill>
                <a:latin typeface="Verdana"/>
              </a:rPr>
              <a:t>The problem: with no network and a cold cache, the agent does not crash. It starts, returns ten products, and is silently a different system.</a:t>
            </a:r>
          </a:p>
        </p:txBody>
      </p:sp>
      <p:sp>
        <p:nvSpPr>
          <p:cNvPr id="10" name="TextBox 9"/>
          <p:cNvSpPr txBox="1"/>
          <p:nvPr/>
        </p:nvSpPr>
        <p:spPr>
          <a:xfrm>
            <a:off x="640080" y="3200400"/>
            <a:ext cx="4754880" cy="822960"/>
          </a:xfrm>
          <a:prstGeom prst="rect">
            <a:avLst/>
          </a:prstGeom>
          <a:noFill/>
        </p:spPr>
        <p:txBody>
          <a:bodyPr wrap="square" lIns="0" rIns="0" tIns="0" bIns="0">
            <a:spAutoFit/>
          </a:bodyPr>
          <a:lstStyle/>
          <a:p>
            <a:r>
              <a:rPr sz="1200" b="0">
                <a:solidFill>
                  <a:srgbClr val="5B667A"/>
                </a:solidFill>
                <a:latin typeface="Verdana"/>
              </a:rPr>
              <a:t>Dense retrieval, both classifiers and the masked LM all fail open at once. Nothing in the score says so — the run just gets worse. So the check is a build step, not a habit:</a:t>
            </a:r>
          </a:p>
        </p:txBody>
      </p:sp>
      <p:sp>
        <p:nvSpPr>
          <p:cNvPr id="11" name="Rectangle 10"/>
          <p:cNvSpPr/>
          <p:nvPr/>
        </p:nvSpPr>
        <p:spPr>
          <a:xfrm>
            <a:off x="640080" y="3977639"/>
            <a:ext cx="2286000" cy="329184"/>
          </a:xfrm>
          <a:prstGeom prst="rect">
            <a:avLst/>
          </a:prstGeom>
          <a:solidFill>
            <a:srgbClr val="FFFFFF"/>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a:solidFill>
                  <a:srgbClr val="0F62FE"/>
                </a:solidFill>
                <a:latin typeface="Verdana"/>
              </a:rPr>
              <a:t>fetch_assets.py</a:t>
            </a:r>
          </a:p>
        </p:txBody>
      </p:sp>
      <p:sp>
        <p:nvSpPr>
          <p:cNvPr id="12" name="TextBox 11"/>
          <p:cNvSpPr txBox="1"/>
          <p:nvPr/>
        </p:nvSpPr>
        <p:spPr>
          <a:xfrm>
            <a:off x="3017520" y="4059935"/>
            <a:ext cx="2468880" cy="274320"/>
          </a:xfrm>
          <a:prstGeom prst="rect">
            <a:avLst/>
          </a:prstGeom>
          <a:noFill/>
        </p:spPr>
        <p:txBody>
          <a:bodyPr wrap="square" lIns="0" rIns="0" tIns="0" bIns="0">
            <a:spAutoFit/>
          </a:bodyPr>
          <a:lstStyle/>
          <a:p>
            <a:r>
              <a:rPr sz="1000" b="0">
                <a:solidFill>
                  <a:srgbClr val="5B667A"/>
                </a:solidFill>
                <a:latin typeface="Verdana"/>
              </a:rPr>
              <a:t>the only step that touches the network, ever</a:t>
            </a:r>
          </a:p>
        </p:txBody>
      </p:sp>
      <p:sp>
        <p:nvSpPr>
          <p:cNvPr id="13" name="Rectangle 12"/>
          <p:cNvSpPr/>
          <p:nvPr/>
        </p:nvSpPr>
        <p:spPr>
          <a:xfrm>
            <a:off x="640080" y="4379975"/>
            <a:ext cx="2286000" cy="329184"/>
          </a:xfrm>
          <a:prstGeom prst="rect">
            <a:avLst/>
          </a:prstGeom>
          <a:solidFill>
            <a:srgbClr val="FFFFFF"/>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a:solidFill>
                  <a:srgbClr val="0F62FE"/>
                </a:solidFill>
                <a:latin typeface="Verdana"/>
              </a:rPr>
              <a:t>preflight.py --strict</a:t>
            </a:r>
          </a:p>
        </p:txBody>
      </p:sp>
      <p:sp>
        <p:nvSpPr>
          <p:cNvPr id="14" name="TextBox 13"/>
          <p:cNvSpPr txBox="1"/>
          <p:nvPr/>
        </p:nvSpPr>
        <p:spPr>
          <a:xfrm>
            <a:off x="3017520" y="4462271"/>
            <a:ext cx="2468880" cy="274320"/>
          </a:xfrm>
          <a:prstGeom prst="rect">
            <a:avLst/>
          </a:prstGeom>
          <a:noFill/>
        </p:spPr>
        <p:txBody>
          <a:bodyPr wrap="square" lIns="0" rIns="0" tIns="0" bIns="0">
            <a:spAutoFit/>
          </a:bodyPr>
          <a:lstStyle/>
          <a:p>
            <a:r>
              <a:rPr sz="1000" b="0">
                <a:solidFill>
                  <a:srgbClr val="5B667A"/>
                </a:solidFill>
                <a:latin typeface="Verdana"/>
              </a:rPr>
              <a:t>exits non-zero if any component is dark</a:t>
            </a:r>
          </a:p>
        </p:txBody>
      </p:sp>
      <p:sp>
        <p:nvSpPr>
          <p:cNvPr id="15" name="Rectangle 14"/>
          <p:cNvSpPr/>
          <p:nvPr/>
        </p:nvSpPr>
        <p:spPr>
          <a:xfrm>
            <a:off x="640080" y="4782311"/>
            <a:ext cx="2286000" cy="329184"/>
          </a:xfrm>
          <a:prstGeom prst="rect">
            <a:avLst/>
          </a:prstGeom>
          <a:solidFill>
            <a:srgbClr val="FFFFFF"/>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000" b="1">
                <a:solidFill>
                  <a:srgbClr val="0F62FE"/>
                </a:solidFill>
                <a:latin typeface="Verdana"/>
              </a:rPr>
              <a:t>build_submission.py --verify</a:t>
            </a:r>
          </a:p>
        </p:txBody>
      </p:sp>
      <p:sp>
        <p:nvSpPr>
          <p:cNvPr id="16" name="TextBox 15"/>
          <p:cNvSpPr txBox="1"/>
          <p:nvPr/>
        </p:nvSpPr>
        <p:spPr>
          <a:xfrm>
            <a:off x="3017520" y="4864607"/>
            <a:ext cx="2468880" cy="274320"/>
          </a:xfrm>
          <a:prstGeom prst="rect">
            <a:avLst/>
          </a:prstGeom>
          <a:noFill/>
        </p:spPr>
        <p:txBody>
          <a:bodyPr wrap="square" lIns="0" rIns="0" tIns="0" bIns="0">
            <a:spAutoFit/>
          </a:bodyPr>
          <a:lstStyle/>
          <a:p>
            <a:r>
              <a:rPr sz="1000" b="0">
                <a:solidFill>
                  <a:srgbClr val="5B667A"/>
                </a:solidFill>
                <a:latin typeface="Verdana"/>
              </a:rPr>
              <a:t>re-imports the bundle and re-scores it</a:t>
            </a:r>
          </a:p>
        </p:txBody>
      </p:sp>
      <p:sp>
        <p:nvSpPr>
          <p:cNvPr id="17" name="Rounded Rectangle 16"/>
          <p:cNvSpPr/>
          <p:nvPr/>
        </p:nvSpPr>
        <p:spPr>
          <a:xfrm>
            <a:off x="5669280" y="3127248"/>
            <a:ext cx="5879592" cy="1874519"/>
          </a:xfrm>
          <a:prstGeom prst="roundRect">
            <a:avLst/>
          </a:prstGeom>
          <a:solidFill>
            <a:srgbClr val="F4F6FA"/>
          </a:solidFill>
          <a:ln>
            <a:solidFill>
              <a:srgbClr val="D8DD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5897880" y="3291840"/>
            <a:ext cx="5486400" cy="1645920"/>
          </a:xfrm>
          <a:prstGeom prst="rect">
            <a:avLst/>
          </a:prstGeom>
          <a:noFill/>
        </p:spPr>
        <p:txBody>
          <a:bodyPr wrap="square" lIns="0" rIns="0" tIns="0" bIns="0">
            <a:spAutoFit/>
          </a:bodyPr>
          <a:lstStyle/>
          <a:p>
            <a:pPr>
              <a:spcAft>
                <a:spcPts val="200"/>
              </a:spcAft>
            </a:pPr>
            <a:r>
              <a:rPr sz="1000" b="1">
                <a:solidFill>
                  <a:srgbClr val="0F62FE"/>
                </a:solidFill>
                <a:latin typeface="Consolas"/>
              </a:rPr>
              <a:t>$ preflight.py --strict</a:t>
            </a:r>
          </a:p>
          <a:p>
            <a:pPr>
              <a:spcAft>
                <a:spcPts val="200"/>
              </a:spcAft>
            </a:pPr>
            <a:r>
              <a:rPr sz="1000" b="1">
                <a:solidFill>
                  <a:srgbClr val="0B7A4B"/>
                </a:solidFill>
                <a:latin typeface="Consolas"/>
              </a:rPr>
              <a:t>[  ok  ] dense retrieval        live</a:t>
            </a:r>
          </a:p>
          <a:p>
            <a:pPr>
              <a:spcAft>
                <a:spcPts val="200"/>
              </a:spcAft>
            </a:pPr>
            <a:r>
              <a:rPr sz="1000" b="1">
                <a:solidFill>
                  <a:srgbClr val="0B7A4B"/>
                </a:solidFill>
                <a:latin typeface="Consolas"/>
              </a:rPr>
              <a:t>[  ok  ] intent classifier      live</a:t>
            </a:r>
          </a:p>
          <a:p>
            <a:pPr>
              <a:spcAft>
                <a:spcPts val="200"/>
              </a:spcAft>
            </a:pPr>
            <a:r>
              <a:rPr sz="1000" b="1">
                <a:solidFill>
                  <a:srgbClr val="0B7A4B"/>
                </a:solidFill>
                <a:latin typeface="Consolas"/>
              </a:rPr>
              <a:t>[  ok  ] override detector      live</a:t>
            </a:r>
          </a:p>
          <a:p>
            <a:pPr>
              <a:spcAft>
                <a:spcPts val="200"/>
              </a:spcAft>
            </a:pPr>
            <a:r>
              <a:rPr sz="1000" b="1">
                <a:solidFill>
                  <a:srgbClr val="0B7A4B"/>
                </a:solidFill>
                <a:latin typeface="Consolas"/>
              </a:rPr>
              <a:t>[  ok  ] non-answer detector    live</a:t>
            </a:r>
          </a:p>
          <a:p>
            <a:pPr>
              <a:spcAft>
                <a:spcPts val="200"/>
              </a:spcAft>
            </a:pPr>
            <a:r>
              <a:rPr sz="1000" b="1">
                <a:solidFill>
                  <a:srgbClr val="0B7A4B"/>
                </a:solidFill>
                <a:latin typeface="Consolas"/>
              </a:rPr>
              <a:t>[  ok  ] cross-encoder reranker live</a:t>
            </a:r>
          </a:p>
          <a:p>
            <a:pPr>
              <a:spcAft>
                <a:spcPts val="200"/>
              </a:spcAft>
            </a:pPr>
            <a:r>
              <a:rPr sz="1000" b="1">
                <a:solidFill>
                  <a:srgbClr val="0B7A4B"/>
                </a:solidFill>
                <a:latin typeface="Consolas"/>
              </a:rPr>
              <a:t>OK: the agent runs fully offline.</a:t>
            </a:r>
          </a:p>
        </p:txBody>
      </p:sp>
      <p:sp>
        <p:nvSpPr>
          <p:cNvPr id="19" name="TextBox 18"/>
          <p:cNvSpPr txBox="1"/>
          <p:nvPr/>
        </p:nvSpPr>
        <p:spPr>
          <a:xfrm>
            <a:off x="640080" y="5257800"/>
            <a:ext cx="10881360" cy="457200"/>
          </a:xfrm>
          <a:prstGeom prst="rect">
            <a:avLst/>
          </a:prstGeom>
          <a:noFill/>
        </p:spPr>
        <p:txBody>
          <a:bodyPr wrap="square" lIns="0" rIns="0" tIns="0" bIns="0">
            <a:spAutoFit/>
          </a:bodyPr>
          <a:lstStyle/>
          <a:p>
            <a:r>
              <a:rPr sz="1300" b="0">
                <a:solidFill>
                  <a:srgbClr val="5B667A"/>
                </a:solidFill>
                <a:latin typeface="Verdana"/>
              </a:rPr>
              <a:t>Same class of bug, twice more: our search index worked from one thread only, and our data paths were relative to the working directory — so the agent quietly lost half its pipeline when launched from anywhere but the repo root.</a:t>
            </a:r>
          </a:p>
        </p:txBody>
      </p:sp>
      <p:sp>
        <p:nvSpPr>
          <p:cNvPr id="20" name="TextBox 19"/>
          <p:cNvSpPr txBox="1"/>
          <p:nvPr/>
        </p:nvSpPr>
        <p:spPr>
          <a:xfrm>
            <a:off x="640080" y="5852160"/>
            <a:ext cx="10881360" cy="457200"/>
          </a:xfrm>
          <a:prstGeom prst="rect">
            <a:avLst/>
          </a:prstGeom>
          <a:noFill/>
        </p:spPr>
        <p:txBody>
          <a:bodyPr wrap="square" lIns="0" rIns="0" tIns="0" bIns="0">
            <a:spAutoFit/>
          </a:bodyPr>
          <a:lstStyle/>
          <a:p>
            <a:r>
              <a:rPr sz="1300" b="1">
                <a:solidFill>
                  <a:srgbClr val="0F62FE"/>
                </a:solidFill>
                <a:latin typeface="Verdana"/>
              </a:rPr>
              <a:t>The submission bundle is generated, then re-imported from a neutral directory and re-scored before we believe 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KNOWN OPEN WORK</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What we would do with more time</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00200"/>
          <a:ext cx="10908791" cy="3950208"/>
        </p:xfrm>
        <a:graphic>
          <a:graphicData uri="http://schemas.openxmlformats.org/drawingml/2006/table">
            <a:tbl>
              <a:tblPr firstRow="1">
                <a:tableStyleId>{5C22544A-7EE6-4342-B048-85BDC9FD1C3A}</a:tableStyleId>
              </a:tblPr>
              <a:tblGrid>
                <a:gridCol w="2383433"/>
                <a:gridCol w="6050254"/>
                <a:gridCol w="2475104"/>
              </a:tblGrid>
              <a:tr h="329184">
                <a:tc>
                  <a:txBody>
                    <a:bodyPr/>
                    <a:lstStyle/>
                    <a:p>
                      <a:r>
                        <a:rPr sz="1100" b="1">
                          <a:solidFill>
                            <a:srgbClr val="FFFFFF"/>
                          </a:solidFill>
                          <a:latin typeface="Verdana"/>
                        </a:rPr>
                        <a:t>Direction</a:t>
                      </a:r>
                    </a:p>
                  </a:txBody>
                  <a:tcPr marL="82296" marR="82296" marT="36576" marB="36576" anchor="ctr">
                    <a:solidFill>
                      <a:srgbClr val="141B2D"/>
                    </a:solidFill>
                  </a:tcPr>
                </a:tc>
                <a:tc>
                  <a:txBody>
                    <a:bodyPr/>
                    <a:lstStyle/>
                    <a:p>
                      <a:r>
                        <a:rPr sz="1100" b="1">
                          <a:solidFill>
                            <a:srgbClr val="FFFFFF"/>
                          </a:solidFill>
                          <a:latin typeface="Verdana"/>
                        </a:rPr>
                        <a:t>Why we think it matters</a:t>
                      </a:r>
                    </a:p>
                  </a:txBody>
                  <a:tcPr marL="82296" marR="82296" marT="36576" marB="36576" anchor="ctr">
                    <a:solidFill>
                      <a:srgbClr val="141B2D"/>
                    </a:solidFill>
                  </a:tcPr>
                </a:tc>
                <a:tc>
                  <a:txBody>
                    <a:bodyPr/>
                    <a:lstStyle/>
                    <a:p>
                      <a:r>
                        <a:rPr sz="1100" b="1">
                          <a:solidFill>
                            <a:srgbClr val="FFFFFF"/>
                          </a:solidFill>
                          <a:latin typeface="Verdana"/>
                        </a:rPr>
                        <a:t>Why it is not done</a:t>
                      </a:r>
                    </a:p>
                  </a:txBody>
                  <a:tcPr marL="82296" marR="82296" marT="36576" marB="36576" anchor="ctr">
                    <a:solidFill>
                      <a:srgbClr val="141B2D"/>
                    </a:solidFill>
                  </a:tcPr>
                </a:tc>
              </a:tr>
              <a:tr h="603504">
                <a:tc>
                  <a:txBody>
                    <a:bodyPr wrap="square"/>
                    <a:lstStyle/>
                    <a:p>
                      <a:r>
                        <a:rPr sz="1000" b="0">
                          <a:solidFill>
                            <a:srgbClr val="141B2D"/>
                          </a:solidFill>
                          <a:latin typeface="Verdana"/>
                        </a:rPr>
                        <a:t>Sweep the BM25
field weights</a:t>
                      </a:r>
                    </a:p>
                  </a:txBody>
                  <a:tcPr marL="82296" marR="82296" marT="36576" marB="36576" anchor="ctr">
                    <a:solidFill>
                      <a:srgbClr val="FFFFFF"/>
                    </a:solidFill>
                  </a:tcPr>
                </a:tc>
                <a:tc>
                  <a:txBody>
                    <a:bodyPr wrap="square"/>
                    <a:lstStyle/>
                    <a:p>
                      <a:r>
                        <a:rPr sz="1000" b="0">
                          <a:solidFill>
                            <a:srgbClr val="141B2D"/>
                          </a:solidFill>
                          <a:latin typeface="Verdana"/>
                        </a:rPr>
                        <a:t>Title, category and description are weighted by hand — we guessed, and never swept once. BM25 carries this benchmark and the phrase leg reuses the same ranking function.</a:t>
                      </a:r>
                    </a:p>
                  </a:txBody>
                  <a:tcPr marL="82296" marR="82296" marT="36576" marB="36576" anchor="ctr">
                    <a:solidFill>
                      <a:srgbClr val="FFFFFF"/>
                    </a:solidFill>
                  </a:tcPr>
                </a:tc>
                <a:tc>
                  <a:txBody>
                    <a:bodyPr wrap="square"/>
                    <a:lstStyle/>
                    <a:p>
                      <a:r>
                        <a:rPr sz="1000" b="0">
                          <a:solidFill>
                            <a:srgbClr val="141B2D"/>
                          </a:solidFill>
                          <a:latin typeface="Verdana"/>
                        </a:rPr>
                        <a:t>A grid over 7 fields is dozens
of 15-minute runs.</a:t>
                      </a:r>
                    </a:p>
                  </a:txBody>
                  <a:tcPr marL="82296" marR="82296" marT="36576" marB="36576" anchor="ctr">
                    <a:solidFill>
                      <a:srgbClr val="FFFFFF"/>
                    </a:solidFill>
                  </a:tcPr>
                </a:tc>
              </a:tr>
              <a:tr h="603504">
                <a:tc>
                  <a:txBody>
                    <a:bodyPr wrap="square"/>
                    <a:lstStyle/>
                    <a:p>
                      <a:r>
                        <a:rPr sz="1000" b="0">
                          <a:solidFill>
                            <a:srgbClr val="141B2D"/>
                          </a:solidFill>
                          <a:latin typeface="Verdana"/>
                        </a:rPr>
                        <a:t>Retune the attribute
boost strength</a:t>
                      </a:r>
                    </a:p>
                  </a:txBody>
                  <a:tcPr marL="82296" marR="82296" marT="36576" marB="36576" anchor="ctr">
                    <a:solidFill>
                      <a:srgbClr val="F4F6FA"/>
                    </a:solidFill>
                  </a:tcPr>
                </a:tc>
                <a:tc>
                  <a:txBody>
                    <a:bodyPr wrap="square"/>
                    <a:lstStyle/>
                    <a:p>
                      <a:r>
                        <a:rPr sz="1000" b="0">
                          <a:solidFill>
                            <a:srgbClr val="141B2D"/>
                          </a:solidFill>
                          <a:latin typeface="Verdana"/>
                        </a:rPr>
                        <a:t>It is +1 / −1 by assumption, chosen back when 40% of our colour labels were fictional. We fixed the labels and never revisited the weights.</a:t>
                      </a:r>
                    </a:p>
                  </a:txBody>
                  <a:tcPr marL="82296" marR="82296" marT="36576" marB="36576" anchor="ctr">
                    <a:solidFill>
                      <a:srgbClr val="F4F6FA"/>
                    </a:solidFill>
                  </a:tcPr>
                </a:tc>
                <a:tc>
                  <a:txBody>
                    <a:bodyPr wrap="square"/>
                    <a:lstStyle/>
                    <a:p>
                      <a:r>
                        <a:rPr sz="1000" b="0">
                          <a:solidFill>
                            <a:srgbClr val="141B2D"/>
                          </a:solidFill>
                          <a:latin typeface="Verdana"/>
                        </a:rPr>
                        <a:t>Ran out of evaluation budget
before this one.</a:t>
                      </a:r>
                    </a:p>
                  </a:txBody>
                  <a:tcPr marL="82296" marR="82296" marT="36576" marB="36576" anchor="ctr">
                    <a:solidFill>
                      <a:srgbClr val="F4F6FA"/>
                    </a:solidFill>
                  </a:tcPr>
                </a:tc>
              </a:tr>
              <a:tr h="603504">
                <a:tc>
                  <a:txBody>
                    <a:bodyPr wrap="square"/>
                    <a:lstStyle/>
                    <a:p>
                      <a:r>
                        <a:rPr sz="1000" b="0">
                          <a:solidFill>
                            <a:srgbClr val="141B2D"/>
                          </a:solidFill>
                          <a:latin typeface="Verdana"/>
                        </a:rPr>
                        <a:t>Attribute the bundles
we shipped</a:t>
                      </a:r>
                    </a:p>
                  </a:txBody>
                  <a:tcPr marL="82296" marR="82296" marT="36576" marB="36576" anchor="ctr">
                    <a:solidFill>
                      <a:srgbClr val="FFFFFF"/>
                    </a:solidFill>
                  </a:tcPr>
                </a:tc>
                <a:tc>
                  <a:txBody>
                    <a:bodyPr wrap="square"/>
                    <a:lstStyle/>
                    <a:p>
                      <a:r>
                        <a:rPr sz="1000" b="0">
                          <a:solidFill>
                            <a:srgbClr val="141B2D"/>
                          </a:solidFill>
                          <a:latin typeface="Verdana"/>
                        </a:rPr>
                        <a:t>Score climbed across three multi-change commits. We know the sum of each bundle, and we know nothing about the parts — one bundle re-enabled a change that lost 0.041 alone.</a:t>
                      </a:r>
                    </a:p>
                  </a:txBody>
                  <a:tcPr marL="82296" marR="82296" marT="36576" marB="36576" anchor="ctr">
                    <a:solidFill>
                      <a:srgbClr val="FFFFFF"/>
                    </a:solidFill>
                  </a:tcPr>
                </a:tc>
                <a:tc>
                  <a:txBody>
                    <a:bodyPr wrap="square"/>
                    <a:lstStyle/>
                    <a:p>
                      <a:r>
                        <a:rPr sz="1000" b="0">
                          <a:solidFill>
                            <a:srgbClr val="141B2D"/>
                          </a:solidFill>
                          <a:latin typeface="Verdana"/>
                        </a:rPr>
                        <a:t>One knob is one 15-minute run,
and there are a dozen candidates.</a:t>
                      </a:r>
                    </a:p>
                  </a:txBody>
                  <a:tcPr marL="82296" marR="82296" marT="36576" marB="36576" anchor="ctr">
                    <a:solidFill>
                      <a:srgbClr val="FFFFFF"/>
                    </a:solidFill>
                  </a:tcPr>
                </a:tc>
              </a:tr>
              <a:tr h="603504">
                <a:tc>
                  <a:txBody>
                    <a:bodyPr wrap="square"/>
                    <a:lstStyle/>
                    <a:p>
                      <a:r>
                        <a:rPr sz="1000" b="0">
                          <a:solidFill>
                            <a:srgbClr val="141B2D"/>
                          </a:solidFill>
                          <a:latin typeface="Verdana"/>
                        </a:rPr>
                        <a:t>Sweep the popularity
weight on its own</a:t>
                      </a:r>
                    </a:p>
                  </a:txBody>
                  <a:tcPr marL="82296" marR="82296" marT="36576" marB="36576" anchor="ctr">
                    <a:solidFill>
                      <a:srgbClr val="F4F6FA"/>
                    </a:solidFill>
                  </a:tcPr>
                </a:tc>
                <a:tc>
                  <a:txBody>
                    <a:bodyPr wrap="square"/>
                    <a:lstStyle/>
                    <a:p>
                      <a:r>
                        <a:rPr sz="1000" b="0">
                          <a:solidFill>
                            <a:srgbClr val="141B2D"/>
                          </a:solidFill>
                          <a:latin typeface="Verdana"/>
                        </a:rPr>
                        <a:t>It runs on every track at 0.50 and doubles at the boundary, both chosen by argument. The prior is the strongest single signal in the catalog.</a:t>
                      </a:r>
                    </a:p>
                  </a:txBody>
                  <a:tcPr marL="82296" marR="82296" marT="36576" marB="36576" anchor="ctr">
                    <a:solidFill>
                      <a:srgbClr val="F4F6FA"/>
                    </a:solidFill>
                  </a:tcPr>
                </a:tc>
                <a:tc>
                  <a:txBody>
                    <a:bodyPr wrap="square"/>
                    <a:lstStyle/>
                    <a:p>
                      <a:r>
                        <a:rPr sz="1000" b="0">
                          <a:solidFill>
                            <a:srgbClr val="141B2D"/>
                          </a:solidFill>
                          <a:latin typeface="Verdana"/>
                        </a:rPr>
                        <a:t>Shipped inside a bundle,
so it has no curve yet.</a:t>
                      </a:r>
                    </a:p>
                  </a:txBody>
                  <a:tcPr marL="82296" marR="82296" marT="36576" marB="36576" anchor="ctr">
                    <a:solidFill>
                      <a:srgbClr val="F4F6FA"/>
                    </a:solidFill>
                  </a:tcPr>
                </a:tc>
              </a:tr>
              <a:tr h="603504">
                <a:tc>
                  <a:txBody>
                    <a:bodyPr wrap="square"/>
                    <a:lstStyle/>
                    <a:p>
                      <a:r>
                        <a:rPr sz="1000" b="0">
                          <a:solidFill>
                            <a:srgbClr val="141B2D"/>
                          </a:solidFill>
                          <a:latin typeface="Verdana"/>
                        </a:rPr>
                        <a:t>Extract catalog attributes
with an LLM, offline</a:t>
                      </a:r>
                    </a:p>
                  </a:txBody>
                  <a:tcPr marL="82296" marR="82296" marT="36576" marB="36576" anchor="ctr">
                    <a:solidFill>
                      <a:srgbClr val="FFFFFF"/>
                    </a:solidFill>
                  </a:tcPr>
                </a:tc>
                <a:tc>
                  <a:txBody>
                    <a:bodyPr wrap="square"/>
                    <a:lstStyle/>
                    <a:p>
                      <a:r>
                        <a:rPr sz="1000" b="0">
                          <a:solidFill>
                            <a:srgbClr val="141B2D"/>
                          </a:solidFill>
                          <a:latin typeface="Verdana"/>
                        </a:rPr>
                        <a:t>Only 3 of 10 attributes have an extractor at all. Style, size, use case and feature have none.</a:t>
                      </a:r>
                    </a:p>
                  </a:txBody>
                  <a:tcPr marL="82296" marR="82296" marT="36576" marB="36576" anchor="ctr">
                    <a:solidFill>
                      <a:srgbClr val="FFFFFF"/>
                    </a:solidFill>
                  </a:tcPr>
                </a:tc>
                <a:tc>
                  <a:txBody>
                    <a:bodyPr wrap="square"/>
                    <a:lstStyle/>
                    <a:p>
                      <a:r>
                        <a:rPr sz="1000" b="0">
                          <a:solidFill>
                            <a:srgbClr val="141B2D"/>
                          </a:solidFill>
                          <a:latin typeface="Verdana"/>
                        </a:rPr>
                        <a:t>A one-time batch pass over
50,000 products. Hours.</a:t>
                      </a:r>
                    </a:p>
                  </a:txBody>
                  <a:tcPr marL="82296" marR="82296" marT="36576" marB="36576" anchor="ctr">
                    <a:solidFill>
                      <a:srgbClr val="FFFFFF"/>
                    </a:solidFill>
                  </a:tcPr>
                </a:tc>
              </a:tr>
              <a:tr h="603504">
                <a:tc>
                  <a:txBody>
                    <a:bodyPr wrap="square"/>
                    <a:lstStyle/>
                    <a:p>
                      <a:r>
                        <a:rPr sz="1000" b="0">
                          <a:solidFill>
                            <a:srgbClr val="141B2D"/>
                          </a:solidFill>
                          <a:latin typeface="Verdana"/>
                        </a:rPr>
                        <a:t>Sweep the cross-encoder
re-rank weight</a:t>
                      </a:r>
                    </a:p>
                  </a:txBody>
                  <a:tcPr marL="82296" marR="82296" marT="36576" marB="36576" anchor="ctr">
                    <a:solidFill>
                      <a:srgbClr val="F4F6FA"/>
                    </a:solidFill>
                  </a:tcPr>
                </a:tc>
                <a:tc>
                  <a:txBody>
                    <a:bodyPr wrap="square"/>
                    <a:lstStyle/>
                    <a:p>
                      <a:r>
                        <a:rPr sz="1000" b="0">
                          <a:solidFill>
                            <a:srgbClr val="141B2D"/>
                          </a:solidFill>
                          <a:latin typeface="Verdana"/>
                        </a:rPr>
                        <a:t>It scores the top 20 and can promote a rank-11 item into the shown ten — the one stage that could convert a miss into a hit rather than just reorder. It shipped live, unswept.</a:t>
                      </a:r>
                    </a:p>
                  </a:txBody>
                  <a:tcPr marL="82296" marR="82296" marT="36576" marB="36576" anchor="ctr">
                    <a:solidFill>
                      <a:srgbClr val="F4F6FA"/>
                    </a:solidFill>
                  </a:tcPr>
                </a:tc>
                <a:tc>
                  <a:txBody>
                    <a:bodyPr wrap="square"/>
                    <a:lstStyle/>
                    <a:p>
                      <a:r>
                        <a:rPr sz="1000" b="0">
                          <a:solidFill>
                            <a:srgbClr val="141B2D"/>
                          </a:solidFill>
                          <a:latin typeface="Verdana"/>
                        </a:rPr>
                        <a:t>Bundled in with two unrelated
changes, never isolated.</a:t>
                      </a:r>
                    </a:p>
                  </a:txBody>
                  <a:tcPr marL="82296" marR="82296" marT="36576" marB="36576" anchor="ctr">
                    <a:solidFill>
                      <a:srgbClr val="F4F6FA"/>
                    </a:solidFill>
                  </a:tcPr>
                </a:tc>
              </a:tr>
            </a:tbl>
          </a:graphicData>
        </a:graphic>
      </p:graphicFrame>
      <p:sp>
        <p:nvSpPr>
          <p:cNvPr id="6" name="TextBox 5"/>
          <p:cNvSpPr txBox="1"/>
          <p:nvPr/>
        </p:nvSpPr>
        <p:spPr>
          <a:xfrm>
            <a:off x="640080" y="5669280"/>
            <a:ext cx="10881360" cy="457200"/>
          </a:xfrm>
          <a:prstGeom prst="rect">
            <a:avLst/>
          </a:prstGeom>
          <a:noFill/>
        </p:spPr>
        <p:txBody>
          <a:bodyPr wrap="square" lIns="0" rIns="0" tIns="0" bIns="0">
            <a:spAutoFit/>
          </a:bodyPr>
          <a:lstStyle/>
          <a:p>
            <a:r>
              <a:rPr sz="1300" b="1">
                <a:solidFill>
                  <a:srgbClr val="0F62FE"/>
                </a:solidFill>
                <a:latin typeface="Verdana"/>
              </a:rPr>
              <a:t>The honest summary: the ideas were never the constraint. Evaluation time was.</a:t>
            </a:r>
          </a:p>
        </p:txBody>
      </p:sp>
      <p:sp>
        <p:nvSpPr>
          <p:cNvPr id="7" name="TextBox 6"/>
          <p:cNvSpPr txBox="1"/>
          <p:nvPr/>
        </p:nvSpPr>
        <p:spPr>
          <a:xfrm>
            <a:off x="640080" y="6035040"/>
            <a:ext cx="10881360" cy="457200"/>
          </a:xfrm>
          <a:prstGeom prst="rect">
            <a:avLst/>
          </a:prstGeom>
          <a:noFill/>
        </p:spPr>
        <p:txBody>
          <a:bodyPr wrap="square" lIns="0" rIns="0" tIns="0" bIns="0">
            <a:spAutoFit/>
          </a:bodyPr>
          <a:lstStyle/>
          <a:p>
            <a:r>
              <a:rPr sz="1300" b="0">
                <a:solidFill>
                  <a:srgbClr val="5B667A"/>
                </a:solidFill>
                <a:latin typeface="Verdana"/>
              </a:rPr>
              <a:t>This hackathon rewards engineering intuition. Ours says: sweep the knobs nobody has checked, because that is where most of our wins came from.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84048"/>
            <a:ext cx="10881360" cy="274320"/>
          </a:xfrm>
          <a:prstGeom prst="rect">
            <a:avLst/>
          </a:prstGeom>
          <a:noFill/>
        </p:spPr>
        <p:txBody>
          <a:bodyPr wrap="square" lIns="0" rIns="0" tIns="0" bIns="0">
            <a:spAutoFit/>
          </a:bodyPr>
          <a:lstStyle/>
          <a:p>
            <a:pPr>
              <a:spcAft>
                <a:spcPts val="0"/>
              </a:spcAft>
            </a:pPr>
            <a:r>
              <a:rPr sz="1100" b="1">
                <a:solidFill>
                  <a:srgbClr val="0F62FE"/>
                </a:solidFill>
                <a:latin typeface="Verdana"/>
              </a:rPr>
              <a:t>CREDITS — SPIDERRANK</a:t>
            </a:r>
          </a:p>
        </p:txBody>
      </p:sp>
      <p:sp>
        <p:nvSpPr>
          <p:cNvPr id="3" name="TextBox 2"/>
          <p:cNvSpPr txBox="1"/>
          <p:nvPr/>
        </p:nvSpPr>
        <p:spPr>
          <a:xfrm>
            <a:off x="640080" y="658368"/>
            <a:ext cx="10881360" cy="685800"/>
          </a:xfrm>
          <a:prstGeom prst="rect">
            <a:avLst/>
          </a:prstGeom>
          <a:noFill/>
        </p:spPr>
        <p:txBody>
          <a:bodyPr wrap="square" lIns="0" rIns="0" tIns="0" bIns="0">
            <a:spAutoFit/>
          </a:bodyPr>
          <a:lstStyle/>
          <a:p>
            <a:r>
              <a:rPr sz="2800" b="1">
                <a:solidFill>
                  <a:srgbClr val="141B2D"/>
                </a:solidFill>
                <a:latin typeface="Georgia"/>
              </a:rPr>
              <a:t>Team and process</a:t>
            </a:r>
          </a:p>
        </p:txBody>
      </p:sp>
      <p:sp>
        <p:nvSpPr>
          <p:cNvPr id="4" name="Rectangle 3"/>
          <p:cNvSpPr/>
          <p:nvPr/>
        </p:nvSpPr>
        <p:spPr>
          <a:xfrm>
            <a:off x="640080" y="1389888"/>
            <a:ext cx="10908792" cy="9525"/>
          </a:xfrm>
          <a:prstGeom prst="rect">
            <a:avLst/>
          </a:prstGeom>
          <a:solidFill>
            <a:srgbClr val="D8D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640080" y="1691640"/>
          <a:ext cx="10908791" cy="1837944"/>
        </p:xfrm>
        <a:graphic>
          <a:graphicData uri="http://schemas.openxmlformats.org/drawingml/2006/table">
            <a:tbl>
              <a:tblPr firstRow="1">
                <a:tableStyleId>{5C22544A-7EE6-4342-B048-85BDC9FD1C3A}</a:tableStyleId>
              </a:tblPr>
              <a:tblGrid>
                <a:gridCol w="2200092"/>
                <a:gridCol w="8708699"/>
              </a:tblGrid>
              <a:tr h="329184">
                <a:tc>
                  <a:txBody>
                    <a:bodyPr/>
                    <a:lstStyle/>
                    <a:p>
                      <a:r>
                        <a:rPr sz="1100" b="1">
                          <a:solidFill>
                            <a:srgbClr val="FFFFFF"/>
                          </a:solidFill>
                          <a:latin typeface="Verdana"/>
                        </a:rPr>
                        <a:t/>
                      </a:r>
                    </a:p>
                  </a:txBody>
                  <a:tcPr marL="82296" marR="82296" marT="36576" marB="36576" anchor="ctr">
                    <a:solidFill>
                      <a:srgbClr val="141B2D"/>
                    </a:solidFill>
                  </a:tcPr>
                </a:tc>
                <a:tc>
                  <a:txBody>
                    <a:bodyPr/>
                    <a:lstStyle/>
                    <a:p>
                      <a:r>
                        <a:rPr sz="1100" b="1">
                          <a:solidFill>
                            <a:srgbClr val="FFFFFF"/>
                          </a:solidFill>
                          <a:latin typeface="Verdana"/>
                        </a:rPr>
                        <a:t>Contribution</a:t>
                      </a:r>
                    </a:p>
                  </a:txBody>
                  <a:tcPr marL="82296" marR="82296" marT="36576" marB="36576" anchor="ctr">
                    <a:solidFill>
                      <a:srgbClr val="141B2D"/>
                    </a:solidFill>
                  </a:tcPr>
                </a:tc>
              </a:tr>
              <a:tr h="502920">
                <a:tc>
                  <a:txBody>
                    <a:bodyPr wrap="square"/>
                    <a:lstStyle/>
                    <a:p>
                      <a:r>
                        <a:rPr sz="1200" b="0">
                          <a:solidFill>
                            <a:srgbClr val="141B2D"/>
                          </a:solidFill>
                          <a:latin typeface="Verdana"/>
                        </a:rPr>
                        <a:t>Phan Kang Xun</a:t>
                      </a:r>
                    </a:p>
                  </a:txBody>
                  <a:tcPr marL="82296" marR="82296" marT="36576" marB="36576" anchor="ctr">
                    <a:solidFill>
                      <a:srgbClr val="FFFFFF"/>
                    </a:solidFill>
                  </a:tcPr>
                </a:tc>
                <a:tc>
                  <a:txBody>
                    <a:bodyPr wrap="square"/>
                    <a:lstStyle/>
                    <a:p>
                      <a:r>
                        <a:rPr sz="1200" b="0">
                          <a:solidFill>
                            <a:srgbClr val="141B2D"/>
                          </a:solidFill>
                          <a:latin typeface="Verdana"/>
                        </a:rPr>
                        <a:t>Architecture, retrieval, every experiment, evaluation tooling, demo, report and this deck.</a:t>
                      </a:r>
                    </a:p>
                  </a:txBody>
                  <a:tcPr marL="82296" marR="82296" marT="36576" marB="36576" anchor="ctr">
                    <a:solidFill>
                      <a:srgbClr val="FFFFFF"/>
                    </a:solidFill>
                  </a:tcPr>
                </a:tc>
              </a:tr>
              <a:tr h="502920">
                <a:tc>
                  <a:txBody>
                    <a:bodyPr wrap="square"/>
                    <a:lstStyle/>
                    <a:p>
                      <a:r>
                        <a:rPr sz="1200" b="0">
                          <a:solidFill>
                            <a:srgbClr val="141B2D"/>
                          </a:solidFill>
                          <a:latin typeface="Verdana"/>
                        </a:rPr>
                        <a:t>Lloyd Wang</a:t>
                      </a:r>
                    </a:p>
                  </a:txBody>
                  <a:tcPr marL="82296" marR="82296" marT="36576" marB="36576" anchor="ctr">
                    <a:solidFill>
                      <a:srgbClr val="F4F6FA"/>
                    </a:solidFill>
                  </a:tcPr>
                </a:tc>
                <a:tc>
                  <a:txBody>
                    <a:bodyPr wrap="square"/>
                    <a:lstStyle/>
                    <a:p>
                      <a:r>
                        <a:rPr sz="1200" b="0">
                          <a:solidFill>
                            <a:srgbClr val="141B2D"/>
                          </a:solidFill>
                          <a:latin typeface="Verdana"/>
                        </a:rPr>
                        <a:t>Registered team member.</a:t>
                      </a:r>
                    </a:p>
                  </a:txBody>
                  <a:tcPr marL="82296" marR="82296" marT="36576" marB="36576" anchor="ctr">
                    <a:solidFill>
                      <a:srgbClr val="F4F6FA"/>
                    </a:solidFill>
                  </a:tcPr>
                </a:tc>
              </a:tr>
              <a:tr h="502920">
                <a:tc>
                  <a:txBody>
                    <a:bodyPr wrap="square"/>
                    <a:lstStyle/>
                    <a:p>
                      <a:r>
                        <a:rPr sz="1200" b="0">
                          <a:solidFill>
                            <a:srgbClr val="141B2D"/>
                          </a:solidFill>
                          <a:latin typeface="Verdana"/>
                        </a:rPr>
                        <a:t>AI assistance</a:t>
                      </a:r>
                    </a:p>
                  </a:txBody>
                  <a:tcPr marL="82296" marR="82296" marT="36576" marB="36576" anchor="ctr">
                    <a:solidFill>
                      <a:srgbClr val="FFFFFF"/>
                    </a:solidFill>
                  </a:tcPr>
                </a:tc>
                <a:tc>
                  <a:txBody>
                    <a:bodyPr wrap="square"/>
                    <a:lstStyle/>
                    <a:p>
                      <a:r>
                        <a:rPr sz="1200" b="0">
                          <a:solidFill>
                            <a:srgbClr val="141B2D"/>
                          </a:solidFill>
                          <a:latin typeface="Verdana"/>
                        </a:rPr>
                        <a:t>Built with heavy use of an AI coding assistant for implementation and documentation. The rules permit this. We state it because it is true.</a:t>
                      </a:r>
                    </a:p>
                  </a:txBody>
                  <a:tcPr marL="82296" marR="82296" marT="36576" marB="36576" anchor="ctr">
                    <a:solidFill>
                      <a:srgbClr val="FFFFFF"/>
                    </a:solidFill>
                  </a:tcPr>
                </a:tc>
              </a:tr>
            </a:tbl>
          </a:graphicData>
        </a:graphic>
      </p:graphicFrame>
      <p:sp>
        <p:nvSpPr>
          <p:cNvPr id="6" name="Rounded Rectangle 5"/>
          <p:cNvSpPr/>
          <p:nvPr/>
        </p:nvSpPr>
        <p:spPr>
          <a:xfrm>
            <a:off x="640080" y="3931920"/>
            <a:ext cx="10908792" cy="1005840"/>
          </a:xfrm>
          <a:prstGeom prst="roundRect">
            <a:avLst/>
          </a:prstGeom>
          <a:solidFill>
            <a:srgbClr val="E4EDFD"/>
          </a:solidFill>
          <a:ln w="12700">
            <a:solidFill>
              <a:srgbClr val="0F62F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0"/>
              </a:spcAft>
            </a:pPr>
            <a:r>
              <a:rPr sz="1600" b="1">
                <a:solidFill>
                  <a:srgbClr val="0F62FE"/>
                </a:solidFill>
                <a:latin typeface="Verdana"/>
              </a:rPr>
              <a:t>Every idea here was accepted or rejected on a measured number — including the five we threw away.</a:t>
            </a:r>
          </a:p>
          <a:p>
            <a:pPr algn="ctr">
              <a:spcAft>
                <a:spcPts val="0"/>
              </a:spcAft>
            </a:pPr>
            <a:r>
              <a:rPr sz="1300" b="0">
                <a:solidFill>
                  <a:srgbClr val="5B667A"/>
                </a:solidFill>
                <a:latin typeface="Verdana"/>
              </a:rPr>
              <a:t>What we would want judged is the reasoning, not only the score. We can tell you why each idea should have worked, and why half of them did not.</a:t>
            </a:r>
          </a:p>
        </p:txBody>
      </p:sp>
      <p:sp>
        <p:nvSpPr>
          <p:cNvPr id="7" name="TextBox 6"/>
          <p:cNvSpPr txBox="1"/>
          <p:nvPr/>
        </p:nvSpPr>
        <p:spPr>
          <a:xfrm>
            <a:off x="640080" y="5257800"/>
            <a:ext cx="10881360" cy="457200"/>
          </a:xfrm>
          <a:prstGeom prst="rect">
            <a:avLst/>
          </a:prstGeom>
          <a:noFill/>
        </p:spPr>
        <p:txBody>
          <a:bodyPr wrap="square" lIns="0" rIns="0" tIns="0" bIns="0">
            <a:spAutoFit/>
          </a:bodyPr>
          <a:lstStyle/>
          <a:p>
            <a:r>
              <a:rPr sz="1300" b="0">
                <a:solidFill>
                  <a:srgbClr val="5B667A"/>
                </a:solidFill>
                <a:latin typeface="Verdana"/>
              </a:rPr>
              <a:t>Reproduction instructions: README.md.  Full experiment record: this deck and docs/team_report.md.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